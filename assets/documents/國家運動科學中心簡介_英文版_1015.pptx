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256" r:id="rId2"/>
    <p:sldId id="257" r:id="rId3"/>
    <p:sldId id="258" r:id="rId4"/>
    <p:sldId id="259" r:id="rId5"/>
    <p:sldId id="264" r:id="rId6"/>
    <p:sldId id="265" r:id="rId7"/>
    <p:sldId id="266" r:id="rId8"/>
    <p:sldId id="268" r:id="rId9"/>
    <p:sldId id="269" r:id="rId10"/>
    <p:sldId id="270" r:id="rId11"/>
    <p:sldId id="271" r:id="rId12"/>
    <p:sldId id="280" r:id="rId13"/>
    <p:sldId id="279" r:id="rId14"/>
    <p:sldId id="278" r:id="rId15"/>
    <p:sldId id="285" r:id="rId16"/>
    <p:sldId id="286" r:id="rId17"/>
    <p:sldId id="283" r:id="rId18"/>
    <p:sldId id="287" r:id="rId19"/>
    <p:sldId id="288" r:id="rId20"/>
    <p:sldId id="273" r:id="rId21"/>
    <p:sldId id="260" r:id="rId22"/>
    <p:sldId id="261" r:id="rId23"/>
    <p:sldId id="263" r:id="rId24"/>
    <p:sldId id="275" r:id="rId25"/>
    <p:sldId id="277" r:id="rId26"/>
    <p:sldId id="276" r:id="rId27"/>
    <p:sldId id="274" r:id="rId28"/>
    <p:sldId id="262" r:id="rId29"/>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3447" autoAdjust="0"/>
  </p:normalViewPr>
  <p:slideViewPr>
    <p:cSldViewPr>
      <p:cViewPr varScale="1">
        <p:scale>
          <a:sx n="72" d="100"/>
          <a:sy n="72" d="100"/>
        </p:scale>
        <p:origin x="140" y="6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3581568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294410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260706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55232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494462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358156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494462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[~1 min 40 s]</a:t>
            </a:r>
          </a:p>
          <a:p>
            <a:r>
              <a:t>I'm Tzu-Chi Lin from the Department of Sports Technology and Information Development. I'd like to show you one system we built in-house: our volleyball scouting system.</a:t>
            </a:r>
          </a:p>
          <a:p>
            <a:endParaRPr/>
          </a:p>
          <a:p>
            <a:r>
              <a:t>During a match, a coach needs to know right now: where the opponent's hitters attack, how they serve, and which of our players are scoring. Commercial tools already exist. Data Volley is excellent and works live, but it needs a trained specialist to code every touch, and the licence is expensive. HUDL is great for video, but it is mainly a post-match tool, so it can't help during a timeout.</a:t>
            </a:r>
          </a:p>
          <a:p>
            <a:endParaRPr/>
          </a:p>
          <a:p>
            <a:r>
              <a:t>So we built our own. On the right you can see the three main screens. A staff member sits courtside with a tablet and taps each rally: who attacked, from which zone, and the result. The data goes straight to a cloud database, and the coach's tablet shows the attack routes and each player's efficiency, set by set.</a:t>
            </a:r>
          </a:p>
          <a:p>
            <a:endParaRPr/>
          </a:p>
          <a:p>
            <a:r>
              <a:t>Record, sync, decide. That's the whole idea, and it's simple enough that our team staff can operate it without becoming professional scouts.</a:t>
            </a:r>
          </a:p>
          <a:p>
            <a:endParaRPr/>
          </a:p>
          <a:p>
            <a:r>
              <a:t>（重點：教練需要即時資訊 → 商用工具的限制 → 自主開發；三個畫面；Record / Sync / Decide）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[~1 min 40 s]</a:t>
            </a:r>
          </a:p>
          <a:p>
            <a:r>
              <a:t>Here is what it looks like in real competition. These two clips were recorded at the Aichi-Nagoya Asian Games a few weeks ago. (Play the video.)</a:t>
            </a:r>
          </a:p>
          <a:p>
            <a:endParaRPr/>
          </a:p>
          <a:p>
            <a:r>
              <a:t>You can see the tablet in my hands, and the match on the court behind. Every rally, I tap in what happened. It takes only a few seconds per rally, so the record keeps up with the game.</a:t>
            </a:r>
          </a:p>
          <a:p>
            <a:endParaRPr/>
          </a:p>
          <a:p>
            <a:r>
              <a:t>On the right is what happens on the bench. During a timeout, the coach already has the tablet with the latest data: where the opponent's outside hitter likes to attack, which rotation is weak, and how our own hitters are doing in this set.</a:t>
            </a:r>
          </a:p>
          <a:p>
            <a:endParaRPr/>
          </a:p>
          <a:p>
            <a:r>
              <a:t>We used the system with both our men's and women's national teams, first at the AVC Cup in June, and then at the Asian Games. It was also used to scout potential opponents in other matches, so the coaching staff could prepare before facing them.</a:t>
            </a:r>
          </a:p>
          <a:p>
            <a:endParaRPr/>
          </a:p>
          <a:p>
            <a:r>
              <a:t>（重點：播放影片 → 我在場邊即時輸入 → 暫停時教練直接看平板 → 男女排、亞洲盃到亞運皆使用，也用於情蒐潛在對手）</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[~1 min 30 s]</a:t>
            </a:r>
          </a:p>
          <a:p>
            <a:r>
              <a:t>Three lessons from using it in real competition.</a:t>
            </a:r>
          </a:p>
          <a:p>
            <a:endParaRPr/>
          </a:p>
          <a:p>
            <a:r>
              <a:t>First, on the bench, speed beats depth. In a 30-second timeout, three clear numbers are more useful than a full report the next day.</a:t>
            </a:r>
          </a:p>
          <a:p>
            <a:endParaRPr/>
          </a:p>
          <a:p>
            <a:r>
              <a:t>Second, simple input is what makes it work. Because recording is just a few taps, our staff could keep up with every rally without specialist training.</a:t>
            </a:r>
          </a:p>
          <a:p>
            <a:endParaRPr/>
          </a:p>
          <a:p>
            <a:r>
              <a:t>Third, scouting is really a workload problem. Filming, live coding and video editing all fall on the same few people. Most of the other teams we observed at the Asian level had two or more dedicated scouts.</a:t>
            </a:r>
          </a:p>
          <a:p>
            <a:endParaRPr/>
          </a:p>
          <a:p>
            <a:r>
              <a:t>Next, we want to link every recorded rally to its video clip, so coaches can jump straight to the moments that matter in pre-match meetings. We are also developing AI video analysis: mapping players onto a 2D court, classifying actions, and estimating spike speed and jump height directly from match video.</a:t>
            </a:r>
          </a:p>
          <a:p>
            <a:endParaRPr/>
          </a:p>
          <a:p>
            <a:r>
              <a:t>Finally, we'd be very happy to exchange ideas with you on scouting workflows and data standards. Thank you.</a:t>
            </a:r>
          </a:p>
          <a:p>
            <a:endParaRPr/>
          </a:p>
          <a:p>
            <a:r>
              <a:t>（重點：三個心得 → 影片連結、AI 影像分析（開發中）→ 邀請交流）</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[~1 min 30 s]</a:t>
            </a:r>
          </a:p>
          <a:p>
            <a:r>
              <a:t>Three lessons from using it in real competition.</a:t>
            </a:r>
          </a:p>
          <a:p>
            <a:endParaRPr/>
          </a:p>
          <a:p>
            <a:r>
              <a:t>First, on the bench, speed beats depth. In a 30-second timeout, three clear numbers are more useful than a full report the next day.</a:t>
            </a:r>
          </a:p>
          <a:p>
            <a:endParaRPr/>
          </a:p>
          <a:p>
            <a:r>
              <a:t>Second, simple input is what makes it work. Because recording is just a few taps, our staff could keep up with every rally without specialist training.</a:t>
            </a:r>
          </a:p>
          <a:p>
            <a:endParaRPr/>
          </a:p>
          <a:p>
            <a:r>
              <a:t>Third, scouting is really a workload problem. Filming, live coding and video editing all fall on the same few people. Most of the other teams we observed at the Asian level had two or more dedicated scouts.</a:t>
            </a:r>
          </a:p>
          <a:p>
            <a:endParaRPr/>
          </a:p>
          <a:p>
            <a:r>
              <a:t>Next, we want to link every recorded rally to its video clip, so coaches can jump straight to the moments that matter in pre-match meetings. We are also developing AI video analysis: mapping players onto a 2D court, classifying actions, and estimating spike speed and jump height directly from match video.</a:t>
            </a:r>
          </a:p>
          <a:p>
            <a:endParaRPr/>
          </a:p>
          <a:p>
            <a:r>
              <a:t>Finally, we'd be very happy to exchange ideas with you on scouting workflows and data standards. Thank you.</a:t>
            </a:r>
          </a:p>
          <a:p>
            <a:endParaRPr/>
          </a:p>
          <a:p>
            <a:r>
              <a:t>（重點：三個心得 → 影片連結、AI 影像分析（開發中）→ 邀請交流）</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493765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[~1 min 30 s]</a:t>
            </a:r>
          </a:p>
          <a:p>
            <a:r>
              <a:t>Three lessons from using it in real competition.</a:t>
            </a:r>
          </a:p>
          <a:p>
            <a:endParaRPr/>
          </a:p>
          <a:p>
            <a:r>
              <a:t>First, on the bench, speed beats depth. In a 30-second timeout, three clear numbers are more useful than a full report the next day.</a:t>
            </a:r>
          </a:p>
          <a:p>
            <a:endParaRPr/>
          </a:p>
          <a:p>
            <a:r>
              <a:t>Second, simple input is what makes it work. Because recording is just a few taps, our staff could keep up with every rally without specialist training.</a:t>
            </a:r>
          </a:p>
          <a:p>
            <a:endParaRPr/>
          </a:p>
          <a:p>
            <a:r>
              <a:t>Third, scouting is really a workload problem. Filming, live coding and video editing all fall on the same few people. Most of the other teams we observed at the Asian level had two or more dedicated scouts.</a:t>
            </a:r>
          </a:p>
          <a:p>
            <a:endParaRPr/>
          </a:p>
          <a:p>
            <a:r>
              <a:t>Next, we want to link every recorded rally to its video clip, so coaches can jump straight to the moments that matter in pre-match meetings. We are also developing AI video analysis: mapping players onto a 2D court, classifying actions, and estimating spike speed and jump height directly from match video.</a:t>
            </a:r>
          </a:p>
          <a:p>
            <a:endParaRPr/>
          </a:p>
          <a:p>
            <a:r>
              <a:t>Finally, we'd be very happy to exchange ideas with you on scouting workflows and data standards. Thank you.</a:t>
            </a:r>
          </a:p>
          <a:p>
            <a:endParaRPr/>
          </a:p>
          <a:p>
            <a:r>
              <a:t>（重點：三個心得 → 影片連結、AI 影像分析（開發中）→ 邀請交流）</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327204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2607068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62954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356383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zh-TW" altLang="en-US" dirty="0"/>
              <a:t>運動數據平台</a:t>
            </a:r>
            <a:endParaRPr lang="en-US" altLang="zh-TW" dirty="0"/>
          </a:p>
          <a:p>
            <a:r>
              <a:rPr lang="zh-TW" altLang="en-US" dirty="0"/>
              <a:t>為什麼要有這個平台 </a:t>
            </a:r>
            <a:r>
              <a:rPr lang="en-US" altLang="zh-TW" dirty="0"/>
              <a:t>:</a:t>
            </a:r>
            <a:r>
              <a:rPr lang="zh-TW" altLang="en-US" dirty="0"/>
              <a:t>希望可以強化國內三大目標</a:t>
            </a:r>
            <a:endParaRPr lang="en-US" altLang="zh-TW" dirty="0"/>
          </a:p>
          <a:p>
            <a:r>
              <a:rPr lang="en-US" altLang="zh-TW" dirty="0"/>
              <a:t>1.</a:t>
            </a:r>
            <a:r>
              <a:rPr lang="zh-TW" altLang="en-US" dirty="0"/>
              <a:t>各個地方場域的運動數據沒有明確整理歸檔並且個個場域散落在各個地</a:t>
            </a:r>
            <a:endParaRPr lang="en-US" altLang="zh-TW" dirty="0"/>
          </a:p>
          <a:p>
            <a:r>
              <a:rPr lang="en-US" altLang="zh-TW" dirty="0"/>
              <a:t>2.</a:t>
            </a:r>
            <a:r>
              <a:rPr lang="zh-TW" altLang="en-US" dirty="0"/>
              <a:t>希望透過國內運動數據的整合促進運動產業發展以及增加民眾的參與度</a:t>
            </a:r>
            <a:endParaRPr lang="en-US" altLang="zh-TW" dirty="0"/>
          </a:p>
          <a:p>
            <a:r>
              <a:rPr lang="en-US" altLang="zh-TW" dirty="0"/>
              <a:t>3.</a:t>
            </a:r>
            <a:r>
              <a:rPr lang="zh-TW" altLang="en-US" dirty="0"/>
              <a:t>透過各項運動數據地蒐集、分析研究，強化選手的表現</a:t>
            </a:r>
            <a:endParaRPr lang="en-US" altLang="zh-TW" dirty="0"/>
          </a:p>
          <a:p>
            <a:endParaRPr lang="en-US" altLang="zh-TW" dirty="0"/>
          </a:p>
          <a:p>
            <a:r>
              <a:rPr lang="zh-TW" altLang="en-US" dirty="0"/>
              <a:t>初期兩大核心</a:t>
            </a:r>
            <a:br>
              <a:rPr lang="en-US" altLang="zh-TW" dirty="0"/>
            </a:br>
            <a:r>
              <a:rPr lang="en-US" altLang="zh-TW" dirty="0"/>
              <a:t>1.</a:t>
            </a:r>
            <a:r>
              <a:rPr lang="zh-TW" altLang="en-US" dirty="0"/>
              <a:t>藉由各個智慧感測器的運動場域來蒐集運動數據</a:t>
            </a:r>
            <a:endParaRPr lang="en-US" altLang="zh-TW" dirty="0"/>
          </a:p>
          <a:p>
            <a:r>
              <a:rPr lang="en-US" dirty="0"/>
              <a:t>2.</a:t>
            </a:r>
            <a:r>
              <a:rPr lang="zh-TW" altLang="en-US" dirty="0"/>
              <a:t>建立民眾使用的運動日誌</a:t>
            </a:r>
            <a:endParaRPr lang="en-US" altLang="zh-TW"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ltLang="zh-TW"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3" Type="http://schemas.openxmlformats.org/officeDocument/2006/relationships/image" Target="../media/image7.png"/><Relationship Id="rId7" Type="http://schemas.openxmlformats.org/officeDocument/2006/relationships/image" Target="../media/image11.svg"/><Relationship Id="rId12"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jpeg"/><Relationship Id="rId15" Type="http://schemas.openxmlformats.org/officeDocument/2006/relationships/image" Target="../media/image1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 Id="rId14" Type="http://schemas.openxmlformats.org/officeDocument/2006/relationships/image" Target="../media/image18.png"/></Relationships>
</file>

<file path=ppt/slides/_rels/slide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7.png"/><Relationship Id="rId7"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11.svg"/><Relationship Id="rId5" Type="http://schemas.openxmlformats.org/officeDocument/2006/relationships/image" Target="../media/image20.pn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7.png"/><Relationship Id="rId7" Type="http://schemas.openxmlformats.org/officeDocument/2006/relationships/image" Target="../media/image26.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5.jpeg"/><Relationship Id="rId5" Type="http://schemas.openxmlformats.org/officeDocument/2006/relationships/image" Target="../media/image24.jpeg"/><Relationship Id="rId10" Type="http://schemas.openxmlformats.org/officeDocument/2006/relationships/image" Target="../media/image11.svg"/><Relationship Id="rId4" Type="http://schemas.openxmlformats.org/officeDocument/2006/relationships/image" Target="../media/image8.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28.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2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30.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31.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7.png"/><Relationship Id="rId7" Type="http://schemas.openxmlformats.org/officeDocument/2006/relationships/image" Target="../media/image34.png"/><Relationship Id="rId12" Type="http://schemas.openxmlformats.org/officeDocument/2006/relationships/image" Target="../media/image11.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10.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8.png"/><Relationship Id="rId9" Type="http://schemas.openxmlformats.org/officeDocument/2006/relationships/image" Target="../media/image36.jpg"/></Relationships>
</file>

<file path=ppt/slides/_rels/slide11.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11.svg"/><Relationship Id="rId3" Type="http://schemas.openxmlformats.org/officeDocument/2006/relationships/image" Target="../media/image8.png"/><Relationship Id="rId7" Type="http://schemas.openxmlformats.org/officeDocument/2006/relationships/image" Target="../media/image41.png"/><Relationship Id="rId12"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45.jp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7.png"/></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8.png"/><Relationship Id="rId7"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10" Type="http://schemas.openxmlformats.org/officeDocument/2006/relationships/image" Target="../media/image7.png"/><Relationship Id="rId4" Type="http://schemas.openxmlformats.org/officeDocument/2006/relationships/image" Target="../media/image46.png"/><Relationship Id="rId9" Type="http://schemas.openxmlformats.org/officeDocument/2006/relationships/image" Target="../media/image11.svg"/></Relationships>
</file>

<file path=ppt/slides/_rels/slide13.xml.rels><?xml version="1.0" encoding="UTF-8" standalone="yes"?>
<Relationships xmlns="http://schemas.openxmlformats.org/package/2006/relationships"><Relationship Id="rId8" Type="http://schemas.openxmlformats.org/officeDocument/2006/relationships/image" Target="../media/image9.jpeg"/><Relationship Id="rId13" Type="http://schemas.openxmlformats.org/officeDocument/2006/relationships/image" Target="../media/image54.png"/><Relationship Id="rId3" Type="http://schemas.microsoft.com/office/2007/relationships/media" Target="../media/media2.mp4"/><Relationship Id="rId7" Type="http://schemas.openxmlformats.org/officeDocument/2006/relationships/image" Target="../media/image8.png"/><Relationship Id="rId12" Type="http://schemas.openxmlformats.org/officeDocument/2006/relationships/image" Target="../media/image53.png"/><Relationship Id="rId17" Type="http://schemas.openxmlformats.org/officeDocument/2006/relationships/image" Target="../media/image7.png"/><Relationship Id="rId2" Type="http://schemas.openxmlformats.org/officeDocument/2006/relationships/video" Target="../media/media1.mp4"/><Relationship Id="rId16" Type="http://schemas.openxmlformats.org/officeDocument/2006/relationships/image" Target="../media/image11.svg"/><Relationship Id="rId1" Type="http://schemas.microsoft.com/office/2007/relationships/media" Target="../media/media1.mp4"/><Relationship Id="rId6" Type="http://schemas.openxmlformats.org/officeDocument/2006/relationships/notesSlide" Target="../notesSlides/notesSlide12.xml"/><Relationship Id="rId11" Type="http://schemas.openxmlformats.org/officeDocument/2006/relationships/image" Target="../media/image52.png"/><Relationship Id="rId5" Type="http://schemas.openxmlformats.org/officeDocument/2006/relationships/slideLayout" Target="../slideLayouts/slideLayout7.xml"/><Relationship Id="rId15" Type="http://schemas.openxmlformats.org/officeDocument/2006/relationships/image" Target="../media/image10.png"/><Relationship Id="rId10" Type="http://schemas.openxmlformats.org/officeDocument/2006/relationships/image" Target="../media/image51.jpg"/><Relationship Id="rId4" Type="http://schemas.openxmlformats.org/officeDocument/2006/relationships/video" Target="../media/media2.mp4"/><Relationship Id="rId9" Type="http://schemas.openxmlformats.org/officeDocument/2006/relationships/image" Target="../media/image50.jpg"/><Relationship Id="rId14" Type="http://schemas.openxmlformats.org/officeDocument/2006/relationships/image" Target="../media/image55.png"/></Relationships>
</file>

<file path=ppt/slides/_rels/slide1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57.png"/><Relationship Id="rId4" Type="http://schemas.openxmlformats.org/officeDocument/2006/relationships/image" Target="../media/image56.png"/><Relationship Id="rId9" Type="http://schemas.openxmlformats.org/officeDocument/2006/relationships/image" Target="../media/image7.png"/></Relationships>
</file>

<file path=ppt/slides/_rels/slide15.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8.png"/><Relationship Id="rId7" Type="http://schemas.openxmlformats.org/officeDocument/2006/relationships/image" Target="../media/image59.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11.svg"/><Relationship Id="rId10" Type="http://schemas.openxmlformats.org/officeDocument/2006/relationships/image" Target="../media/image7.png"/><Relationship Id="rId4" Type="http://schemas.openxmlformats.org/officeDocument/2006/relationships/image" Target="../media/image10.png"/><Relationship Id="rId9" Type="http://schemas.openxmlformats.org/officeDocument/2006/relationships/image" Target="../media/image61.png"/></Relationships>
</file>

<file path=ppt/slides/_rels/slide16.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png"/><Relationship Id="rId3" Type="http://schemas.openxmlformats.org/officeDocument/2006/relationships/image" Target="../media/image8.png"/><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11.svg"/><Relationship Id="rId10" Type="http://schemas.openxmlformats.org/officeDocument/2006/relationships/image" Target="../media/image66.png"/><Relationship Id="rId4" Type="http://schemas.openxmlformats.org/officeDocument/2006/relationships/image" Target="../media/image10.png"/><Relationship Id="rId9" Type="http://schemas.openxmlformats.org/officeDocument/2006/relationships/image" Target="../media/image65.png"/><Relationship Id="rId14" Type="http://schemas.openxmlformats.org/officeDocument/2006/relationships/image" Target="../media/image7.png"/></Relationships>
</file>

<file path=ppt/slides/_rels/slide17.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11.svg"/><Relationship Id="rId3" Type="http://schemas.openxmlformats.org/officeDocument/2006/relationships/image" Target="../media/image8.png"/><Relationship Id="rId7" Type="http://schemas.openxmlformats.org/officeDocument/2006/relationships/image" Target="../media/image73.png"/><Relationship Id="rId12"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72.png"/><Relationship Id="rId11" Type="http://schemas.openxmlformats.org/officeDocument/2006/relationships/image" Target="../media/image77.png"/><Relationship Id="rId5" Type="http://schemas.openxmlformats.org/officeDocument/2006/relationships/image" Target="../media/image71.png"/><Relationship Id="rId10" Type="http://schemas.openxmlformats.org/officeDocument/2006/relationships/image" Target="../media/image76.png"/><Relationship Id="rId4" Type="http://schemas.openxmlformats.org/officeDocument/2006/relationships/image" Target="../media/image70.png"/><Relationship Id="rId9" Type="http://schemas.openxmlformats.org/officeDocument/2006/relationships/image" Target="../media/image75.png"/><Relationship Id="rId14" Type="http://schemas.openxmlformats.org/officeDocument/2006/relationships/image" Target="../media/image7.png"/></Relationships>
</file>

<file path=ppt/slides/_rels/slide18.xml.rels><?xml version="1.0" encoding="UTF-8" standalone="yes"?>
<Relationships xmlns="http://schemas.openxmlformats.org/package/2006/relationships"><Relationship Id="rId8" Type="http://schemas.openxmlformats.org/officeDocument/2006/relationships/image" Target="../media/image80.jpg"/><Relationship Id="rId3" Type="http://schemas.openxmlformats.org/officeDocument/2006/relationships/image" Target="../media/image8.png"/><Relationship Id="rId7" Type="http://schemas.openxmlformats.org/officeDocument/2006/relationships/image" Target="../media/image79.jp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78.jpg"/><Relationship Id="rId5" Type="http://schemas.openxmlformats.org/officeDocument/2006/relationships/image" Target="../media/image11.svg"/><Relationship Id="rId10" Type="http://schemas.openxmlformats.org/officeDocument/2006/relationships/image" Target="../media/image7.png"/><Relationship Id="rId4" Type="http://schemas.openxmlformats.org/officeDocument/2006/relationships/image" Target="../media/image10.png"/><Relationship Id="rId9" Type="http://schemas.openxmlformats.org/officeDocument/2006/relationships/image" Target="../media/image81.jpe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3" Type="http://schemas.openxmlformats.org/officeDocument/2006/relationships/image" Target="../media/image7.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11.svg"/><Relationship Id="rId11" Type="http://schemas.openxmlformats.org/officeDocument/2006/relationships/image" Target="../media/image74.png"/><Relationship Id="rId5" Type="http://schemas.openxmlformats.org/officeDocument/2006/relationships/image" Target="../media/image10.png"/><Relationship Id="rId10" Type="http://schemas.openxmlformats.org/officeDocument/2006/relationships/image" Target="../media/image73.png"/><Relationship Id="rId4" Type="http://schemas.openxmlformats.org/officeDocument/2006/relationships/image" Target="../media/image8.png"/><Relationship Id="rId9" Type="http://schemas.openxmlformats.org/officeDocument/2006/relationships/image" Target="../media/image72.png"/><Relationship Id="rId14" Type="http://schemas.openxmlformats.org/officeDocument/2006/relationships/image" Target="../media/image77.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3" Type="http://schemas.openxmlformats.org/officeDocument/2006/relationships/image" Target="../media/image7.png"/><Relationship Id="rId7" Type="http://schemas.openxmlformats.org/officeDocument/2006/relationships/image" Target="../media/image11.svg"/><Relationship Id="rId12" Type="http://schemas.openxmlformats.org/officeDocument/2006/relationships/image" Target="../media/image86.sv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85.png"/><Relationship Id="rId5" Type="http://schemas.openxmlformats.org/officeDocument/2006/relationships/image" Target="../media/image9.jpeg"/><Relationship Id="rId10" Type="http://schemas.openxmlformats.org/officeDocument/2006/relationships/image" Target="../media/image84.svg"/><Relationship Id="rId4" Type="http://schemas.openxmlformats.org/officeDocument/2006/relationships/image" Target="../media/image8.png"/><Relationship Id="rId9" Type="http://schemas.openxmlformats.org/officeDocument/2006/relationships/image" Target="../media/image83.png"/><Relationship Id="rId14" Type="http://schemas.openxmlformats.org/officeDocument/2006/relationships/image" Target="../media/image88.svg"/></Relationships>
</file>

<file path=ppt/slides/_rels/slide23.xml.rels><?xml version="1.0" encoding="UTF-8" standalone="yes"?>
<Relationships xmlns="http://schemas.openxmlformats.org/package/2006/relationships"><Relationship Id="rId8" Type="http://schemas.openxmlformats.org/officeDocument/2006/relationships/image" Target="../media/image91.jpeg"/><Relationship Id="rId13" Type="http://schemas.openxmlformats.org/officeDocument/2006/relationships/image" Target="../media/image95.png"/><Relationship Id="rId18" Type="http://schemas.openxmlformats.org/officeDocument/2006/relationships/image" Target="../media/image99.png"/><Relationship Id="rId3" Type="http://schemas.openxmlformats.org/officeDocument/2006/relationships/image" Target="../media/image89.png"/><Relationship Id="rId21" Type="http://schemas.openxmlformats.org/officeDocument/2006/relationships/image" Target="../media/image102.svg"/><Relationship Id="rId7" Type="http://schemas.openxmlformats.org/officeDocument/2006/relationships/hyperlink" Target="https://sportsecon.org.tw/" TargetMode="External"/><Relationship Id="rId12" Type="http://schemas.openxmlformats.org/officeDocument/2006/relationships/image" Target="../media/image94.svg"/><Relationship Id="rId17" Type="http://schemas.openxmlformats.org/officeDocument/2006/relationships/image" Target="../media/image9.jpeg"/><Relationship Id="rId2" Type="http://schemas.openxmlformats.org/officeDocument/2006/relationships/notesSlide" Target="../notesSlides/notesSlide22.xml"/><Relationship Id="rId16" Type="http://schemas.openxmlformats.org/officeDocument/2006/relationships/image" Target="../media/image98.svg"/><Relationship Id="rId20" Type="http://schemas.openxmlformats.org/officeDocument/2006/relationships/image" Target="../media/image101.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93.png"/><Relationship Id="rId5" Type="http://schemas.openxmlformats.org/officeDocument/2006/relationships/image" Target="../media/image8.png"/><Relationship Id="rId15" Type="http://schemas.openxmlformats.org/officeDocument/2006/relationships/image" Target="../media/image97.png"/><Relationship Id="rId23" Type="http://schemas.openxmlformats.org/officeDocument/2006/relationships/image" Target="../media/image104.svg"/><Relationship Id="rId10" Type="http://schemas.openxmlformats.org/officeDocument/2006/relationships/image" Target="../media/image92.jpeg"/><Relationship Id="rId19" Type="http://schemas.openxmlformats.org/officeDocument/2006/relationships/image" Target="../media/image100.svg"/><Relationship Id="rId4" Type="http://schemas.openxmlformats.org/officeDocument/2006/relationships/image" Target="../media/image90.svg"/><Relationship Id="rId9" Type="http://schemas.openxmlformats.org/officeDocument/2006/relationships/hyperlink" Target="https://sportsdata.org.tw/" TargetMode="External"/><Relationship Id="rId14" Type="http://schemas.openxmlformats.org/officeDocument/2006/relationships/image" Target="../media/image96.svg"/><Relationship Id="rId22" Type="http://schemas.openxmlformats.org/officeDocument/2006/relationships/image" Target="../media/image103.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07.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9.png"/><Relationship Id="rId7" Type="http://schemas.openxmlformats.org/officeDocument/2006/relationships/image" Target="../media/image111.png"/><Relationship Id="rId12" Type="http://schemas.openxmlformats.org/officeDocument/2006/relationships/image" Target="../media/image7.png"/><Relationship Id="rId2" Type="http://schemas.openxmlformats.org/officeDocument/2006/relationships/image" Target="../media/image108.png"/><Relationship Id="rId1" Type="http://schemas.openxmlformats.org/officeDocument/2006/relationships/slideLayout" Target="../slideLayouts/slideLayout7.xml"/><Relationship Id="rId6" Type="http://schemas.openxmlformats.org/officeDocument/2006/relationships/image" Target="../media/image9.jpeg"/><Relationship Id="rId11" Type="http://schemas.openxmlformats.org/officeDocument/2006/relationships/image" Target="../media/image115.svg"/><Relationship Id="rId5" Type="http://schemas.openxmlformats.org/officeDocument/2006/relationships/image" Target="../media/image8.png"/><Relationship Id="rId10" Type="http://schemas.openxmlformats.org/officeDocument/2006/relationships/image" Target="../media/image114.png"/><Relationship Id="rId4" Type="http://schemas.openxmlformats.org/officeDocument/2006/relationships/image" Target="../media/image110.svg"/><Relationship Id="rId9" Type="http://schemas.openxmlformats.org/officeDocument/2006/relationships/image" Target="../media/image113.svg"/></Relationships>
</file>

<file path=ppt/slides/_rels/slide26.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svg"/><Relationship Id="rId3" Type="http://schemas.openxmlformats.org/officeDocument/2006/relationships/image" Target="../media/image8.png"/><Relationship Id="rId7" Type="http://schemas.openxmlformats.org/officeDocument/2006/relationships/image" Target="../media/image118.png"/><Relationship Id="rId12" Type="http://schemas.openxmlformats.org/officeDocument/2006/relationships/image" Target="../media/image123.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117.png"/><Relationship Id="rId11" Type="http://schemas.openxmlformats.org/officeDocument/2006/relationships/image" Target="../media/image122.svg"/><Relationship Id="rId5" Type="http://schemas.openxmlformats.org/officeDocument/2006/relationships/image" Target="../media/image116.png"/><Relationship Id="rId10" Type="http://schemas.openxmlformats.org/officeDocument/2006/relationships/image" Target="../media/image121.png"/><Relationship Id="rId4" Type="http://schemas.openxmlformats.org/officeDocument/2006/relationships/image" Target="../media/image9.jpeg"/><Relationship Id="rId9" Type="http://schemas.openxmlformats.org/officeDocument/2006/relationships/image" Target="../media/image120.svg"/><Relationship Id="rId14" Type="http://schemas.openxmlformats.org/officeDocument/2006/relationships/image" Target="../media/image7.png"/></Relationships>
</file>

<file path=ppt/slides/_rels/slide27.xml.rels><?xml version="1.0" encoding="UTF-8" standalone="yes"?>
<Relationships xmlns="http://schemas.openxmlformats.org/package/2006/relationships"><Relationship Id="rId8" Type="http://schemas.openxmlformats.org/officeDocument/2006/relationships/image" Target="../media/image128.svg"/><Relationship Id="rId3" Type="http://schemas.openxmlformats.org/officeDocument/2006/relationships/image" Target="../media/image8.png"/><Relationship Id="rId7" Type="http://schemas.openxmlformats.org/officeDocument/2006/relationships/image" Target="../media/image127.png"/><Relationship Id="rId12" Type="http://schemas.openxmlformats.org/officeDocument/2006/relationships/image" Target="../media/image132.sv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126.svg"/><Relationship Id="rId11" Type="http://schemas.openxmlformats.org/officeDocument/2006/relationships/image" Target="../media/image131.png"/><Relationship Id="rId5" Type="http://schemas.openxmlformats.org/officeDocument/2006/relationships/image" Target="../media/image125.png"/><Relationship Id="rId10" Type="http://schemas.openxmlformats.org/officeDocument/2006/relationships/image" Target="../media/image130.svg"/><Relationship Id="rId4" Type="http://schemas.openxmlformats.org/officeDocument/2006/relationships/image" Target="../media/image7.png"/><Relationship Id="rId9" Type="http://schemas.openxmlformats.org/officeDocument/2006/relationships/image" Target="../media/image129.png"/></Relationships>
</file>

<file path=ppt/slides/_rels/slide28.xml.rels><?xml version="1.0" encoding="UTF-8" standalone="yes"?>
<Relationships xmlns="http://schemas.openxmlformats.org/package/2006/relationships"><Relationship Id="rId3" Type="http://schemas.openxmlformats.org/officeDocument/2006/relationships/image" Target="../media/image109.png"/><Relationship Id="rId7" Type="http://schemas.openxmlformats.org/officeDocument/2006/relationships/image" Target="../media/image2.png"/><Relationship Id="rId2" Type="http://schemas.openxmlformats.org/officeDocument/2006/relationships/image" Target="../media/image108.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png"/><Relationship Id="rId4" Type="http://schemas.openxmlformats.org/officeDocument/2006/relationships/image" Target="../media/image13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939540">
            <a:off x="11796189" y="-1550708"/>
            <a:ext cx="6415802" cy="13194449"/>
            <a:chOff x="0" y="0"/>
            <a:chExt cx="8554402" cy="17592599"/>
          </a:xfrm>
        </p:grpSpPr>
        <p:sp>
          <p:nvSpPr>
            <p:cNvPr id="3" name="Freeform 3"/>
            <p:cNvSpPr/>
            <p:nvPr/>
          </p:nvSpPr>
          <p:spPr>
            <a:xfrm>
              <a:off x="0" y="0"/>
              <a:ext cx="8554339" cy="17592548"/>
            </a:xfrm>
            <a:custGeom>
              <a:avLst/>
              <a:gdLst/>
              <a:ahLst/>
              <a:cxnLst/>
              <a:rect l="l" t="t" r="r" b="b"/>
              <a:pathLst>
                <a:path w="8554339" h="17592548">
                  <a:moveTo>
                    <a:pt x="0" y="0"/>
                  </a:moveTo>
                  <a:lnTo>
                    <a:pt x="8554339" y="0"/>
                  </a:lnTo>
                  <a:lnTo>
                    <a:pt x="8554339" y="17592548"/>
                  </a:lnTo>
                  <a:lnTo>
                    <a:pt x="0" y="17592548"/>
                  </a:lnTo>
                  <a:lnTo>
                    <a:pt x="0" y="0"/>
                  </a:lnTo>
                  <a:close/>
                </a:path>
              </a:pathLst>
            </a:custGeom>
            <a:blipFill>
              <a:blip r:embed="rId3">
                <a:alphaModFix amt="60000"/>
              </a:blip>
              <a:stretch>
                <a:fillRect l="-21" r="-21"/>
              </a:stretch>
            </a:blipFill>
          </p:spPr>
        </p:sp>
      </p:grpSp>
      <p:grpSp>
        <p:nvGrpSpPr>
          <p:cNvPr id="4" name="Group 4"/>
          <p:cNvGrpSpPr/>
          <p:nvPr/>
        </p:nvGrpSpPr>
        <p:grpSpPr>
          <a:xfrm rot="939540">
            <a:off x="-1658093" y="-945575"/>
            <a:ext cx="3316195" cy="6819929"/>
            <a:chOff x="0" y="0"/>
            <a:chExt cx="4421594" cy="9093238"/>
          </a:xfrm>
        </p:grpSpPr>
        <p:sp>
          <p:nvSpPr>
            <p:cNvPr id="5" name="Freeform 5"/>
            <p:cNvSpPr/>
            <p:nvPr/>
          </p:nvSpPr>
          <p:spPr>
            <a:xfrm>
              <a:off x="0" y="0"/>
              <a:ext cx="4421632" cy="9093200"/>
            </a:xfrm>
            <a:custGeom>
              <a:avLst/>
              <a:gdLst/>
              <a:ahLst/>
              <a:cxnLst/>
              <a:rect l="l" t="t" r="r" b="b"/>
              <a:pathLst>
                <a:path w="4421632" h="9093200">
                  <a:moveTo>
                    <a:pt x="0" y="0"/>
                  </a:moveTo>
                  <a:lnTo>
                    <a:pt x="4421632" y="0"/>
                  </a:lnTo>
                  <a:lnTo>
                    <a:pt x="4421632" y="9093200"/>
                  </a:lnTo>
                  <a:lnTo>
                    <a:pt x="0" y="9093200"/>
                  </a:lnTo>
                  <a:lnTo>
                    <a:pt x="0" y="0"/>
                  </a:lnTo>
                  <a:close/>
                </a:path>
              </a:pathLst>
            </a:custGeom>
            <a:blipFill>
              <a:blip r:embed="rId3">
                <a:alphaModFix amt="40000"/>
              </a:blip>
              <a:stretch>
                <a:fillRect l="-20" r="-20"/>
              </a:stretch>
            </a:blipFill>
          </p:spPr>
        </p:sp>
      </p:grpSp>
      <p:sp>
        <p:nvSpPr>
          <p:cNvPr id="6" name="Freeform 6"/>
          <p:cNvSpPr/>
          <p:nvPr/>
        </p:nvSpPr>
        <p:spPr>
          <a:xfrm>
            <a:off x="1143000" y="5905499"/>
            <a:ext cx="11018951" cy="1864335"/>
          </a:xfrm>
          <a:custGeom>
            <a:avLst/>
            <a:gdLst/>
            <a:ahLst/>
            <a:cxnLst/>
            <a:rect l="l" t="t" r="r" b="b"/>
            <a:pathLst>
              <a:path w="11154305" h="2049604">
                <a:moveTo>
                  <a:pt x="0" y="0"/>
                </a:moveTo>
                <a:lnTo>
                  <a:pt x="11154305" y="0"/>
                </a:lnTo>
                <a:lnTo>
                  <a:pt x="11154305" y="2049604"/>
                </a:lnTo>
                <a:lnTo>
                  <a:pt x="0" y="2049604"/>
                </a:lnTo>
                <a:lnTo>
                  <a:pt x="0" y="0"/>
                </a:lnTo>
                <a:close/>
              </a:path>
            </a:pathLst>
          </a:custGeom>
          <a:blipFill>
            <a:blip r:embed="rId4"/>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309224" y="3857655"/>
            <a:ext cx="7950076" cy="2366774"/>
            <a:chOff x="0" y="0"/>
            <a:chExt cx="1231675" cy="366675"/>
          </a:xfrm>
        </p:grpSpPr>
        <p:sp>
          <p:nvSpPr>
            <p:cNvPr id="3" name="Freeform 3" descr="一張含有 服裝, 人員, 足部穿著, 牆 的圖片  AI 產生的內容可能不正確。"/>
            <p:cNvSpPr/>
            <p:nvPr/>
          </p:nvSpPr>
          <p:spPr>
            <a:xfrm>
              <a:off x="0" y="0"/>
              <a:ext cx="1231675" cy="366675"/>
            </a:xfrm>
            <a:custGeom>
              <a:avLst/>
              <a:gdLst/>
              <a:ahLst/>
              <a:cxnLst/>
              <a:rect l="l" t="t" r="r" b="b"/>
              <a:pathLst>
                <a:path w="1231675" h="366675">
                  <a:moveTo>
                    <a:pt x="0" y="0"/>
                  </a:moveTo>
                  <a:lnTo>
                    <a:pt x="1231675" y="0"/>
                  </a:lnTo>
                  <a:lnTo>
                    <a:pt x="1231675" y="366675"/>
                  </a:lnTo>
                  <a:lnTo>
                    <a:pt x="0" y="366675"/>
                  </a:lnTo>
                  <a:close/>
                </a:path>
              </a:pathLst>
            </a:custGeom>
            <a:blipFill>
              <a:blip r:embed="rId2"/>
              <a:stretch>
                <a:fillRect t="-44417" b="-44417"/>
              </a:stretch>
            </a:blipFill>
          </p:spPr>
        </p:sp>
      </p:grpSp>
      <p:grpSp>
        <p:nvGrpSpPr>
          <p:cNvPr id="4" name="Group 4"/>
          <p:cNvGrpSpPr/>
          <p:nvPr/>
        </p:nvGrpSpPr>
        <p:grpSpPr>
          <a:xfrm>
            <a:off x="9309224" y="6376829"/>
            <a:ext cx="7950076" cy="3095799"/>
            <a:chOff x="0" y="0"/>
            <a:chExt cx="1231675" cy="479620"/>
          </a:xfrm>
        </p:grpSpPr>
        <p:sp>
          <p:nvSpPr>
            <p:cNvPr id="5" name="Freeform 5" descr="一張含有 服裝, 人員, 微笑, 足部穿著 的圖片  AI 產生的內容可能不正確。"/>
            <p:cNvSpPr/>
            <p:nvPr/>
          </p:nvSpPr>
          <p:spPr>
            <a:xfrm>
              <a:off x="0" y="0"/>
              <a:ext cx="1231675" cy="479620"/>
            </a:xfrm>
            <a:custGeom>
              <a:avLst/>
              <a:gdLst/>
              <a:ahLst/>
              <a:cxnLst/>
              <a:rect l="l" t="t" r="r" b="b"/>
              <a:pathLst>
                <a:path w="1231675" h="479620">
                  <a:moveTo>
                    <a:pt x="0" y="0"/>
                  </a:moveTo>
                  <a:lnTo>
                    <a:pt x="1231675" y="0"/>
                  </a:lnTo>
                  <a:lnTo>
                    <a:pt x="1231675" y="479620"/>
                  </a:lnTo>
                  <a:lnTo>
                    <a:pt x="0" y="479620"/>
                  </a:lnTo>
                  <a:close/>
                </a:path>
              </a:pathLst>
            </a:custGeom>
            <a:blipFill>
              <a:blip r:embed="rId3"/>
              <a:stretch>
                <a:fillRect t="-35534" b="-35534"/>
              </a:stretch>
            </a:blipFill>
          </p:spPr>
        </p:sp>
      </p:grpSp>
      <p:grpSp>
        <p:nvGrpSpPr>
          <p:cNvPr id="6" name="Group 6"/>
          <p:cNvGrpSpPr/>
          <p:nvPr/>
        </p:nvGrpSpPr>
        <p:grpSpPr>
          <a:xfrm>
            <a:off x="1028700" y="3857655"/>
            <a:ext cx="8115300" cy="3070597"/>
            <a:chOff x="0" y="0"/>
            <a:chExt cx="1257272" cy="475716"/>
          </a:xfrm>
        </p:grpSpPr>
        <p:sp>
          <p:nvSpPr>
            <p:cNvPr id="7" name="Freeform 7"/>
            <p:cNvSpPr/>
            <p:nvPr/>
          </p:nvSpPr>
          <p:spPr>
            <a:xfrm>
              <a:off x="0" y="0"/>
              <a:ext cx="1257272" cy="475716"/>
            </a:xfrm>
            <a:custGeom>
              <a:avLst/>
              <a:gdLst/>
              <a:ahLst/>
              <a:cxnLst/>
              <a:rect l="l" t="t" r="r" b="b"/>
              <a:pathLst>
                <a:path w="1257272" h="475716">
                  <a:moveTo>
                    <a:pt x="0" y="0"/>
                  </a:moveTo>
                  <a:lnTo>
                    <a:pt x="1257272" y="0"/>
                  </a:lnTo>
                  <a:lnTo>
                    <a:pt x="1257272" y="475716"/>
                  </a:lnTo>
                  <a:lnTo>
                    <a:pt x="0" y="475716"/>
                  </a:lnTo>
                  <a:close/>
                </a:path>
              </a:pathLst>
            </a:custGeom>
            <a:blipFill>
              <a:blip r:embed="rId4"/>
              <a:stretch>
                <a:fillRect t="-38827" b="-38827"/>
              </a:stretch>
            </a:blipFill>
          </p:spPr>
        </p:sp>
      </p:grpSp>
      <p:grpSp>
        <p:nvGrpSpPr>
          <p:cNvPr id="8" name="Group 8"/>
          <p:cNvGrpSpPr/>
          <p:nvPr/>
        </p:nvGrpSpPr>
        <p:grpSpPr>
          <a:xfrm>
            <a:off x="1028700" y="7080652"/>
            <a:ext cx="8115300" cy="2391976"/>
            <a:chOff x="0" y="0"/>
            <a:chExt cx="1257272" cy="370580"/>
          </a:xfrm>
        </p:grpSpPr>
        <p:sp>
          <p:nvSpPr>
            <p:cNvPr id="9" name="Freeform 9" descr="一張含有 服裝, 人員, 戶外, 男人 的圖片  AI 產生的內容可能不正確。"/>
            <p:cNvSpPr/>
            <p:nvPr/>
          </p:nvSpPr>
          <p:spPr>
            <a:xfrm>
              <a:off x="0" y="0"/>
              <a:ext cx="1257272" cy="370580"/>
            </a:xfrm>
            <a:custGeom>
              <a:avLst/>
              <a:gdLst/>
              <a:ahLst/>
              <a:cxnLst/>
              <a:rect l="l" t="t" r="r" b="b"/>
              <a:pathLst>
                <a:path w="1257272" h="370580">
                  <a:moveTo>
                    <a:pt x="0" y="0"/>
                  </a:moveTo>
                  <a:lnTo>
                    <a:pt x="1257272" y="0"/>
                  </a:lnTo>
                  <a:lnTo>
                    <a:pt x="1257272" y="370580"/>
                  </a:lnTo>
                  <a:lnTo>
                    <a:pt x="0" y="370580"/>
                  </a:lnTo>
                  <a:close/>
                </a:path>
              </a:pathLst>
            </a:custGeom>
            <a:blipFill>
              <a:blip r:embed="rId5"/>
              <a:stretch>
                <a:fillRect t="-60230" b="-53510"/>
              </a:stretch>
            </a:blipFill>
          </p:spPr>
        </p:sp>
      </p:grpSp>
      <p:grpSp>
        <p:nvGrpSpPr>
          <p:cNvPr id="10" name="Group 10"/>
          <p:cNvGrpSpPr/>
          <p:nvPr/>
        </p:nvGrpSpPr>
        <p:grpSpPr>
          <a:xfrm>
            <a:off x="0" y="25403"/>
            <a:ext cx="18288000" cy="3744230"/>
            <a:chOff x="0" y="0"/>
            <a:chExt cx="24384000" cy="4992306"/>
          </a:xfrm>
        </p:grpSpPr>
        <p:sp>
          <p:nvSpPr>
            <p:cNvPr id="11" name="Freeform 11" descr="一張含有 黑暗, 黑色, 螢幕擷取畫面, 光線 的圖片  AI 產生的內容可能不正確。"/>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6"/>
              <a:stretch>
                <a:fillRect b="-1"/>
              </a:stretch>
            </a:blipFill>
          </p:spPr>
        </p:sp>
      </p:grpSp>
      <p:sp>
        <p:nvSpPr>
          <p:cNvPr id="12" name="TextBox 12"/>
          <p:cNvSpPr txBox="1"/>
          <p:nvPr/>
        </p:nvSpPr>
        <p:spPr>
          <a:xfrm>
            <a:off x="1028700" y="1957661"/>
            <a:ext cx="16230600" cy="1625445"/>
          </a:xfrm>
          <a:prstGeom prst="rect">
            <a:avLst/>
          </a:prstGeom>
        </p:spPr>
        <p:txBody>
          <a:bodyPr lIns="0" tIns="0" rIns="0" bIns="0" rtlCol="0" anchor="t">
            <a:spAutoFit/>
          </a:bodyPr>
          <a:lstStyle/>
          <a:p>
            <a:pPr algn="l">
              <a:lnSpc>
                <a:spcPts val="13892"/>
              </a:lnSpc>
              <a:spcBef>
                <a:spcPct val="0"/>
              </a:spcBef>
            </a:pPr>
            <a:r>
              <a:rPr lang="en-US" sz="8000" b="1" dirty="0">
                <a:solidFill>
                  <a:srgbClr val="4366AB"/>
                </a:solidFill>
                <a:latin typeface="Times New Roman"/>
                <a:ea typeface="Times New Roman"/>
                <a:cs typeface="Times New Roman"/>
                <a:sym typeface="Times New Roman"/>
              </a:rPr>
              <a:t>Photos of Us</a:t>
            </a:r>
          </a:p>
        </p:txBody>
      </p:sp>
      <p:grpSp>
        <p:nvGrpSpPr>
          <p:cNvPr id="13" name="Group 13"/>
          <p:cNvGrpSpPr/>
          <p:nvPr/>
        </p:nvGrpSpPr>
        <p:grpSpPr>
          <a:xfrm>
            <a:off x="1363408" y="599237"/>
            <a:ext cx="1103243" cy="551059"/>
            <a:chOff x="0" y="0"/>
            <a:chExt cx="1470990" cy="734746"/>
          </a:xfrm>
        </p:grpSpPr>
        <p:sp>
          <p:nvSpPr>
            <p:cNvPr id="14" name="Freeform 14"/>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7"/>
              <a:stretch>
                <a:fillRect t="-221" r="3" b="-226"/>
              </a:stretch>
            </a:blipFill>
          </p:spPr>
        </p:sp>
      </p:grpSp>
      <p:grpSp>
        <p:nvGrpSpPr>
          <p:cNvPr id="15" name="Group 15"/>
          <p:cNvGrpSpPr/>
          <p:nvPr/>
        </p:nvGrpSpPr>
        <p:grpSpPr>
          <a:xfrm>
            <a:off x="1363408" y="599237"/>
            <a:ext cx="1103243" cy="551059"/>
            <a:chOff x="0" y="0"/>
            <a:chExt cx="1470990" cy="734746"/>
          </a:xfrm>
        </p:grpSpPr>
        <p:sp>
          <p:nvSpPr>
            <p:cNvPr id="16" name="Freeform 16"/>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7"/>
              <a:stretch>
                <a:fillRect t="-221" r="3" b="-226"/>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5403"/>
            <a:ext cx="18288000" cy="3744230"/>
            <a:chOff x="0" y="0"/>
            <a:chExt cx="24384000" cy="4992306"/>
          </a:xfrm>
        </p:grpSpPr>
        <p:sp>
          <p:nvSpPr>
            <p:cNvPr id="3" name="Freeform 3" descr="一張含有 黑暗, 黑色, 螢幕擷取畫面, 光線 的圖片  AI 產生的內容可能不正確。"/>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3"/>
              <a:stretch>
                <a:fillRect b="-1"/>
              </a:stretch>
            </a:blipFill>
          </p:spPr>
        </p:sp>
      </p:grpSp>
      <p:grpSp>
        <p:nvGrpSpPr>
          <p:cNvPr id="4" name="Group 4"/>
          <p:cNvGrpSpPr/>
          <p:nvPr/>
        </p:nvGrpSpPr>
        <p:grpSpPr>
          <a:xfrm>
            <a:off x="1363408" y="599237"/>
            <a:ext cx="1103243" cy="551059"/>
            <a:chOff x="0" y="0"/>
            <a:chExt cx="1470990" cy="734746"/>
          </a:xfrm>
        </p:grpSpPr>
        <p:sp>
          <p:nvSpPr>
            <p:cNvPr id="5" name="Freeform 5"/>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4"/>
              <a:stretch>
                <a:fillRect t="-221" r="3" b="-226"/>
              </a:stretch>
            </a:blipFill>
          </p:spPr>
        </p:sp>
      </p:grpSp>
      <p:sp>
        <p:nvSpPr>
          <p:cNvPr id="8" name="TextBox 8"/>
          <p:cNvSpPr txBox="1"/>
          <p:nvPr/>
        </p:nvSpPr>
        <p:spPr>
          <a:xfrm>
            <a:off x="1513740" y="1840074"/>
            <a:ext cx="12828418" cy="1394460"/>
          </a:xfrm>
          <a:prstGeom prst="rect">
            <a:avLst/>
          </a:prstGeom>
        </p:spPr>
        <p:txBody>
          <a:bodyPr lIns="0" tIns="0" rIns="0" bIns="0" rtlCol="0" anchor="ctr"/>
          <a:lstStyle/>
          <a:p>
            <a:pPr algn="l">
              <a:lnSpc>
                <a:spcPts val="4284"/>
              </a:lnSpc>
            </a:pPr>
            <a:r>
              <a:rPr lang="en-US" sz="5100" b="1" dirty="0">
                <a:solidFill>
                  <a:srgbClr val="003366"/>
                </a:solidFill>
                <a:latin typeface="Times New Roman"/>
                <a:ea typeface="Times New Roman"/>
                <a:cs typeface="Times New Roman"/>
                <a:sym typeface="Times New Roman"/>
              </a:rPr>
              <a:t>Ministry of Sports Organization</a:t>
            </a:r>
          </a:p>
        </p:txBody>
      </p:sp>
      <p:grpSp>
        <p:nvGrpSpPr>
          <p:cNvPr id="9" name="Group 9"/>
          <p:cNvGrpSpPr/>
          <p:nvPr/>
        </p:nvGrpSpPr>
        <p:grpSpPr>
          <a:xfrm>
            <a:off x="1789956" y="3234534"/>
            <a:ext cx="6875563" cy="1127324"/>
            <a:chOff x="0" y="0"/>
            <a:chExt cx="9167417" cy="1503099"/>
          </a:xfrm>
        </p:grpSpPr>
        <p:sp>
          <p:nvSpPr>
            <p:cNvPr id="10" name="Freeform 10"/>
            <p:cNvSpPr/>
            <p:nvPr/>
          </p:nvSpPr>
          <p:spPr>
            <a:xfrm>
              <a:off x="0" y="0"/>
              <a:ext cx="9167415" cy="1503086"/>
            </a:xfrm>
            <a:custGeom>
              <a:avLst/>
              <a:gdLst/>
              <a:ahLst/>
              <a:cxnLst/>
              <a:rect l="l" t="t" r="r" b="b"/>
              <a:pathLst>
                <a:path w="9167415" h="1503086">
                  <a:moveTo>
                    <a:pt x="0" y="0"/>
                  </a:moveTo>
                  <a:lnTo>
                    <a:pt x="9167415" y="0"/>
                  </a:lnTo>
                  <a:lnTo>
                    <a:pt x="9167415" y="1503086"/>
                  </a:lnTo>
                  <a:lnTo>
                    <a:pt x="0" y="1503086"/>
                  </a:lnTo>
                  <a:close/>
                </a:path>
              </a:pathLst>
            </a:custGeom>
            <a:blipFill>
              <a:blip r:embed="rId5">
                <a:alphaModFix amt="0"/>
              </a:blip>
              <a:stretch>
                <a:fillRect t="-62293" r="26905" b="-11437"/>
              </a:stretch>
            </a:blipFill>
          </p:spPr>
        </p:sp>
        <p:sp>
          <p:nvSpPr>
            <p:cNvPr id="11" name="TextBox 11"/>
            <p:cNvSpPr txBox="1"/>
            <p:nvPr/>
          </p:nvSpPr>
          <p:spPr>
            <a:xfrm>
              <a:off x="0" y="-28575"/>
              <a:ext cx="9167417" cy="1531674"/>
            </a:xfrm>
            <a:prstGeom prst="rect">
              <a:avLst/>
            </a:prstGeom>
          </p:spPr>
          <p:txBody>
            <a:bodyPr lIns="0" tIns="0" rIns="0" bIns="0" rtlCol="0" anchor="ctr"/>
            <a:lstStyle/>
            <a:p>
              <a:pPr algn="l">
                <a:lnSpc>
                  <a:spcPts val="3840"/>
                </a:lnSpc>
              </a:pPr>
              <a:r>
                <a:rPr lang="en-US" sz="3200" b="1">
                  <a:solidFill>
                    <a:srgbClr val="0F5253"/>
                  </a:solidFill>
                  <a:latin typeface="Times New Roman"/>
                  <a:ea typeface="Times New Roman"/>
                  <a:cs typeface="Times New Roman"/>
                  <a:sym typeface="Times New Roman"/>
                </a:rPr>
                <a:t>Core Governing Body</a:t>
              </a:r>
            </a:p>
          </p:txBody>
        </p:sp>
      </p:grpSp>
      <p:grpSp>
        <p:nvGrpSpPr>
          <p:cNvPr id="12" name="Group 12"/>
          <p:cNvGrpSpPr/>
          <p:nvPr/>
        </p:nvGrpSpPr>
        <p:grpSpPr>
          <a:xfrm>
            <a:off x="1028700" y="4419008"/>
            <a:ext cx="7636819" cy="5477509"/>
            <a:chOff x="0" y="0"/>
            <a:chExt cx="2011343" cy="1442636"/>
          </a:xfrm>
        </p:grpSpPr>
        <p:sp>
          <p:nvSpPr>
            <p:cNvPr id="13" name="Freeform 13"/>
            <p:cNvSpPr/>
            <p:nvPr/>
          </p:nvSpPr>
          <p:spPr>
            <a:xfrm>
              <a:off x="0" y="0"/>
              <a:ext cx="2011343" cy="1442636"/>
            </a:xfrm>
            <a:custGeom>
              <a:avLst/>
              <a:gdLst/>
              <a:ahLst/>
              <a:cxnLst/>
              <a:rect l="l" t="t" r="r" b="b"/>
              <a:pathLst>
                <a:path w="2011343" h="1442636">
                  <a:moveTo>
                    <a:pt x="0" y="0"/>
                  </a:moveTo>
                  <a:lnTo>
                    <a:pt x="2011343" y="0"/>
                  </a:lnTo>
                  <a:lnTo>
                    <a:pt x="2011343" y="1442636"/>
                  </a:lnTo>
                  <a:lnTo>
                    <a:pt x="0" y="1442636"/>
                  </a:lnTo>
                  <a:close/>
                </a:path>
              </a:pathLst>
            </a:custGeom>
            <a:ln w="19050" cap="sq">
              <a:solidFill>
                <a:srgbClr val="67A0DA"/>
              </a:solidFill>
              <a:prstDash val="solid"/>
              <a:miter/>
            </a:ln>
          </p:spPr>
        </p:sp>
        <p:sp>
          <p:nvSpPr>
            <p:cNvPr id="14" name="TextBox 14"/>
            <p:cNvSpPr txBox="1"/>
            <p:nvPr/>
          </p:nvSpPr>
          <p:spPr>
            <a:xfrm>
              <a:off x="0" y="-28575"/>
              <a:ext cx="2011343" cy="1471211"/>
            </a:xfrm>
            <a:prstGeom prst="rect">
              <a:avLst/>
            </a:prstGeom>
          </p:spPr>
          <p:txBody>
            <a:bodyPr lIns="50800" tIns="50800" rIns="50800" bIns="50800" rtlCol="0" anchor="ctr"/>
            <a:lstStyle/>
            <a:p>
              <a:pPr algn="ctr">
                <a:lnSpc>
                  <a:spcPts val="2833"/>
                </a:lnSpc>
              </a:pPr>
              <a:endParaRPr/>
            </a:p>
          </p:txBody>
        </p:sp>
      </p:grpSp>
      <p:grpSp>
        <p:nvGrpSpPr>
          <p:cNvPr id="15" name="Group 15"/>
          <p:cNvGrpSpPr/>
          <p:nvPr/>
        </p:nvGrpSpPr>
        <p:grpSpPr>
          <a:xfrm>
            <a:off x="8844165" y="4419008"/>
            <a:ext cx="8417144" cy="1371499"/>
            <a:chOff x="0" y="0"/>
            <a:chExt cx="2216861" cy="361218"/>
          </a:xfrm>
        </p:grpSpPr>
        <p:sp>
          <p:nvSpPr>
            <p:cNvPr id="16" name="Freeform 16"/>
            <p:cNvSpPr/>
            <p:nvPr/>
          </p:nvSpPr>
          <p:spPr>
            <a:xfrm>
              <a:off x="0" y="0"/>
              <a:ext cx="2216861" cy="361218"/>
            </a:xfrm>
            <a:custGeom>
              <a:avLst/>
              <a:gdLst/>
              <a:ahLst/>
              <a:cxnLst/>
              <a:rect l="l" t="t" r="r" b="b"/>
              <a:pathLst>
                <a:path w="2216861" h="361218">
                  <a:moveTo>
                    <a:pt x="0" y="0"/>
                  </a:moveTo>
                  <a:lnTo>
                    <a:pt x="2216861" y="0"/>
                  </a:lnTo>
                  <a:lnTo>
                    <a:pt x="2216861" y="361218"/>
                  </a:lnTo>
                  <a:lnTo>
                    <a:pt x="0" y="361218"/>
                  </a:lnTo>
                  <a:close/>
                </a:path>
              </a:pathLst>
            </a:custGeom>
            <a:ln w="19050" cap="sq">
              <a:solidFill>
                <a:srgbClr val="67A0DA"/>
              </a:solidFill>
              <a:prstDash val="solid"/>
              <a:miter/>
            </a:ln>
          </p:spPr>
        </p:sp>
        <p:sp>
          <p:nvSpPr>
            <p:cNvPr id="17" name="TextBox 17"/>
            <p:cNvSpPr txBox="1"/>
            <p:nvPr/>
          </p:nvSpPr>
          <p:spPr>
            <a:xfrm>
              <a:off x="0" y="-28575"/>
              <a:ext cx="2216861" cy="389793"/>
            </a:xfrm>
            <a:prstGeom prst="rect">
              <a:avLst/>
            </a:prstGeom>
          </p:spPr>
          <p:txBody>
            <a:bodyPr lIns="50800" tIns="50800" rIns="50800" bIns="50800" rtlCol="0" anchor="ctr"/>
            <a:lstStyle/>
            <a:p>
              <a:pPr algn="ctr">
                <a:lnSpc>
                  <a:spcPts val="2833"/>
                </a:lnSpc>
              </a:pPr>
              <a:endParaRPr/>
            </a:p>
          </p:txBody>
        </p:sp>
      </p:grpSp>
      <p:grpSp>
        <p:nvGrpSpPr>
          <p:cNvPr id="18" name="Group 18"/>
          <p:cNvGrpSpPr/>
          <p:nvPr/>
        </p:nvGrpSpPr>
        <p:grpSpPr>
          <a:xfrm>
            <a:off x="8844165" y="5872804"/>
            <a:ext cx="8417144" cy="2644186"/>
            <a:chOff x="0" y="0"/>
            <a:chExt cx="2216861" cy="696411"/>
          </a:xfrm>
        </p:grpSpPr>
        <p:sp>
          <p:nvSpPr>
            <p:cNvPr id="19" name="Freeform 19"/>
            <p:cNvSpPr/>
            <p:nvPr/>
          </p:nvSpPr>
          <p:spPr>
            <a:xfrm>
              <a:off x="0" y="0"/>
              <a:ext cx="2216861" cy="696411"/>
            </a:xfrm>
            <a:custGeom>
              <a:avLst/>
              <a:gdLst/>
              <a:ahLst/>
              <a:cxnLst/>
              <a:rect l="l" t="t" r="r" b="b"/>
              <a:pathLst>
                <a:path w="2216861" h="696411">
                  <a:moveTo>
                    <a:pt x="0" y="0"/>
                  </a:moveTo>
                  <a:lnTo>
                    <a:pt x="2216861" y="0"/>
                  </a:lnTo>
                  <a:lnTo>
                    <a:pt x="2216861" y="696411"/>
                  </a:lnTo>
                  <a:lnTo>
                    <a:pt x="0" y="696411"/>
                  </a:lnTo>
                  <a:close/>
                </a:path>
              </a:pathLst>
            </a:custGeom>
            <a:solidFill>
              <a:srgbClr val="D6EBF9"/>
            </a:solidFill>
            <a:ln w="19050" cap="sq">
              <a:solidFill>
                <a:srgbClr val="67A0DA"/>
              </a:solidFill>
              <a:prstDash val="solid"/>
              <a:miter/>
            </a:ln>
          </p:spPr>
        </p:sp>
        <p:sp>
          <p:nvSpPr>
            <p:cNvPr id="20" name="TextBox 20"/>
            <p:cNvSpPr txBox="1"/>
            <p:nvPr/>
          </p:nvSpPr>
          <p:spPr>
            <a:xfrm>
              <a:off x="0" y="-28575"/>
              <a:ext cx="2216861" cy="724986"/>
            </a:xfrm>
            <a:prstGeom prst="rect">
              <a:avLst/>
            </a:prstGeom>
          </p:spPr>
          <p:txBody>
            <a:bodyPr lIns="50800" tIns="50800" rIns="50800" bIns="50800" rtlCol="0" anchor="ctr"/>
            <a:lstStyle/>
            <a:p>
              <a:pPr algn="ctr">
                <a:lnSpc>
                  <a:spcPts val="2833"/>
                </a:lnSpc>
              </a:pPr>
              <a:endParaRPr/>
            </a:p>
          </p:txBody>
        </p:sp>
      </p:grpSp>
      <p:grpSp>
        <p:nvGrpSpPr>
          <p:cNvPr id="21" name="Group 21"/>
          <p:cNvGrpSpPr/>
          <p:nvPr/>
        </p:nvGrpSpPr>
        <p:grpSpPr>
          <a:xfrm>
            <a:off x="8844165" y="8602715"/>
            <a:ext cx="8417144" cy="1293802"/>
            <a:chOff x="0" y="0"/>
            <a:chExt cx="2216861" cy="340754"/>
          </a:xfrm>
        </p:grpSpPr>
        <p:sp>
          <p:nvSpPr>
            <p:cNvPr id="22" name="Freeform 22"/>
            <p:cNvSpPr/>
            <p:nvPr/>
          </p:nvSpPr>
          <p:spPr>
            <a:xfrm>
              <a:off x="0" y="0"/>
              <a:ext cx="2216861" cy="340754"/>
            </a:xfrm>
            <a:custGeom>
              <a:avLst/>
              <a:gdLst/>
              <a:ahLst/>
              <a:cxnLst/>
              <a:rect l="l" t="t" r="r" b="b"/>
              <a:pathLst>
                <a:path w="2216861" h="340754">
                  <a:moveTo>
                    <a:pt x="0" y="0"/>
                  </a:moveTo>
                  <a:lnTo>
                    <a:pt x="2216861" y="0"/>
                  </a:lnTo>
                  <a:lnTo>
                    <a:pt x="2216861" y="340754"/>
                  </a:lnTo>
                  <a:lnTo>
                    <a:pt x="0" y="340754"/>
                  </a:lnTo>
                  <a:close/>
                </a:path>
              </a:pathLst>
            </a:custGeom>
            <a:ln w="19050" cap="sq">
              <a:solidFill>
                <a:srgbClr val="67A0DA"/>
              </a:solidFill>
              <a:prstDash val="solid"/>
              <a:miter/>
            </a:ln>
          </p:spPr>
        </p:sp>
        <p:sp>
          <p:nvSpPr>
            <p:cNvPr id="23" name="TextBox 23"/>
            <p:cNvSpPr txBox="1"/>
            <p:nvPr/>
          </p:nvSpPr>
          <p:spPr>
            <a:xfrm>
              <a:off x="0" y="-28575"/>
              <a:ext cx="2216861" cy="369329"/>
            </a:xfrm>
            <a:prstGeom prst="rect">
              <a:avLst/>
            </a:prstGeom>
          </p:spPr>
          <p:txBody>
            <a:bodyPr lIns="50800" tIns="50800" rIns="50800" bIns="50800" rtlCol="0" anchor="ctr"/>
            <a:lstStyle/>
            <a:p>
              <a:pPr algn="ctr">
                <a:lnSpc>
                  <a:spcPts val="2833"/>
                </a:lnSpc>
              </a:pPr>
              <a:endParaRPr/>
            </a:p>
          </p:txBody>
        </p:sp>
      </p:grpSp>
      <p:grpSp>
        <p:nvGrpSpPr>
          <p:cNvPr id="24" name="Group 24"/>
          <p:cNvGrpSpPr/>
          <p:nvPr/>
        </p:nvGrpSpPr>
        <p:grpSpPr>
          <a:xfrm>
            <a:off x="9824627" y="3234534"/>
            <a:ext cx="7436681" cy="1127324"/>
            <a:chOff x="0" y="0"/>
            <a:chExt cx="9915575" cy="1503099"/>
          </a:xfrm>
        </p:grpSpPr>
        <p:sp>
          <p:nvSpPr>
            <p:cNvPr id="25" name="Freeform 25"/>
            <p:cNvSpPr/>
            <p:nvPr/>
          </p:nvSpPr>
          <p:spPr>
            <a:xfrm>
              <a:off x="0" y="0"/>
              <a:ext cx="9915575" cy="1503099"/>
            </a:xfrm>
            <a:custGeom>
              <a:avLst/>
              <a:gdLst/>
              <a:ahLst/>
              <a:cxnLst/>
              <a:rect l="l" t="t" r="r" b="b"/>
              <a:pathLst>
                <a:path w="9915575" h="1503099">
                  <a:moveTo>
                    <a:pt x="0" y="0"/>
                  </a:moveTo>
                  <a:lnTo>
                    <a:pt x="9915575" y="0"/>
                  </a:lnTo>
                  <a:lnTo>
                    <a:pt x="9915575" y="1503099"/>
                  </a:lnTo>
                  <a:lnTo>
                    <a:pt x="0" y="1503099"/>
                  </a:lnTo>
                  <a:close/>
                </a:path>
              </a:pathLst>
            </a:custGeom>
            <a:blipFill>
              <a:blip r:embed="rId5">
                <a:alphaModFix amt="0"/>
              </a:blip>
              <a:stretch>
                <a:fillRect t="-92551" r="-10235" b="-90836"/>
              </a:stretch>
            </a:blipFill>
          </p:spPr>
        </p:sp>
        <p:sp>
          <p:nvSpPr>
            <p:cNvPr id="26" name="TextBox 26"/>
            <p:cNvSpPr txBox="1"/>
            <p:nvPr/>
          </p:nvSpPr>
          <p:spPr>
            <a:xfrm>
              <a:off x="0" y="-28575"/>
              <a:ext cx="9915575" cy="1531674"/>
            </a:xfrm>
            <a:prstGeom prst="rect">
              <a:avLst/>
            </a:prstGeom>
          </p:spPr>
          <p:txBody>
            <a:bodyPr lIns="0" tIns="0" rIns="0" bIns="0" rtlCol="0" anchor="ctr"/>
            <a:lstStyle/>
            <a:p>
              <a:pPr algn="l">
                <a:lnSpc>
                  <a:spcPts val="3840"/>
                </a:lnSpc>
              </a:pPr>
              <a:r>
                <a:rPr lang="en-US" sz="3200" b="1" dirty="0">
                  <a:solidFill>
                    <a:srgbClr val="0F5253"/>
                  </a:solidFill>
                  <a:latin typeface="Times New Roman"/>
                  <a:ea typeface="Times New Roman"/>
                  <a:cs typeface="Times New Roman"/>
                  <a:sym typeface="Times New Roman"/>
                </a:rPr>
                <a:t>Three administrative agencies under the Ministry of Sports</a:t>
              </a:r>
            </a:p>
          </p:txBody>
        </p:sp>
      </p:grpSp>
      <p:sp>
        <p:nvSpPr>
          <p:cNvPr id="27" name="Freeform 27"/>
          <p:cNvSpPr/>
          <p:nvPr/>
        </p:nvSpPr>
        <p:spPr>
          <a:xfrm>
            <a:off x="799154" y="2252616"/>
            <a:ext cx="455075" cy="455075"/>
          </a:xfrm>
          <a:custGeom>
            <a:avLst/>
            <a:gdLst/>
            <a:ahLst/>
            <a:cxnLst/>
            <a:rect l="l" t="t" r="r" b="b"/>
            <a:pathLst>
              <a:path w="455075" h="455075">
                <a:moveTo>
                  <a:pt x="0" y="0"/>
                </a:moveTo>
                <a:lnTo>
                  <a:pt x="455074" y="0"/>
                </a:lnTo>
                <a:lnTo>
                  <a:pt x="455074" y="455075"/>
                </a:lnTo>
                <a:lnTo>
                  <a:pt x="0" y="4550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8" name="Group 28"/>
          <p:cNvGrpSpPr/>
          <p:nvPr/>
        </p:nvGrpSpPr>
        <p:grpSpPr>
          <a:xfrm>
            <a:off x="9232996" y="6600132"/>
            <a:ext cx="1170045" cy="1170045"/>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4C9A"/>
            </a:solidFill>
          </p:spPr>
        </p:sp>
        <p:sp>
          <p:nvSpPr>
            <p:cNvPr id="30" name="TextBox 30"/>
            <p:cNvSpPr txBox="1"/>
            <p:nvPr/>
          </p:nvSpPr>
          <p:spPr>
            <a:xfrm>
              <a:off x="76200" y="47625"/>
              <a:ext cx="660400" cy="688975"/>
            </a:xfrm>
            <a:prstGeom prst="rect">
              <a:avLst/>
            </a:prstGeom>
          </p:spPr>
          <p:txBody>
            <a:bodyPr lIns="50800" tIns="50800" rIns="50800" bIns="50800" rtlCol="0" anchor="ctr"/>
            <a:lstStyle/>
            <a:p>
              <a:pPr algn="ctr">
                <a:lnSpc>
                  <a:spcPts val="2833"/>
                </a:lnSpc>
              </a:pPr>
              <a:endParaRPr/>
            </a:p>
          </p:txBody>
        </p:sp>
      </p:grpSp>
      <p:graphicFrame>
        <p:nvGraphicFramePr>
          <p:cNvPr id="31" name="Table 31"/>
          <p:cNvGraphicFramePr>
            <a:graphicFrameLocks noGrp="1"/>
          </p:cNvGraphicFramePr>
          <p:nvPr/>
        </p:nvGraphicFramePr>
        <p:xfrm>
          <a:off x="1624609" y="5428870"/>
          <a:ext cx="6305348" cy="2971799"/>
        </p:xfrm>
        <a:graphic>
          <a:graphicData uri="http://schemas.openxmlformats.org/drawingml/2006/table">
            <a:tbl>
              <a:tblPr/>
              <a:tblGrid>
                <a:gridCol w="3152674">
                  <a:extLst>
                    <a:ext uri="{9D8B030D-6E8A-4147-A177-3AD203B41FA5}">
                      <a16:colId xmlns:a16="http://schemas.microsoft.com/office/drawing/2014/main" val="20000"/>
                    </a:ext>
                  </a:extLst>
                </a:gridCol>
                <a:gridCol w="3152674">
                  <a:extLst>
                    <a:ext uri="{9D8B030D-6E8A-4147-A177-3AD203B41FA5}">
                      <a16:colId xmlns:a16="http://schemas.microsoft.com/office/drawing/2014/main" val="20001"/>
                    </a:ext>
                  </a:extLst>
                </a:gridCol>
              </a:tblGrid>
              <a:tr h="600683">
                <a:tc gridSpan="2">
                  <a:txBody>
                    <a:bodyPr/>
                    <a:lstStyle/>
                    <a:p>
                      <a:pPr algn="ctr">
                        <a:lnSpc>
                          <a:spcPts val="2199"/>
                        </a:lnSpc>
                        <a:defRPr/>
                      </a:pPr>
                      <a:r>
                        <a:rPr lang="en-US" sz="2199" b="1">
                          <a:solidFill>
                            <a:srgbClr val="FFFFFF"/>
                          </a:solidFill>
                          <a:latin typeface="Times New Roman"/>
                          <a:ea typeface="Times New Roman"/>
                          <a:cs typeface="Times New Roman"/>
                          <a:sym typeface="Times New Roman"/>
                        </a:rPr>
                        <a:t>Sports for All Agency</a:t>
                      </a:r>
                      <a:endParaRPr lang="en-US" sz="1100"/>
                    </a:p>
                  </a:txBody>
                  <a:tcPr marL="38100" marR="38100" marT="38100" marB="38100" anchor="ctr">
                    <a:lnL w="9525" cap="flat" cmpd="sng" algn="ctr">
                      <a:solidFill>
                        <a:srgbClr val="989898"/>
                      </a:solidFill>
                      <a:prstDash val="solid"/>
                      <a:round/>
                      <a:headEnd type="none" w="med" len="med"/>
                      <a:tailEnd type="none" w="med" len="med"/>
                    </a:lnL>
                    <a:lnR w="9525" cap="flat" cmpd="sng" algn="ctr">
                      <a:solidFill>
                        <a:srgbClr val="989898"/>
                      </a:solidFill>
                      <a:prstDash val="solid"/>
                      <a:round/>
                      <a:headEnd type="none" w="med" len="med"/>
                      <a:tailEnd type="none" w="med" len="med"/>
                    </a:lnR>
                    <a:lnT w="9525" cap="flat" cmpd="sng" algn="ctr">
                      <a:solidFill>
                        <a:srgbClr val="989898"/>
                      </a:solidFill>
                      <a:prstDash val="solid"/>
                      <a:round/>
                      <a:headEnd type="none" w="med" len="med"/>
                      <a:tailEnd type="none" w="med" len="med"/>
                    </a:lnT>
                    <a:lnB w="9525" cap="flat" cmpd="sng" algn="ctr">
                      <a:solidFill>
                        <a:srgbClr val="989898"/>
                      </a:solidFill>
                      <a:prstDash val="solid"/>
                      <a:round/>
                      <a:headEnd type="none" w="med" len="med"/>
                      <a:tailEnd type="none" w="med" len="med"/>
                    </a:lnB>
                    <a:solidFill>
                      <a:srgbClr val="67A0DA"/>
                    </a:solidFill>
                  </a:tcPr>
                </a:tc>
                <a:tc hMerge="1">
                  <a:txBody>
                    <a:bodyPr/>
                    <a:lstStyle/>
                    <a:p>
                      <a:pPr algn="ctr">
                        <a:lnSpc>
                          <a:spcPts val="2199"/>
                        </a:lnSpc>
                        <a:defRPr/>
                      </a:pPr>
                      <a:r>
                        <a:rPr lang="en-US" sz="2199" b="1">
                          <a:solidFill>
                            <a:srgbClr val="FFFFFF"/>
                          </a:solidFill>
                          <a:latin typeface="Times New Roman"/>
                          <a:ea typeface="Times New Roman"/>
                          <a:cs typeface="Times New Roman"/>
                          <a:sym typeface="Times New Roman"/>
                        </a:rPr>
                        <a:t>Sports for All Agency</a:t>
                      </a:r>
                      <a:endParaRPr lang="en-US" sz="1100"/>
                    </a:p>
                  </a:txBody>
                  <a:tcPr marL="38100" marR="38100" marT="38100" marB="38100" anchor="ctr">
                    <a:lnL w="9525" cap="flat" cmpd="sng" algn="ctr">
                      <a:solidFill>
                        <a:srgbClr val="989898"/>
                      </a:solidFill>
                      <a:prstDash val="solid"/>
                      <a:round/>
                      <a:headEnd type="none" w="med" len="med"/>
                      <a:tailEnd type="none" w="med" len="med"/>
                    </a:lnL>
                    <a:lnR w="9525" cap="flat" cmpd="sng" algn="ctr">
                      <a:solidFill>
                        <a:srgbClr val="989898"/>
                      </a:solidFill>
                      <a:prstDash val="solid"/>
                      <a:round/>
                      <a:headEnd type="none" w="med" len="med"/>
                      <a:tailEnd type="none" w="med" len="med"/>
                    </a:lnR>
                    <a:lnT w="9525" cap="flat" cmpd="sng" algn="ctr">
                      <a:solidFill>
                        <a:srgbClr val="989898"/>
                      </a:solidFill>
                      <a:prstDash val="solid"/>
                      <a:round/>
                      <a:headEnd type="none" w="med" len="med"/>
                      <a:tailEnd type="none" w="med" len="med"/>
                    </a:lnT>
                    <a:lnB w="9525" cap="flat" cmpd="sng" algn="ctr">
                      <a:solidFill>
                        <a:srgbClr val="989898"/>
                      </a:solidFill>
                      <a:prstDash val="solid"/>
                      <a:round/>
                      <a:headEnd type="none" w="med" len="med"/>
                      <a:tailEnd type="none" w="med" len="med"/>
                    </a:lnB>
                    <a:solidFill>
                      <a:srgbClr val="67A0DA"/>
                    </a:solidFill>
                  </a:tcPr>
                </a:tc>
                <a:extLst>
                  <a:ext uri="{0D108BD9-81ED-4DB2-BD59-A6C34878D82A}">
                    <a16:rowId xmlns:a16="http://schemas.microsoft.com/office/drawing/2014/main" val="10000"/>
                  </a:ext>
                </a:extLst>
              </a:tr>
              <a:tr h="790372">
                <a:tc>
                  <a:txBody>
                    <a:bodyPr/>
                    <a:lstStyle/>
                    <a:p>
                      <a:pPr algn="ctr">
                        <a:lnSpc>
                          <a:spcPts val="1899"/>
                        </a:lnSpc>
                        <a:defRPr/>
                      </a:pPr>
                      <a:r>
                        <a:rPr lang="en-US" sz="1899">
                          <a:solidFill>
                            <a:srgbClr val="222222"/>
                          </a:solidFill>
                          <a:latin typeface="Times New Roman"/>
                          <a:ea typeface="Times New Roman"/>
                          <a:cs typeface="Times New Roman"/>
                          <a:sym typeface="Times New Roman"/>
                        </a:rPr>
                        <a:t>Department of Planning</a:t>
                      </a:r>
                      <a:endParaRPr lang="en-US" sz="1100"/>
                    </a:p>
                  </a:txBody>
                  <a:tcPr marL="38100" marR="38100" marT="38100" marB="38100" anchor="ctr">
                    <a:lnL w="9525" cap="flat" cmpd="sng" algn="ctr">
                      <a:solidFill>
                        <a:srgbClr val="989898"/>
                      </a:solidFill>
                      <a:prstDash val="solid"/>
                      <a:round/>
                      <a:headEnd type="none" w="med" len="med"/>
                      <a:tailEnd type="none" w="med" len="med"/>
                    </a:lnL>
                    <a:lnR w="9525" cap="flat" cmpd="sng" algn="ctr">
                      <a:solidFill>
                        <a:srgbClr val="989898"/>
                      </a:solidFill>
                      <a:prstDash val="solid"/>
                      <a:round/>
                      <a:headEnd type="none" w="med" len="med"/>
                      <a:tailEnd type="none" w="med" len="med"/>
                    </a:lnR>
                    <a:lnT w="9525" cap="flat" cmpd="sng" algn="ctr">
                      <a:solidFill>
                        <a:srgbClr val="989898"/>
                      </a:solidFill>
                      <a:prstDash val="solid"/>
                      <a:round/>
                      <a:headEnd type="none" w="med" len="med"/>
                      <a:tailEnd type="none" w="med" len="med"/>
                    </a:lnT>
                    <a:lnB w="9525" cap="flat" cmpd="sng" algn="ctr">
                      <a:solidFill>
                        <a:srgbClr val="989898"/>
                      </a:solidFill>
                      <a:prstDash val="solid"/>
                      <a:round/>
                      <a:headEnd type="none" w="med" len="med"/>
                      <a:tailEnd type="none" w="med" len="med"/>
                    </a:lnB>
                    <a:solidFill>
                      <a:srgbClr val="FDFDFB"/>
                    </a:solidFill>
                  </a:tcPr>
                </a:tc>
                <a:tc>
                  <a:txBody>
                    <a:bodyPr/>
                    <a:lstStyle/>
                    <a:p>
                      <a:pPr algn="ctr">
                        <a:lnSpc>
                          <a:spcPts val="1899"/>
                        </a:lnSpc>
                        <a:defRPr/>
                      </a:pPr>
                      <a:r>
                        <a:rPr lang="en-US" sz="1899">
                          <a:solidFill>
                            <a:srgbClr val="222222"/>
                          </a:solidFill>
                          <a:latin typeface="Times New Roman"/>
                          <a:ea typeface="Times New Roman"/>
                          <a:cs typeface="Times New Roman"/>
                          <a:sym typeface="Times New Roman"/>
                        </a:rPr>
                        <a:t>Department of Competitive Sports</a:t>
                      </a:r>
                      <a:endParaRPr lang="en-US" sz="1100"/>
                    </a:p>
                  </a:txBody>
                  <a:tcPr marL="38100" marR="38100" marT="38100" marB="38100" anchor="ctr">
                    <a:lnL w="9525" cap="flat" cmpd="sng" algn="ctr">
                      <a:solidFill>
                        <a:srgbClr val="989898"/>
                      </a:solidFill>
                      <a:prstDash val="solid"/>
                      <a:round/>
                      <a:headEnd type="none" w="med" len="med"/>
                      <a:tailEnd type="none" w="med" len="med"/>
                    </a:lnL>
                    <a:lnR w="9525" cap="flat" cmpd="sng" algn="ctr">
                      <a:solidFill>
                        <a:srgbClr val="989898"/>
                      </a:solidFill>
                      <a:prstDash val="solid"/>
                      <a:round/>
                      <a:headEnd type="none" w="med" len="med"/>
                      <a:tailEnd type="none" w="med" len="med"/>
                    </a:lnR>
                    <a:lnT w="9525" cap="flat" cmpd="sng" algn="ctr">
                      <a:solidFill>
                        <a:srgbClr val="989898"/>
                      </a:solidFill>
                      <a:prstDash val="solid"/>
                      <a:round/>
                      <a:headEnd type="none" w="med" len="med"/>
                      <a:tailEnd type="none" w="med" len="med"/>
                    </a:lnT>
                    <a:lnB w="9525" cap="flat" cmpd="sng" algn="ctr">
                      <a:solidFill>
                        <a:srgbClr val="989898"/>
                      </a:solidFill>
                      <a:prstDash val="solid"/>
                      <a:round/>
                      <a:headEnd type="none" w="med" len="med"/>
                      <a:tailEnd type="none" w="med" len="med"/>
                    </a:lnB>
                    <a:solidFill>
                      <a:srgbClr val="FDFDFB"/>
                    </a:solidFill>
                  </a:tcPr>
                </a:tc>
                <a:extLst>
                  <a:ext uri="{0D108BD9-81ED-4DB2-BD59-A6C34878D82A}">
                    <a16:rowId xmlns:a16="http://schemas.microsoft.com/office/drawing/2014/main" val="10001"/>
                  </a:ext>
                </a:extLst>
              </a:tr>
              <a:tr h="790372">
                <a:tc>
                  <a:txBody>
                    <a:bodyPr/>
                    <a:lstStyle/>
                    <a:p>
                      <a:pPr algn="ctr">
                        <a:lnSpc>
                          <a:spcPts val="1899"/>
                        </a:lnSpc>
                        <a:defRPr/>
                      </a:pPr>
                      <a:r>
                        <a:rPr lang="en-US" sz="1899">
                          <a:solidFill>
                            <a:srgbClr val="222222"/>
                          </a:solidFill>
                          <a:latin typeface="Times New Roman"/>
                          <a:ea typeface="Times New Roman"/>
                          <a:cs typeface="Times New Roman"/>
                          <a:sym typeface="Times New Roman"/>
                        </a:rPr>
                        <a:t>Department of Sports Industry and Technology</a:t>
                      </a:r>
                      <a:endParaRPr lang="en-US" sz="1100"/>
                    </a:p>
                  </a:txBody>
                  <a:tcPr marL="38100" marR="38100" marT="38100" marB="38100" anchor="ctr">
                    <a:lnL w="9525" cap="flat" cmpd="sng" algn="ctr">
                      <a:solidFill>
                        <a:srgbClr val="989898"/>
                      </a:solidFill>
                      <a:prstDash val="solid"/>
                      <a:round/>
                      <a:headEnd type="none" w="med" len="med"/>
                      <a:tailEnd type="none" w="med" len="med"/>
                    </a:lnL>
                    <a:lnR w="9525" cap="flat" cmpd="sng" algn="ctr">
                      <a:solidFill>
                        <a:srgbClr val="989898"/>
                      </a:solidFill>
                      <a:prstDash val="solid"/>
                      <a:round/>
                      <a:headEnd type="none" w="med" len="med"/>
                      <a:tailEnd type="none" w="med" len="med"/>
                    </a:lnR>
                    <a:lnT w="9525" cap="flat" cmpd="sng" algn="ctr">
                      <a:solidFill>
                        <a:srgbClr val="989898"/>
                      </a:solidFill>
                      <a:prstDash val="solid"/>
                      <a:round/>
                      <a:headEnd type="none" w="med" len="med"/>
                      <a:tailEnd type="none" w="med" len="med"/>
                    </a:lnT>
                    <a:lnB w="9525" cap="flat" cmpd="sng" algn="ctr">
                      <a:solidFill>
                        <a:srgbClr val="989898"/>
                      </a:solidFill>
                      <a:prstDash val="solid"/>
                      <a:round/>
                      <a:headEnd type="none" w="med" len="med"/>
                      <a:tailEnd type="none" w="med" len="med"/>
                    </a:lnB>
                    <a:solidFill>
                      <a:srgbClr val="FDFDFB"/>
                    </a:solidFill>
                  </a:tcPr>
                </a:tc>
                <a:tc>
                  <a:txBody>
                    <a:bodyPr/>
                    <a:lstStyle/>
                    <a:p>
                      <a:pPr algn="ctr">
                        <a:lnSpc>
                          <a:spcPts val="1899"/>
                        </a:lnSpc>
                        <a:defRPr/>
                      </a:pPr>
                      <a:r>
                        <a:rPr lang="en-US" sz="1899">
                          <a:solidFill>
                            <a:srgbClr val="222222"/>
                          </a:solidFill>
                          <a:latin typeface="Times New Roman"/>
                          <a:ea typeface="Times New Roman"/>
                          <a:cs typeface="Times New Roman"/>
                          <a:sym typeface="Times New Roman"/>
                        </a:rPr>
                        <a:t>Department of Adapted Sports</a:t>
                      </a:r>
                      <a:endParaRPr lang="en-US" sz="1100"/>
                    </a:p>
                  </a:txBody>
                  <a:tcPr marL="38100" marR="38100" marT="38100" marB="38100" anchor="ctr">
                    <a:lnL w="9525" cap="flat" cmpd="sng" algn="ctr">
                      <a:solidFill>
                        <a:srgbClr val="989898"/>
                      </a:solidFill>
                      <a:prstDash val="solid"/>
                      <a:round/>
                      <a:headEnd type="none" w="med" len="med"/>
                      <a:tailEnd type="none" w="med" len="med"/>
                    </a:lnL>
                    <a:lnR w="9525" cap="flat" cmpd="sng" algn="ctr">
                      <a:solidFill>
                        <a:srgbClr val="989898"/>
                      </a:solidFill>
                      <a:prstDash val="solid"/>
                      <a:round/>
                      <a:headEnd type="none" w="med" len="med"/>
                      <a:tailEnd type="none" w="med" len="med"/>
                    </a:lnR>
                    <a:lnT w="9525" cap="flat" cmpd="sng" algn="ctr">
                      <a:solidFill>
                        <a:srgbClr val="989898"/>
                      </a:solidFill>
                      <a:prstDash val="solid"/>
                      <a:round/>
                      <a:headEnd type="none" w="med" len="med"/>
                      <a:tailEnd type="none" w="med" len="med"/>
                    </a:lnT>
                    <a:lnB w="9525" cap="flat" cmpd="sng" algn="ctr">
                      <a:solidFill>
                        <a:srgbClr val="989898"/>
                      </a:solidFill>
                      <a:prstDash val="solid"/>
                      <a:round/>
                      <a:headEnd type="none" w="med" len="med"/>
                      <a:tailEnd type="none" w="med" len="med"/>
                    </a:lnB>
                    <a:solidFill>
                      <a:srgbClr val="FDFDFB"/>
                    </a:solidFill>
                  </a:tcPr>
                </a:tc>
                <a:extLst>
                  <a:ext uri="{0D108BD9-81ED-4DB2-BD59-A6C34878D82A}">
                    <a16:rowId xmlns:a16="http://schemas.microsoft.com/office/drawing/2014/main" val="10002"/>
                  </a:ext>
                </a:extLst>
              </a:tr>
              <a:tr h="790372">
                <a:tc>
                  <a:txBody>
                    <a:bodyPr/>
                    <a:lstStyle/>
                    <a:p>
                      <a:pPr algn="ctr">
                        <a:lnSpc>
                          <a:spcPts val="1899"/>
                        </a:lnSpc>
                        <a:defRPr/>
                      </a:pPr>
                      <a:r>
                        <a:rPr lang="en-US" sz="1899">
                          <a:solidFill>
                            <a:srgbClr val="222222"/>
                          </a:solidFill>
                          <a:latin typeface="Times New Roman"/>
                          <a:ea typeface="Times New Roman"/>
                          <a:cs typeface="Times New Roman"/>
                          <a:sym typeface="Times New Roman"/>
                        </a:rPr>
                        <a:t>Department of International Affairs</a:t>
                      </a:r>
                      <a:endParaRPr lang="en-US" sz="1100"/>
                    </a:p>
                  </a:txBody>
                  <a:tcPr marL="38100" marR="38100" marT="38100" marB="38100" anchor="ctr">
                    <a:lnL w="9525" cap="flat" cmpd="sng" algn="ctr">
                      <a:solidFill>
                        <a:srgbClr val="989898"/>
                      </a:solidFill>
                      <a:prstDash val="solid"/>
                      <a:round/>
                      <a:headEnd type="none" w="med" len="med"/>
                      <a:tailEnd type="none" w="med" len="med"/>
                    </a:lnL>
                    <a:lnR w="9525" cap="flat" cmpd="sng" algn="ctr">
                      <a:solidFill>
                        <a:srgbClr val="989898"/>
                      </a:solidFill>
                      <a:prstDash val="solid"/>
                      <a:round/>
                      <a:headEnd type="none" w="med" len="med"/>
                      <a:tailEnd type="none" w="med" len="med"/>
                    </a:lnR>
                    <a:lnT w="9525" cap="flat" cmpd="sng" algn="ctr">
                      <a:solidFill>
                        <a:srgbClr val="989898"/>
                      </a:solidFill>
                      <a:prstDash val="solid"/>
                      <a:round/>
                      <a:headEnd type="none" w="med" len="med"/>
                      <a:tailEnd type="none" w="med" len="med"/>
                    </a:lnT>
                    <a:lnB w="9525" cap="flat" cmpd="sng" algn="ctr">
                      <a:solidFill>
                        <a:srgbClr val="989898"/>
                      </a:solidFill>
                      <a:prstDash val="solid"/>
                      <a:round/>
                      <a:headEnd type="none" w="med" len="med"/>
                      <a:tailEnd type="none" w="med" len="med"/>
                    </a:lnB>
                    <a:solidFill>
                      <a:srgbClr val="FDFDFB"/>
                    </a:solidFill>
                  </a:tcPr>
                </a:tc>
                <a:tc>
                  <a:txBody>
                    <a:bodyPr/>
                    <a:lstStyle/>
                    <a:p>
                      <a:pPr algn="ctr">
                        <a:lnSpc>
                          <a:spcPts val="1899"/>
                        </a:lnSpc>
                        <a:defRPr/>
                      </a:pPr>
                      <a:r>
                        <a:rPr lang="en-US" sz="1899">
                          <a:solidFill>
                            <a:srgbClr val="222222"/>
                          </a:solidFill>
                          <a:latin typeface="Times New Roman"/>
                          <a:ea typeface="Times New Roman"/>
                          <a:cs typeface="Times New Roman"/>
                          <a:sym typeface="Times New Roman"/>
                        </a:rPr>
                        <a:t>Department of Facility Planning</a:t>
                      </a:r>
                      <a:endParaRPr lang="en-US" sz="1100"/>
                    </a:p>
                  </a:txBody>
                  <a:tcPr marL="38100" marR="38100" marT="38100" marB="38100" anchor="ctr">
                    <a:lnL w="9525" cap="flat" cmpd="sng" algn="ctr">
                      <a:solidFill>
                        <a:srgbClr val="989898"/>
                      </a:solidFill>
                      <a:prstDash val="solid"/>
                      <a:round/>
                      <a:headEnd type="none" w="med" len="med"/>
                      <a:tailEnd type="none" w="med" len="med"/>
                    </a:lnL>
                    <a:lnR w="9525" cap="flat" cmpd="sng" algn="ctr">
                      <a:solidFill>
                        <a:srgbClr val="989898"/>
                      </a:solidFill>
                      <a:prstDash val="solid"/>
                      <a:round/>
                      <a:headEnd type="none" w="med" len="med"/>
                      <a:tailEnd type="none" w="med" len="med"/>
                    </a:lnR>
                    <a:lnT w="9525" cap="flat" cmpd="sng" algn="ctr">
                      <a:solidFill>
                        <a:srgbClr val="989898"/>
                      </a:solidFill>
                      <a:prstDash val="solid"/>
                      <a:round/>
                      <a:headEnd type="none" w="med" len="med"/>
                      <a:tailEnd type="none" w="med" len="med"/>
                    </a:lnT>
                    <a:lnB w="9525" cap="flat" cmpd="sng" algn="ctr">
                      <a:solidFill>
                        <a:srgbClr val="989898"/>
                      </a:solidFill>
                      <a:prstDash val="solid"/>
                      <a:round/>
                      <a:headEnd type="none" w="med" len="med"/>
                      <a:tailEnd type="none" w="med" len="med"/>
                    </a:lnB>
                    <a:solidFill>
                      <a:srgbClr val="FDFDFB"/>
                    </a:solidFill>
                  </a:tcPr>
                </a:tc>
                <a:extLst>
                  <a:ext uri="{0D108BD9-81ED-4DB2-BD59-A6C34878D82A}">
                    <a16:rowId xmlns:a16="http://schemas.microsoft.com/office/drawing/2014/main" val="10003"/>
                  </a:ext>
                </a:extLst>
              </a:tr>
            </a:tbl>
          </a:graphicData>
        </a:graphic>
      </p:graphicFrame>
      <p:sp>
        <p:nvSpPr>
          <p:cNvPr id="32" name="Freeform 32"/>
          <p:cNvSpPr/>
          <p:nvPr/>
        </p:nvSpPr>
        <p:spPr>
          <a:xfrm>
            <a:off x="9455280" y="6827670"/>
            <a:ext cx="725477" cy="660184"/>
          </a:xfrm>
          <a:custGeom>
            <a:avLst/>
            <a:gdLst/>
            <a:ahLst/>
            <a:cxnLst/>
            <a:rect l="l" t="t" r="r" b="b"/>
            <a:pathLst>
              <a:path w="725477" h="660184">
                <a:moveTo>
                  <a:pt x="0" y="0"/>
                </a:moveTo>
                <a:lnTo>
                  <a:pt x="725477" y="0"/>
                </a:lnTo>
                <a:lnTo>
                  <a:pt x="725477" y="660184"/>
                </a:lnTo>
                <a:lnTo>
                  <a:pt x="0" y="66018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33" name="Group 33"/>
          <p:cNvGrpSpPr/>
          <p:nvPr/>
        </p:nvGrpSpPr>
        <p:grpSpPr>
          <a:xfrm>
            <a:off x="9178212" y="4504916"/>
            <a:ext cx="1224829" cy="1224829"/>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6EBF9"/>
            </a:solidFill>
          </p:spPr>
        </p:sp>
        <p:sp>
          <p:nvSpPr>
            <p:cNvPr id="35" name="TextBox 35"/>
            <p:cNvSpPr txBox="1"/>
            <p:nvPr/>
          </p:nvSpPr>
          <p:spPr>
            <a:xfrm>
              <a:off x="76200" y="47625"/>
              <a:ext cx="660400" cy="688975"/>
            </a:xfrm>
            <a:prstGeom prst="rect">
              <a:avLst/>
            </a:prstGeom>
          </p:spPr>
          <p:txBody>
            <a:bodyPr lIns="50800" tIns="50800" rIns="50800" bIns="50800" rtlCol="0" anchor="ctr"/>
            <a:lstStyle/>
            <a:p>
              <a:pPr algn="ctr">
                <a:lnSpc>
                  <a:spcPts val="2833"/>
                </a:lnSpc>
              </a:pPr>
              <a:endParaRPr/>
            </a:p>
          </p:txBody>
        </p:sp>
      </p:grpSp>
      <p:grpSp>
        <p:nvGrpSpPr>
          <p:cNvPr id="36" name="Group 36"/>
          <p:cNvGrpSpPr/>
          <p:nvPr/>
        </p:nvGrpSpPr>
        <p:grpSpPr>
          <a:xfrm>
            <a:off x="9205604" y="8637201"/>
            <a:ext cx="1224829" cy="1224829"/>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6EBF9"/>
            </a:solidFill>
          </p:spPr>
        </p:sp>
        <p:sp>
          <p:nvSpPr>
            <p:cNvPr id="38" name="TextBox 38"/>
            <p:cNvSpPr txBox="1"/>
            <p:nvPr/>
          </p:nvSpPr>
          <p:spPr>
            <a:xfrm>
              <a:off x="76200" y="47625"/>
              <a:ext cx="660400" cy="688975"/>
            </a:xfrm>
            <a:prstGeom prst="rect">
              <a:avLst/>
            </a:prstGeom>
          </p:spPr>
          <p:txBody>
            <a:bodyPr lIns="50800" tIns="50800" rIns="50800" bIns="50800" rtlCol="0" anchor="ctr"/>
            <a:lstStyle/>
            <a:p>
              <a:pPr algn="ctr">
                <a:lnSpc>
                  <a:spcPts val="2833"/>
                </a:lnSpc>
              </a:pPr>
              <a:endParaRPr/>
            </a:p>
          </p:txBody>
        </p:sp>
      </p:grpSp>
      <p:sp>
        <p:nvSpPr>
          <p:cNvPr id="39" name="Freeform 39"/>
          <p:cNvSpPr/>
          <p:nvPr/>
        </p:nvSpPr>
        <p:spPr>
          <a:xfrm>
            <a:off x="9468498" y="8895380"/>
            <a:ext cx="712259" cy="741936"/>
          </a:xfrm>
          <a:custGeom>
            <a:avLst/>
            <a:gdLst/>
            <a:ahLst/>
            <a:cxnLst/>
            <a:rect l="l" t="t" r="r" b="b"/>
            <a:pathLst>
              <a:path w="712259" h="741936">
                <a:moveTo>
                  <a:pt x="0" y="0"/>
                </a:moveTo>
                <a:lnTo>
                  <a:pt x="712259" y="0"/>
                </a:lnTo>
                <a:lnTo>
                  <a:pt x="712259" y="741936"/>
                </a:lnTo>
                <a:lnTo>
                  <a:pt x="0" y="74193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40" name="Freeform 40"/>
          <p:cNvSpPr/>
          <p:nvPr/>
        </p:nvSpPr>
        <p:spPr>
          <a:xfrm>
            <a:off x="9455280" y="4780644"/>
            <a:ext cx="661455" cy="648226"/>
          </a:xfrm>
          <a:custGeom>
            <a:avLst/>
            <a:gdLst/>
            <a:ahLst/>
            <a:cxnLst/>
            <a:rect l="l" t="t" r="r" b="b"/>
            <a:pathLst>
              <a:path w="661455" h="648226">
                <a:moveTo>
                  <a:pt x="0" y="0"/>
                </a:moveTo>
                <a:lnTo>
                  <a:pt x="661455" y="0"/>
                </a:lnTo>
                <a:lnTo>
                  <a:pt x="661455" y="648226"/>
                </a:lnTo>
                <a:lnTo>
                  <a:pt x="0" y="64822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41" name="Freeform 41"/>
          <p:cNvSpPr/>
          <p:nvPr/>
        </p:nvSpPr>
        <p:spPr>
          <a:xfrm>
            <a:off x="1070549" y="3578914"/>
            <a:ext cx="554060" cy="429396"/>
          </a:xfrm>
          <a:custGeom>
            <a:avLst/>
            <a:gdLst/>
            <a:ahLst/>
            <a:cxnLst/>
            <a:rect l="l" t="t" r="r" b="b"/>
            <a:pathLst>
              <a:path w="554060" h="429396">
                <a:moveTo>
                  <a:pt x="0" y="0"/>
                </a:moveTo>
                <a:lnTo>
                  <a:pt x="554060" y="0"/>
                </a:lnTo>
                <a:lnTo>
                  <a:pt x="554060" y="429397"/>
                </a:lnTo>
                <a:lnTo>
                  <a:pt x="0" y="429397"/>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42" name="TextBox 42"/>
          <p:cNvSpPr txBox="1"/>
          <p:nvPr/>
        </p:nvSpPr>
        <p:spPr>
          <a:xfrm>
            <a:off x="1789956" y="4752069"/>
            <a:ext cx="5982444" cy="461665"/>
          </a:xfrm>
          <a:prstGeom prst="rect">
            <a:avLst/>
          </a:prstGeom>
        </p:spPr>
        <p:txBody>
          <a:bodyPr wrap="square" lIns="0" tIns="0" rIns="0" bIns="0" rtlCol="0" anchor="t">
            <a:spAutoFit/>
          </a:bodyPr>
          <a:lstStyle/>
          <a:p>
            <a:pPr algn="l">
              <a:lnSpc>
                <a:spcPts val="3600"/>
              </a:lnSpc>
            </a:pPr>
            <a:r>
              <a:rPr lang="en-US" sz="3000" dirty="0">
                <a:solidFill>
                  <a:srgbClr val="005A9E"/>
                </a:solidFill>
                <a:latin typeface="Times New Roman"/>
                <a:ea typeface="Times New Roman"/>
                <a:cs typeface="Times New Roman"/>
                <a:sym typeface="Times New Roman"/>
              </a:rPr>
              <a:t>Policy-making and resource allocation</a:t>
            </a:r>
          </a:p>
        </p:txBody>
      </p:sp>
      <p:sp>
        <p:nvSpPr>
          <p:cNvPr id="43" name="TextBox 43"/>
          <p:cNvSpPr txBox="1"/>
          <p:nvPr/>
        </p:nvSpPr>
        <p:spPr>
          <a:xfrm>
            <a:off x="1624609" y="8813894"/>
            <a:ext cx="6305349" cy="733425"/>
          </a:xfrm>
          <a:prstGeom prst="rect">
            <a:avLst/>
          </a:prstGeom>
        </p:spPr>
        <p:txBody>
          <a:bodyPr lIns="0" tIns="0" rIns="0" bIns="0" rtlCol="0" anchor="t">
            <a:spAutoFit/>
          </a:bodyPr>
          <a:lstStyle/>
          <a:p>
            <a:pPr algn="l">
              <a:lnSpc>
                <a:spcPts val="2879"/>
              </a:lnSpc>
            </a:pPr>
            <a:r>
              <a:rPr lang="en-US" sz="2400" i="1">
                <a:solidFill>
                  <a:srgbClr val="1E4C9A"/>
                </a:solidFill>
                <a:latin typeface="Times New Roman"/>
                <a:ea typeface="Times New Roman"/>
                <a:cs typeface="Times New Roman"/>
                <a:sym typeface="Times New Roman"/>
              </a:rPr>
              <a:t>* The Industry &amp; Technology Department is the lead policy unit for advancing sports technology</a:t>
            </a:r>
          </a:p>
        </p:txBody>
      </p:sp>
      <p:sp>
        <p:nvSpPr>
          <p:cNvPr id="44" name="TextBox 44"/>
          <p:cNvSpPr txBox="1"/>
          <p:nvPr/>
        </p:nvSpPr>
        <p:spPr>
          <a:xfrm>
            <a:off x="10701671" y="5974281"/>
            <a:ext cx="6583260" cy="371475"/>
          </a:xfrm>
          <a:prstGeom prst="rect">
            <a:avLst/>
          </a:prstGeom>
        </p:spPr>
        <p:txBody>
          <a:bodyPr lIns="0" tIns="0" rIns="0" bIns="0" rtlCol="0" anchor="t">
            <a:spAutoFit/>
          </a:bodyPr>
          <a:lstStyle/>
          <a:p>
            <a:pPr algn="l">
              <a:lnSpc>
                <a:spcPts val="2880"/>
              </a:lnSpc>
            </a:pPr>
            <a:r>
              <a:rPr lang="en-US" sz="2400" b="1">
                <a:solidFill>
                  <a:srgbClr val="005A9E"/>
                </a:solidFill>
                <a:latin typeface="Times New Roman"/>
                <a:ea typeface="Times New Roman"/>
                <a:cs typeface="Times New Roman"/>
                <a:sym typeface="Times New Roman"/>
              </a:rPr>
              <a:t>Taiwan Institute of Sports Science (TISS)</a:t>
            </a:r>
          </a:p>
        </p:txBody>
      </p:sp>
      <p:sp>
        <p:nvSpPr>
          <p:cNvPr id="45" name="TextBox 45"/>
          <p:cNvSpPr txBox="1"/>
          <p:nvPr/>
        </p:nvSpPr>
        <p:spPr>
          <a:xfrm>
            <a:off x="10701671" y="6342274"/>
            <a:ext cx="6187258" cy="1989444"/>
          </a:xfrm>
          <a:prstGeom prst="rect">
            <a:avLst/>
          </a:prstGeom>
        </p:spPr>
        <p:txBody>
          <a:bodyPr lIns="0" tIns="0" rIns="0" bIns="0" rtlCol="0" anchor="t">
            <a:spAutoFit/>
          </a:bodyPr>
          <a:lstStyle/>
          <a:p>
            <a:pPr algn="l">
              <a:lnSpc>
                <a:spcPts val="3190"/>
              </a:lnSpc>
            </a:pPr>
            <a:r>
              <a:rPr lang="en-US" sz="1900" b="1">
                <a:solidFill>
                  <a:srgbClr val="4A4A4A"/>
                </a:solidFill>
                <a:latin typeface="Times New Roman"/>
                <a:ea typeface="Times New Roman"/>
                <a:cs typeface="Times New Roman"/>
                <a:sym typeface="Times New Roman"/>
              </a:rPr>
              <a:t>Advances sports science research and application to boost international competitiveness</a:t>
            </a:r>
          </a:p>
          <a:p>
            <a:pPr marL="343855" lvl="1" indent="-171927" algn="l">
              <a:lnSpc>
                <a:spcPts val="3190"/>
              </a:lnSpc>
              <a:buFont typeface="Arial"/>
              <a:buChar char="•"/>
            </a:pPr>
            <a:r>
              <a:rPr lang="en-US" sz="1900" b="1">
                <a:solidFill>
                  <a:srgbClr val="4A4A4A"/>
                </a:solidFill>
                <a:latin typeface="Times New Roman"/>
                <a:ea typeface="Times New Roman"/>
                <a:cs typeface="Times New Roman"/>
                <a:sym typeface="Times New Roman"/>
              </a:rPr>
              <a:t>Sports technology R&amp;D</a:t>
            </a:r>
          </a:p>
          <a:p>
            <a:pPr marL="343855" lvl="1" indent="-171927" algn="l">
              <a:lnSpc>
                <a:spcPts val="3190"/>
              </a:lnSpc>
              <a:buFont typeface="Arial"/>
              <a:buChar char="•"/>
            </a:pPr>
            <a:r>
              <a:rPr lang="en-US" sz="1900" b="1">
                <a:solidFill>
                  <a:srgbClr val="4A4A4A"/>
                </a:solidFill>
                <a:latin typeface="Times New Roman"/>
                <a:ea typeface="Times New Roman"/>
                <a:cs typeface="Times New Roman"/>
                <a:sym typeface="Times New Roman"/>
              </a:rPr>
              <a:t>Elite athlete support</a:t>
            </a:r>
          </a:p>
          <a:p>
            <a:pPr marL="343855" lvl="1" indent="-171927" algn="l">
              <a:lnSpc>
                <a:spcPts val="3190"/>
              </a:lnSpc>
              <a:buFont typeface="Arial"/>
              <a:buChar char="•"/>
            </a:pPr>
            <a:r>
              <a:rPr lang="en-US" sz="1900" b="1">
                <a:solidFill>
                  <a:srgbClr val="4A4A4A"/>
                </a:solidFill>
                <a:latin typeface="Times New Roman"/>
                <a:ea typeface="Times New Roman"/>
                <a:cs typeface="Times New Roman"/>
                <a:sym typeface="Times New Roman"/>
              </a:rPr>
              <a:t>Industry development</a:t>
            </a:r>
          </a:p>
        </p:txBody>
      </p:sp>
      <p:sp>
        <p:nvSpPr>
          <p:cNvPr id="46" name="TextBox 46"/>
          <p:cNvSpPr txBox="1"/>
          <p:nvPr/>
        </p:nvSpPr>
        <p:spPr>
          <a:xfrm>
            <a:off x="10701671" y="4515654"/>
            <a:ext cx="6571449" cy="371475"/>
          </a:xfrm>
          <a:prstGeom prst="rect">
            <a:avLst/>
          </a:prstGeom>
        </p:spPr>
        <p:txBody>
          <a:bodyPr lIns="0" tIns="0" rIns="0" bIns="0" rtlCol="0" anchor="t">
            <a:spAutoFit/>
          </a:bodyPr>
          <a:lstStyle/>
          <a:p>
            <a:pPr algn="l">
              <a:lnSpc>
                <a:spcPts val="2880"/>
              </a:lnSpc>
            </a:pPr>
            <a:r>
              <a:rPr lang="en-US" sz="2400" b="1">
                <a:solidFill>
                  <a:srgbClr val="005A9E"/>
                </a:solidFill>
                <a:latin typeface="Times New Roman"/>
                <a:ea typeface="Times New Roman"/>
                <a:cs typeface="Times New Roman"/>
                <a:sym typeface="Times New Roman"/>
              </a:rPr>
              <a:t>National Sports Training Center (NSTC)</a:t>
            </a:r>
          </a:p>
        </p:txBody>
      </p:sp>
      <p:sp>
        <p:nvSpPr>
          <p:cNvPr id="47" name="TextBox 47"/>
          <p:cNvSpPr txBox="1"/>
          <p:nvPr/>
        </p:nvSpPr>
        <p:spPr>
          <a:xfrm>
            <a:off x="10689860" y="4826665"/>
            <a:ext cx="6187258" cy="789294"/>
          </a:xfrm>
          <a:prstGeom prst="rect">
            <a:avLst/>
          </a:prstGeom>
        </p:spPr>
        <p:txBody>
          <a:bodyPr lIns="0" tIns="0" rIns="0" bIns="0" rtlCol="0" anchor="t">
            <a:spAutoFit/>
          </a:bodyPr>
          <a:lstStyle/>
          <a:p>
            <a:pPr marL="343855" lvl="1" indent="-171927" algn="l">
              <a:lnSpc>
                <a:spcPts val="3190"/>
              </a:lnSpc>
              <a:spcBef>
                <a:spcPct val="0"/>
              </a:spcBef>
              <a:buFont typeface="Arial"/>
              <a:buChar char="•"/>
            </a:pPr>
            <a:r>
              <a:rPr lang="en-US" sz="1900" b="1" u="none" strike="noStrike">
                <a:solidFill>
                  <a:srgbClr val="4A4A4A"/>
                </a:solidFill>
                <a:latin typeface="Times New Roman"/>
                <a:ea typeface="Times New Roman"/>
                <a:cs typeface="Times New Roman"/>
                <a:sym typeface="Times New Roman"/>
              </a:rPr>
              <a:t>Drives elite athletic performance, facility optimization, and championship-level development programs</a:t>
            </a:r>
          </a:p>
        </p:txBody>
      </p:sp>
      <p:sp>
        <p:nvSpPr>
          <p:cNvPr id="48" name="TextBox 48"/>
          <p:cNvSpPr txBox="1"/>
          <p:nvPr/>
        </p:nvSpPr>
        <p:spPr>
          <a:xfrm>
            <a:off x="10701671" y="8704880"/>
            <a:ext cx="6472766" cy="371475"/>
          </a:xfrm>
          <a:prstGeom prst="rect">
            <a:avLst/>
          </a:prstGeom>
        </p:spPr>
        <p:txBody>
          <a:bodyPr lIns="0" tIns="0" rIns="0" bIns="0" rtlCol="0" anchor="t">
            <a:spAutoFit/>
          </a:bodyPr>
          <a:lstStyle/>
          <a:p>
            <a:pPr algn="l">
              <a:lnSpc>
                <a:spcPts val="2880"/>
              </a:lnSpc>
            </a:pPr>
            <a:r>
              <a:rPr lang="en-US" sz="2400" b="1">
                <a:solidFill>
                  <a:srgbClr val="005A9E"/>
                </a:solidFill>
                <a:latin typeface="Times New Roman"/>
                <a:ea typeface="Times New Roman"/>
                <a:cs typeface="Times New Roman"/>
                <a:sym typeface="Times New Roman"/>
              </a:rPr>
              <a:t>National Sports Industry Development Center </a:t>
            </a:r>
          </a:p>
        </p:txBody>
      </p:sp>
      <p:sp>
        <p:nvSpPr>
          <p:cNvPr id="49" name="TextBox 49"/>
          <p:cNvSpPr txBox="1"/>
          <p:nvPr/>
        </p:nvSpPr>
        <p:spPr>
          <a:xfrm>
            <a:off x="10701671" y="8995532"/>
            <a:ext cx="6292984" cy="789294"/>
          </a:xfrm>
          <a:prstGeom prst="rect">
            <a:avLst/>
          </a:prstGeom>
        </p:spPr>
        <p:txBody>
          <a:bodyPr lIns="0" tIns="0" rIns="0" bIns="0" rtlCol="0" anchor="t">
            <a:spAutoFit/>
          </a:bodyPr>
          <a:lstStyle/>
          <a:p>
            <a:pPr marL="343855" lvl="1" indent="-171927" algn="l">
              <a:lnSpc>
                <a:spcPts val="3190"/>
              </a:lnSpc>
              <a:spcBef>
                <a:spcPct val="0"/>
              </a:spcBef>
              <a:buFont typeface="Arial"/>
              <a:buChar char="•"/>
            </a:pPr>
            <a:r>
              <a:rPr lang="en-US" sz="1900" b="1" u="none" strike="noStrike">
                <a:solidFill>
                  <a:srgbClr val="4A4A4A"/>
                </a:solidFill>
                <a:latin typeface="Times New Roman"/>
                <a:ea typeface="Times New Roman"/>
                <a:cs typeface="Times New Roman"/>
                <a:sym typeface="Times New Roman"/>
              </a:rPr>
              <a:t>Bridges the tech ecosystem to scale smart-venue pilots and launch cross-sector commercialization models</a:t>
            </a:r>
          </a:p>
        </p:txBody>
      </p:sp>
      <p:sp>
        <p:nvSpPr>
          <p:cNvPr id="50" name="Freeform 50"/>
          <p:cNvSpPr/>
          <p:nvPr/>
        </p:nvSpPr>
        <p:spPr>
          <a:xfrm>
            <a:off x="8868979" y="3583498"/>
            <a:ext cx="554060" cy="429396"/>
          </a:xfrm>
          <a:custGeom>
            <a:avLst/>
            <a:gdLst/>
            <a:ahLst/>
            <a:cxnLst/>
            <a:rect l="l" t="t" r="r" b="b"/>
            <a:pathLst>
              <a:path w="554060" h="429396">
                <a:moveTo>
                  <a:pt x="0" y="0"/>
                </a:moveTo>
                <a:lnTo>
                  <a:pt x="554060" y="0"/>
                </a:lnTo>
                <a:lnTo>
                  <a:pt x="554060" y="429396"/>
                </a:lnTo>
                <a:lnTo>
                  <a:pt x="0" y="42939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5403"/>
            <a:ext cx="18288000" cy="3744230"/>
            <a:chOff x="0" y="0"/>
            <a:chExt cx="24384000" cy="4992306"/>
          </a:xfrm>
        </p:grpSpPr>
        <p:sp>
          <p:nvSpPr>
            <p:cNvPr id="3" name="Freeform 3" descr="一張含有 黑暗, 黑色, 螢幕擷取畫面, 光線 的圖片  AI 產生的內容可能不正確。"/>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3"/>
              <a:stretch>
                <a:fillRect b="-1"/>
              </a:stretch>
            </a:blipFill>
          </p:spPr>
        </p:sp>
      </p:grpSp>
      <p:grpSp>
        <p:nvGrpSpPr>
          <p:cNvPr id="4" name="Group 4"/>
          <p:cNvGrpSpPr/>
          <p:nvPr/>
        </p:nvGrpSpPr>
        <p:grpSpPr>
          <a:xfrm>
            <a:off x="1363408" y="599237"/>
            <a:ext cx="1103243" cy="551059"/>
            <a:chOff x="0" y="0"/>
            <a:chExt cx="1470990" cy="734746"/>
          </a:xfrm>
        </p:grpSpPr>
        <p:sp>
          <p:nvSpPr>
            <p:cNvPr id="5" name="Freeform 5"/>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4"/>
              <a:stretch>
                <a:fillRect t="-221" r="3" b="-226"/>
              </a:stretch>
            </a:blipFill>
          </p:spPr>
        </p:sp>
      </p:grpSp>
      <p:sp>
        <p:nvSpPr>
          <p:cNvPr id="10" name="Freeform 10"/>
          <p:cNvSpPr/>
          <p:nvPr/>
        </p:nvSpPr>
        <p:spPr>
          <a:xfrm>
            <a:off x="13310610" y="7478853"/>
            <a:ext cx="3916186" cy="2532624"/>
          </a:xfrm>
          <a:custGeom>
            <a:avLst/>
            <a:gdLst/>
            <a:ahLst/>
            <a:cxnLst/>
            <a:rect l="l" t="t" r="r" b="b"/>
            <a:pathLst>
              <a:path w="3916186" h="2532624">
                <a:moveTo>
                  <a:pt x="0" y="0"/>
                </a:moveTo>
                <a:lnTo>
                  <a:pt x="3916185" y="0"/>
                </a:lnTo>
                <a:lnTo>
                  <a:pt x="3916185" y="2532624"/>
                </a:lnTo>
                <a:lnTo>
                  <a:pt x="0" y="2532624"/>
                </a:lnTo>
                <a:lnTo>
                  <a:pt x="0" y="0"/>
                </a:lnTo>
                <a:close/>
              </a:path>
            </a:pathLst>
          </a:custGeom>
          <a:blipFill>
            <a:blip r:embed="rId5"/>
            <a:stretch>
              <a:fillRect/>
            </a:stretch>
          </a:blipFill>
        </p:spPr>
      </p:sp>
      <p:sp>
        <p:nvSpPr>
          <p:cNvPr id="11" name="Freeform 11"/>
          <p:cNvSpPr/>
          <p:nvPr/>
        </p:nvSpPr>
        <p:spPr>
          <a:xfrm>
            <a:off x="13310610" y="5213708"/>
            <a:ext cx="3906134" cy="2259331"/>
          </a:xfrm>
          <a:custGeom>
            <a:avLst/>
            <a:gdLst/>
            <a:ahLst/>
            <a:cxnLst/>
            <a:rect l="l" t="t" r="r" b="b"/>
            <a:pathLst>
              <a:path w="3906134" h="2259331">
                <a:moveTo>
                  <a:pt x="0" y="0"/>
                </a:moveTo>
                <a:lnTo>
                  <a:pt x="3906134" y="0"/>
                </a:lnTo>
                <a:lnTo>
                  <a:pt x="3906134" y="2259332"/>
                </a:lnTo>
                <a:lnTo>
                  <a:pt x="0" y="2259332"/>
                </a:lnTo>
                <a:lnTo>
                  <a:pt x="0" y="0"/>
                </a:lnTo>
                <a:close/>
              </a:path>
            </a:pathLst>
          </a:custGeom>
          <a:blipFill>
            <a:blip r:embed="rId6"/>
            <a:stretch>
              <a:fillRect/>
            </a:stretch>
          </a:blipFill>
        </p:spPr>
      </p:sp>
      <p:sp>
        <p:nvSpPr>
          <p:cNvPr id="12" name="Freeform 12"/>
          <p:cNvSpPr/>
          <p:nvPr/>
        </p:nvSpPr>
        <p:spPr>
          <a:xfrm>
            <a:off x="13310610" y="2625836"/>
            <a:ext cx="3896083" cy="2587872"/>
          </a:xfrm>
          <a:custGeom>
            <a:avLst/>
            <a:gdLst/>
            <a:ahLst/>
            <a:cxnLst/>
            <a:rect l="l" t="t" r="r" b="b"/>
            <a:pathLst>
              <a:path w="3896083" h="2587872">
                <a:moveTo>
                  <a:pt x="0" y="0"/>
                </a:moveTo>
                <a:lnTo>
                  <a:pt x="3896082" y="0"/>
                </a:lnTo>
                <a:lnTo>
                  <a:pt x="3896082" y="2587872"/>
                </a:lnTo>
                <a:lnTo>
                  <a:pt x="0" y="2587872"/>
                </a:lnTo>
                <a:lnTo>
                  <a:pt x="0" y="0"/>
                </a:lnTo>
                <a:close/>
              </a:path>
            </a:pathLst>
          </a:custGeom>
          <a:blipFill>
            <a:blip r:embed="rId7"/>
            <a:stretch>
              <a:fillRect l="-2898" t="-106842" b="-109167"/>
            </a:stretch>
          </a:blipFill>
        </p:spPr>
      </p:sp>
      <p:grpSp>
        <p:nvGrpSpPr>
          <p:cNvPr id="13" name="Group 13"/>
          <p:cNvGrpSpPr/>
          <p:nvPr/>
        </p:nvGrpSpPr>
        <p:grpSpPr>
          <a:xfrm>
            <a:off x="1513739" y="2860283"/>
            <a:ext cx="11628734" cy="1082214"/>
            <a:chOff x="-1" y="-19049"/>
            <a:chExt cx="15504979" cy="1442952"/>
          </a:xfrm>
        </p:grpSpPr>
        <p:sp>
          <p:nvSpPr>
            <p:cNvPr id="14" name="Freeform 14"/>
            <p:cNvSpPr/>
            <p:nvPr/>
          </p:nvSpPr>
          <p:spPr>
            <a:xfrm>
              <a:off x="0" y="0"/>
              <a:ext cx="15504978" cy="1393607"/>
            </a:xfrm>
            <a:custGeom>
              <a:avLst/>
              <a:gdLst/>
              <a:ahLst/>
              <a:cxnLst/>
              <a:rect l="l" t="t" r="r" b="b"/>
              <a:pathLst>
                <a:path w="15504978" h="1393607">
                  <a:moveTo>
                    <a:pt x="0" y="0"/>
                  </a:moveTo>
                  <a:lnTo>
                    <a:pt x="15504978" y="0"/>
                  </a:lnTo>
                  <a:lnTo>
                    <a:pt x="15504978" y="1393607"/>
                  </a:lnTo>
                  <a:lnTo>
                    <a:pt x="0" y="1393607"/>
                  </a:lnTo>
                  <a:close/>
                </a:path>
              </a:pathLst>
            </a:custGeom>
            <a:blipFill>
              <a:blip r:embed="rId8">
                <a:alphaModFix amt="0"/>
              </a:blip>
              <a:stretch>
                <a:fillRect t="-234301" r="-38641" b="-266810"/>
              </a:stretch>
            </a:blipFill>
          </p:spPr>
        </p:sp>
        <p:sp>
          <p:nvSpPr>
            <p:cNvPr id="15" name="TextBox 15"/>
            <p:cNvSpPr txBox="1"/>
            <p:nvPr/>
          </p:nvSpPr>
          <p:spPr>
            <a:xfrm>
              <a:off x="-1" y="-19049"/>
              <a:ext cx="15504978" cy="1442952"/>
            </a:xfrm>
            <a:prstGeom prst="rect">
              <a:avLst/>
            </a:prstGeom>
          </p:spPr>
          <p:txBody>
            <a:bodyPr lIns="0" tIns="0" rIns="0" bIns="0" rtlCol="0" anchor="ctr"/>
            <a:lstStyle/>
            <a:p>
              <a:pPr algn="l">
                <a:lnSpc>
                  <a:spcPts val="2520"/>
                </a:lnSpc>
              </a:pPr>
              <a:r>
                <a:rPr lang="en-US" sz="2400" dirty="0">
                  <a:solidFill>
                    <a:srgbClr val="003366"/>
                  </a:solidFill>
                  <a:latin typeface="Times New Roman"/>
                  <a:ea typeface="Times New Roman"/>
                  <a:cs typeface="Times New Roman"/>
                  <a:sym typeface="Times New Roman"/>
                </a:rPr>
                <a:t>As an administrative body, TISS sits between a traditional government agency and a private enterprise — freed from rigid civil-service HR and accounting rules so it can pursue specific public functions with greater professionalism, flexibility, and operational efficiency.</a:t>
              </a:r>
            </a:p>
          </p:txBody>
        </p:sp>
      </p:grpSp>
      <p:grpSp>
        <p:nvGrpSpPr>
          <p:cNvPr id="16" name="Group 16"/>
          <p:cNvGrpSpPr/>
          <p:nvPr/>
        </p:nvGrpSpPr>
        <p:grpSpPr>
          <a:xfrm>
            <a:off x="1513740" y="4092686"/>
            <a:ext cx="10912466" cy="5918791"/>
            <a:chOff x="0" y="0"/>
            <a:chExt cx="15436952" cy="8372818"/>
          </a:xfrm>
        </p:grpSpPr>
        <p:sp>
          <p:nvSpPr>
            <p:cNvPr id="17" name="Freeform 17"/>
            <p:cNvSpPr/>
            <p:nvPr/>
          </p:nvSpPr>
          <p:spPr>
            <a:xfrm>
              <a:off x="0" y="0"/>
              <a:ext cx="15436977" cy="8372856"/>
            </a:xfrm>
            <a:custGeom>
              <a:avLst/>
              <a:gdLst/>
              <a:ahLst/>
              <a:cxnLst/>
              <a:rect l="l" t="t" r="r" b="b"/>
              <a:pathLst>
                <a:path w="15436977" h="8372856">
                  <a:moveTo>
                    <a:pt x="0" y="0"/>
                  </a:moveTo>
                  <a:lnTo>
                    <a:pt x="15436977" y="0"/>
                  </a:lnTo>
                  <a:lnTo>
                    <a:pt x="15436977" y="8372856"/>
                  </a:lnTo>
                  <a:lnTo>
                    <a:pt x="0" y="8372856"/>
                  </a:lnTo>
                  <a:lnTo>
                    <a:pt x="0" y="0"/>
                  </a:lnTo>
                  <a:close/>
                </a:path>
              </a:pathLst>
            </a:custGeom>
            <a:blipFill>
              <a:blip r:embed="rId9"/>
              <a:stretch>
                <a:fillRect t="-4125" b="-4125"/>
              </a:stretch>
            </a:blipFill>
          </p:spPr>
        </p:sp>
      </p:grpSp>
      <p:sp>
        <p:nvSpPr>
          <p:cNvPr id="18" name="TextBox 8">
            <a:extLst>
              <a:ext uri="{FF2B5EF4-FFF2-40B4-BE49-F238E27FC236}">
                <a16:creationId xmlns:a16="http://schemas.microsoft.com/office/drawing/2014/main" id="{B36E805A-233B-0717-B7F1-782C835D8099}"/>
              </a:ext>
            </a:extLst>
          </p:cNvPr>
          <p:cNvSpPr txBox="1"/>
          <p:nvPr/>
        </p:nvSpPr>
        <p:spPr>
          <a:xfrm>
            <a:off x="1513740" y="1844040"/>
            <a:ext cx="12828418" cy="1394460"/>
          </a:xfrm>
          <a:prstGeom prst="rect">
            <a:avLst/>
          </a:prstGeom>
        </p:spPr>
        <p:txBody>
          <a:bodyPr lIns="0" tIns="0" rIns="0" bIns="0" rtlCol="0" anchor="ctr"/>
          <a:lstStyle/>
          <a:p>
            <a:pPr algn="l">
              <a:lnSpc>
                <a:spcPts val="4284"/>
              </a:lnSpc>
            </a:pPr>
            <a:r>
              <a:rPr lang="en-US" sz="5400" b="1" dirty="0">
                <a:solidFill>
                  <a:srgbClr val="003366"/>
                </a:solidFill>
                <a:latin typeface="Times New Roman"/>
                <a:ea typeface="Times New Roman"/>
                <a:cs typeface="Times New Roman"/>
                <a:sym typeface="Times New Roman"/>
              </a:rPr>
              <a:t>Organization of TISS</a:t>
            </a:r>
          </a:p>
        </p:txBody>
      </p:sp>
      <p:sp>
        <p:nvSpPr>
          <p:cNvPr id="19" name="Freeform 27">
            <a:extLst>
              <a:ext uri="{FF2B5EF4-FFF2-40B4-BE49-F238E27FC236}">
                <a16:creationId xmlns:a16="http://schemas.microsoft.com/office/drawing/2014/main" id="{939638B0-029A-1CCC-EC07-5E44E04A7659}"/>
              </a:ext>
            </a:extLst>
          </p:cNvPr>
          <p:cNvSpPr/>
          <p:nvPr/>
        </p:nvSpPr>
        <p:spPr>
          <a:xfrm>
            <a:off x="799154" y="2252616"/>
            <a:ext cx="455075" cy="455075"/>
          </a:xfrm>
          <a:custGeom>
            <a:avLst/>
            <a:gdLst/>
            <a:ahLst/>
            <a:cxnLst/>
            <a:rect l="l" t="t" r="r" b="b"/>
            <a:pathLst>
              <a:path w="455075" h="455075">
                <a:moveTo>
                  <a:pt x="0" y="0"/>
                </a:moveTo>
                <a:lnTo>
                  <a:pt x="455074" y="0"/>
                </a:lnTo>
                <a:lnTo>
                  <a:pt x="455074" y="455075"/>
                </a:lnTo>
                <a:lnTo>
                  <a:pt x="0" y="45507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007A8D9C-7E5C-0065-1C6F-47D92B142826}"/>
              </a:ext>
            </a:extLst>
          </p:cNvPr>
          <p:cNvGrpSpPr/>
          <p:nvPr/>
        </p:nvGrpSpPr>
        <p:grpSpPr>
          <a:xfrm>
            <a:off x="0" y="25403"/>
            <a:ext cx="18288000" cy="3744230"/>
            <a:chOff x="0" y="0"/>
            <a:chExt cx="24384000" cy="4992306"/>
          </a:xfrm>
        </p:grpSpPr>
        <p:sp>
          <p:nvSpPr>
            <p:cNvPr id="3" name="Freeform 3" descr="一張含有 黑暗, 黑色, 螢幕擷取畫面, 光線 的圖片  AI 產生的內容可能不正確。">
              <a:extLst>
                <a:ext uri="{FF2B5EF4-FFF2-40B4-BE49-F238E27FC236}">
                  <a16:creationId xmlns:a16="http://schemas.microsoft.com/office/drawing/2014/main" id="{64A79A94-3A83-8B95-8C9A-702881FC91BB}"/>
                </a:ext>
              </a:extLst>
            </p:cNvPr>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3"/>
              <a:stretch>
                <a:fillRect b="-1"/>
              </a:stretch>
            </a:blipFill>
          </p:spPr>
        </p:sp>
      </p:grpSp>
      <p:grpSp>
        <p:nvGrpSpPr>
          <p:cNvPr id="4" name="Group 4"/>
          <p:cNvGrpSpPr/>
          <p:nvPr/>
        </p:nvGrpSpPr>
        <p:grpSpPr>
          <a:xfrm>
            <a:off x="1363408" y="599237"/>
            <a:ext cx="1103243" cy="551059"/>
            <a:chOff x="0" y="0"/>
            <a:chExt cx="1470990" cy="734746"/>
          </a:xfrm>
        </p:grpSpPr>
        <p:sp>
          <p:nvSpPr>
            <p:cNvPr id="5" name="Freeform 5"/>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4"/>
              <a:stretch>
                <a:fillRect t="-221" r="3" b="-226"/>
              </a:stretch>
            </a:blipFill>
          </p:spPr>
        </p:sp>
      </p:grpSp>
      <p:sp>
        <p:nvSpPr>
          <p:cNvPr id="25" name="TextBox 4">
            <a:extLst>
              <a:ext uri="{FF2B5EF4-FFF2-40B4-BE49-F238E27FC236}">
                <a16:creationId xmlns:a16="http://schemas.microsoft.com/office/drawing/2014/main" id="{AE2F91F6-AAB2-BBFE-7DE7-0F141DD16F44}"/>
              </a:ext>
            </a:extLst>
          </p:cNvPr>
          <p:cNvSpPr txBox="1"/>
          <p:nvPr/>
        </p:nvSpPr>
        <p:spPr>
          <a:xfrm>
            <a:off x="1427111" y="2904281"/>
            <a:ext cx="8046720" cy="400110"/>
          </a:xfrm>
          <a:prstGeom prst="rect">
            <a:avLst/>
          </a:prstGeom>
          <a:noFill/>
        </p:spPr>
        <p:txBody>
          <a:bodyPr wrap="square" anchor="ctr">
            <a:spAutoFit/>
          </a:bodyPr>
          <a:lstStyle/>
          <a:p>
            <a:pPr algn="l"/>
            <a:r>
              <a:rPr lang="en-US" sz="2000" b="0" dirty="0">
                <a:solidFill>
                  <a:srgbClr val="5A6870"/>
                </a:solidFill>
                <a:latin typeface="Times New Roman" panose="02020603050405020304" pitchFamily="18" charset="0"/>
                <a:cs typeface="Times New Roman" panose="02020603050405020304" pitchFamily="18" charset="0"/>
              </a:rPr>
              <a:t>Translating Sports Science Research into Athlete Support and </a:t>
            </a:r>
            <a:r>
              <a:rPr lang="en-US" sz="2000" dirty="0">
                <a:solidFill>
                  <a:srgbClr val="5A6870"/>
                </a:solidFill>
                <a:latin typeface="Times New Roman" panose="02020603050405020304" pitchFamily="18" charset="0"/>
                <a:cs typeface="Times New Roman" panose="02020603050405020304" pitchFamily="18" charset="0"/>
              </a:rPr>
              <a:t>Practices</a:t>
            </a:r>
            <a:endParaRPr sz="2000" dirty="0">
              <a:solidFill>
                <a:srgbClr val="5A6870"/>
              </a:solidFill>
              <a:latin typeface="Times New Roman" panose="02020603050405020304" pitchFamily="18" charset="0"/>
              <a:cs typeface="Times New Roman" panose="02020603050405020304" pitchFamily="18" charset="0"/>
            </a:endParaRPr>
          </a:p>
        </p:txBody>
      </p:sp>
      <p:sp>
        <p:nvSpPr>
          <p:cNvPr id="41" name="文字方塊 40">
            <a:extLst>
              <a:ext uri="{FF2B5EF4-FFF2-40B4-BE49-F238E27FC236}">
                <a16:creationId xmlns:a16="http://schemas.microsoft.com/office/drawing/2014/main" id="{EFFA06C4-CF95-9AC8-FCF0-6012ED0C9D80}"/>
              </a:ext>
            </a:extLst>
          </p:cNvPr>
          <p:cNvSpPr txBox="1"/>
          <p:nvPr/>
        </p:nvSpPr>
        <p:spPr>
          <a:xfrm>
            <a:off x="1161833" y="9010138"/>
            <a:ext cx="16827690" cy="369332"/>
          </a:xfrm>
          <a:prstGeom prst="rect">
            <a:avLst/>
          </a:prstGeom>
          <a:noFill/>
        </p:spPr>
        <p:txBody>
          <a:bodyPr wrap="square">
            <a:spAutoFit/>
          </a:bodyPr>
          <a:lstStyle/>
          <a:p>
            <a:pPr algn="ctr"/>
            <a:r>
              <a:rPr lang="en-US" altLang="zh-TW" b="1" dirty="0">
                <a:solidFill>
                  <a:srgbClr val="0E436E"/>
                </a:solidFill>
                <a:latin typeface="Times New Roman" panose="02020603050405020304" pitchFamily="18" charset="0"/>
                <a:cs typeface="Times New Roman" panose="02020603050405020304" pitchFamily="18" charset="0"/>
              </a:rPr>
              <a:t>Multidisciplinary expertise: Strength &amp; Conditioning • Exercise Physiology • Sports Nutrition • Sports Psychology • Biomechanics • Performance Intelligence &amp; Analysis</a:t>
            </a:r>
          </a:p>
        </p:txBody>
      </p:sp>
      <p:pic>
        <p:nvPicPr>
          <p:cNvPr id="42" name="圖片 41" descr="一張含有 體適能, 體育, 運動裝備, 人員 的圖片&#10;&#10;AI 產生的內容可能不正確。">
            <a:extLst>
              <a:ext uri="{FF2B5EF4-FFF2-40B4-BE49-F238E27FC236}">
                <a16:creationId xmlns:a16="http://schemas.microsoft.com/office/drawing/2014/main" id="{55ED2CC5-98BA-F6E0-8176-9882F18BA8F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006727" y="1634221"/>
            <a:ext cx="2895782" cy="1832513"/>
          </a:xfrm>
          <a:prstGeom prst="rect">
            <a:avLst/>
          </a:prstGeom>
        </p:spPr>
      </p:pic>
      <p:pic>
        <p:nvPicPr>
          <p:cNvPr id="43" name="圖片 42">
            <a:extLst>
              <a:ext uri="{FF2B5EF4-FFF2-40B4-BE49-F238E27FC236}">
                <a16:creationId xmlns:a16="http://schemas.microsoft.com/office/drawing/2014/main" id="{03385841-ECB7-93FC-D5D0-089E79B59DA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006727" y="3408629"/>
            <a:ext cx="2895782" cy="3745604"/>
          </a:xfrm>
          <a:prstGeom prst="rect">
            <a:avLst/>
          </a:prstGeom>
        </p:spPr>
      </p:pic>
      <p:pic>
        <p:nvPicPr>
          <p:cNvPr id="44" name="圖片 43" descr="一張含有 服裝, 傢俱, 人員, 資料表 的圖片&#10;&#10;AI 產生的內容可能不正確。">
            <a:extLst>
              <a:ext uri="{FF2B5EF4-FFF2-40B4-BE49-F238E27FC236}">
                <a16:creationId xmlns:a16="http://schemas.microsoft.com/office/drawing/2014/main" id="{B38B8C3C-B245-704F-3BA8-621EC3A1B28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006727" y="6964438"/>
            <a:ext cx="2895783" cy="1911926"/>
          </a:xfrm>
          <a:prstGeom prst="rect">
            <a:avLst/>
          </a:prstGeom>
        </p:spPr>
      </p:pic>
      <p:pic>
        <p:nvPicPr>
          <p:cNvPr id="61" name="圖片 60">
            <a:extLst>
              <a:ext uri="{FF2B5EF4-FFF2-40B4-BE49-F238E27FC236}">
                <a16:creationId xmlns:a16="http://schemas.microsoft.com/office/drawing/2014/main" id="{6F4EA501-079C-C68E-7214-35C58CFB01E8}"/>
              </a:ext>
            </a:extLst>
          </p:cNvPr>
          <p:cNvPicPr>
            <a:picLocks noChangeAspect="1"/>
          </p:cNvPicPr>
          <p:nvPr/>
        </p:nvPicPr>
        <p:blipFill>
          <a:blip r:embed="rId8" cstate="print">
            <a:extLst>
              <a:ext uri="{28A0092B-C50C-407E-A947-70E740481C1C}">
                <a14:useLocalDpi xmlns:a14="http://schemas.microsoft.com/office/drawing/2010/main" val="0"/>
              </a:ext>
            </a:extLst>
          </a:blip>
          <a:srcRect b="5473"/>
          <a:stretch/>
        </p:blipFill>
        <p:spPr>
          <a:xfrm>
            <a:off x="915436" y="3473196"/>
            <a:ext cx="14543903" cy="5472375"/>
          </a:xfrm>
          <a:prstGeom prst="rect">
            <a:avLst/>
          </a:prstGeom>
        </p:spPr>
      </p:pic>
      <p:sp>
        <p:nvSpPr>
          <p:cNvPr id="10" name="TextBox 8">
            <a:extLst>
              <a:ext uri="{FF2B5EF4-FFF2-40B4-BE49-F238E27FC236}">
                <a16:creationId xmlns:a16="http://schemas.microsoft.com/office/drawing/2014/main" id="{59435DC9-B2C8-FBF0-0F48-5FC526814076}"/>
              </a:ext>
            </a:extLst>
          </p:cNvPr>
          <p:cNvSpPr txBox="1"/>
          <p:nvPr/>
        </p:nvSpPr>
        <p:spPr>
          <a:xfrm>
            <a:off x="1026691" y="5430395"/>
            <a:ext cx="12828418" cy="1394460"/>
          </a:xfrm>
          <a:prstGeom prst="rect">
            <a:avLst/>
          </a:prstGeom>
        </p:spPr>
        <p:txBody>
          <a:bodyPr lIns="0" tIns="0" rIns="0" bIns="0" rtlCol="0" anchor="ctr"/>
          <a:lstStyle/>
          <a:p>
            <a:pPr eaLnBrk="1" fontAlgn="auto" hangingPunct="1"/>
            <a:endParaRPr lang="zh-TW" altLang="en-US" sz="5400"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TextBox 8">
            <a:extLst>
              <a:ext uri="{FF2B5EF4-FFF2-40B4-BE49-F238E27FC236}">
                <a16:creationId xmlns:a16="http://schemas.microsoft.com/office/drawing/2014/main" id="{1CDACE7A-81FD-C66C-3953-0E2518562327}"/>
              </a:ext>
            </a:extLst>
          </p:cNvPr>
          <p:cNvSpPr txBox="1"/>
          <p:nvPr/>
        </p:nvSpPr>
        <p:spPr>
          <a:xfrm>
            <a:off x="915436" y="5254004"/>
            <a:ext cx="12828418" cy="1394460"/>
          </a:xfrm>
          <a:prstGeom prst="rect">
            <a:avLst/>
          </a:prstGeom>
        </p:spPr>
        <p:txBody>
          <a:bodyPr lIns="0" tIns="0" rIns="0" bIns="0" rtlCol="0" anchor="ctr"/>
          <a:lstStyle/>
          <a:p>
            <a:pPr eaLnBrk="1" fontAlgn="auto" hangingPunct="1"/>
            <a:endParaRPr lang="zh-TW" altLang="en-US" sz="5400"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 name="TextBox 8">
            <a:extLst>
              <a:ext uri="{FF2B5EF4-FFF2-40B4-BE49-F238E27FC236}">
                <a16:creationId xmlns:a16="http://schemas.microsoft.com/office/drawing/2014/main" id="{086E8E8C-B913-96CB-40BC-6AA293906B8D}"/>
              </a:ext>
            </a:extLst>
          </p:cNvPr>
          <p:cNvSpPr txBox="1"/>
          <p:nvPr/>
        </p:nvSpPr>
        <p:spPr>
          <a:xfrm>
            <a:off x="1773178" y="6648464"/>
            <a:ext cx="12828418" cy="1394460"/>
          </a:xfrm>
          <a:prstGeom prst="rect">
            <a:avLst/>
          </a:prstGeom>
        </p:spPr>
        <p:txBody>
          <a:bodyPr lIns="0" tIns="0" rIns="0" bIns="0" rtlCol="0" anchor="ctr"/>
          <a:lstStyle/>
          <a:p>
            <a:pPr eaLnBrk="1" fontAlgn="auto" hangingPunct="1"/>
            <a:endParaRPr lang="zh-TW" altLang="en-US" sz="5400"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 name="TextBox 8">
            <a:extLst>
              <a:ext uri="{FF2B5EF4-FFF2-40B4-BE49-F238E27FC236}">
                <a16:creationId xmlns:a16="http://schemas.microsoft.com/office/drawing/2014/main" id="{A1BF98F8-21F2-18FC-AC50-BAB221C0A8A5}"/>
              </a:ext>
            </a:extLst>
          </p:cNvPr>
          <p:cNvSpPr txBox="1"/>
          <p:nvPr/>
        </p:nvSpPr>
        <p:spPr>
          <a:xfrm>
            <a:off x="1513740" y="1844040"/>
            <a:ext cx="12828418" cy="1394460"/>
          </a:xfrm>
          <a:prstGeom prst="rect">
            <a:avLst/>
          </a:prstGeom>
        </p:spPr>
        <p:txBody>
          <a:bodyPr lIns="0" tIns="0" rIns="0" bIns="0" rtlCol="0" anchor="ctr"/>
          <a:lstStyle/>
          <a:p>
            <a:pPr>
              <a:lnSpc>
                <a:spcPts val="4284"/>
              </a:lnSpc>
            </a:pPr>
            <a:r>
              <a:rPr lang="en-US" altLang="zh-TW" sz="5400"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rPr>
              <a:t>Department of Sports Science Research</a:t>
            </a:r>
            <a:endParaRPr lang="zh-TW" altLang="en-US" sz="5400"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7" name="Freeform 27">
            <a:extLst>
              <a:ext uri="{FF2B5EF4-FFF2-40B4-BE49-F238E27FC236}">
                <a16:creationId xmlns:a16="http://schemas.microsoft.com/office/drawing/2014/main" id="{BA6957BD-0DF7-9D9D-275E-54FFE0C38B33}"/>
              </a:ext>
            </a:extLst>
          </p:cNvPr>
          <p:cNvSpPr/>
          <p:nvPr/>
        </p:nvSpPr>
        <p:spPr>
          <a:xfrm>
            <a:off x="799154" y="2252616"/>
            <a:ext cx="455075" cy="455075"/>
          </a:xfrm>
          <a:custGeom>
            <a:avLst/>
            <a:gdLst/>
            <a:ahLst/>
            <a:cxnLst/>
            <a:rect l="l" t="t" r="r" b="b"/>
            <a:pathLst>
              <a:path w="455075" h="455075">
                <a:moveTo>
                  <a:pt x="0" y="0"/>
                </a:moveTo>
                <a:lnTo>
                  <a:pt x="455074" y="0"/>
                </a:lnTo>
                <a:lnTo>
                  <a:pt x="455074" y="455075"/>
                </a:lnTo>
                <a:lnTo>
                  <a:pt x="0" y="45507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2152400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5403"/>
            <a:ext cx="18288000" cy="3744230"/>
            <a:chOff x="0" y="0"/>
            <a:chExt cx="24384000" cy="4992306"/>
          </a:xfrm>
        </p:grpSpPr>
        <p:sp>
          <p:nvSpPr>
            <p:cNvPr id="3" name="Freeform 3" descr="一張含有 黑暗, 黑色, 螢幕擷取畫面, 光線 的圖片  AI 產生的內容可能不正確。"/>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3"/>
              <a:stretch>
                <a:fillRect b="-1"/>
              </a:stretch>
            </a:blipFill>
          </p:spPr>
        </p:sp>
      </p:grpSp>
      <p:grpSp>
        <p:nvGrpSpPr>
          <p:cNvPr id="4" name="Group 4"/>
          <p:cNvGrpSpPr/>
          <p:nvPr/>
        </p:nvGrpSpPr>
        <p:grpSpPr>
          <a:xfrm>
            <a:off x="1363408" y="599237"/>
            <a:ext cx="1103243" cy="551059"/>
            <a:chOff x="0" y="0"/>
            <a:chExt cx="1470990" cy="734746"/>
          </a:xfrm>
        </p:grpSpPr>
        <p:sp>
          <p:nvSpPr>
            <p:cNvPr id="5" name="Freeform 5"/>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4"/>
              <a:stretch>
                <a:fillRect t="-221" r="3" b="-226"/>
              </a:stretch>
            </a:blipFill>
          </p:spPr>
        </p:sp>
      </p:grpSp>
      <p:sp>
        <p:nvSpPr>
          <p:cNvPr id="59" name="文字方塊 58">
            <a:extLst>
              <a:ext uri="{FF2B5EF4-FFF2-40B4-BE49-F238E27FC236}">
                <a16:creationId xmlns:a16="http://schemas.microsoft.com/office/drawing/2014/main" id="{99A95D82-6F1B-B931-AA4E-2C9523956F3F}"/>
              </a:ext>
            </a:extLst>
          </p:cNvPr>
          <p:cNvSpPr txBox="1"/>
          <p:nvPr/>
        </p:nvSpPr>
        <p:spPr>
          <a:xfrm>
            <a:off x="14097000" y="15354"/>
            <a:ext cx="4191000" cy="369332"/>
          </a:xfrm>
          <a:prstGeom prst="rect">
            <a:avLst/>
          </a:prstGeom>
          <a:noFill/>
        </p:spPr>
        <p:txBody>
          <a:bodyPr wrap="square">
            <a:spAutoFit/>
          </a:bodyPr>
          <a:lstStyle/>
          <a:p>
            <a:pPr eaLnBrk="1" fontAlgn="auto" hangingPunct="1"/>
            <a:r>
              <a:rPr lang="en-US" altLang="zh-TW" sz="1800"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rPr>
              <a:t>Department of Sports Science Research</a:t>
            </a:r>
            <a:endParaRPr lang="zh-TW" altLang="en-US" sz="1800"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 name="TextBox 4">
            <a:extLst>
              <a:ext uri="{FF2B5EF4-FFF2-40B4-BE49-F238E27FC236}">
                <a16:creationId xmlns:a16="http://schemas.microsoft.com/office/drawing/2014/main" id="{F63A9976-7FD5-3ED0-F6F3-A040EAF22755}"/>
              </a:ext>
            </a:extLst>
          </p:cNvPr>
          <p:cNvSpPr txBox="1"/>
          <p:nvPr/>
        </p:nvSpPr>
        <p:spPr>
          <a:xfrm>
            <a:off x="1427111" y="2904281"/>
            <a:ext cx="8046720" cy="400110"/>
          </a:xfrm>
          <a:prstGeom prst="rect">
            <a:avLst/>
          </a:prstGeom>
          <a:noFill/>
        </p:spPr>
        <p:txBody>
          <a:bodyPr wrap="square" anchor="ctr">
            <a:spAutoFit/>
          </a:bodyPr>
          <a:lstStyle/>
          <a:p>
            <a:pPr algn="l"/>
            <a:r>
              <a:rPr lang="en-US" altLang="zh-TW" sz="2000" b="0" dirty="0">
                <a:solidFill>
                  <a:srgbClr val="5A6870"/>
                </a:solidFill>
                <a:latin typeface="Times New Roman" panose="02020603050405020304" pitchFamily="18" charset="0"/>
                <a:cs typeface="Times New Roman" panose="02020603050405020304" pitchFamily="18" charset="0"/>
              </a:rPr>
              <a:t>From Research to </a:t>
            </a:r>
            <a:r>
              <a:rPr lang="en-US" sz="2000" dirty="0">
                <a:solidFill>
                  <a:srgbClr val="5A6870"/>
                </a:solidFill>
                <a:latin typeface="Times New Roman" panose="02020603050405020304" pitchFamily="18" charset="0"/>
                <a:cs typeface="Times New Roman" panose="02020603050405020304" pitchFamily="18" charset="0"/>
              </a:rPr>
              <a:t>Practices</a:t>
            </a:r>
            <a:endParaRPr sz="2000" dirty="0">
              <a:solidFill>
                <a:srgbClr val="5A6870"/>
              </a:solidFill>
              <a:latin typeface="Times New Roman" panose="02020603050405020304" pitchFamily="18" charset="0"/>
              <a:cs typeface="Times New Roman" panose="02020603050405020304" pitchFamily="18" charset="0"/>
            </a:endParaRPr>
          </a:p>
        </p:txBody>
      </p:sp>
      <p:pic>
        <p:nvPicPr>
          <p:cNvPr id="69" name="圖片 68">
            <a:extLst>
              <a:ext uri="{FF2B5EF4-FFF2-40B4-BE49-F238E27FC236}">
                <a16:creationId xmlns:a16="http://schemas.microsoft.com/office/drawing/2014/main" id="{21C59D4C-C320-41BA-8381-39303BC43FC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63408" y="3619500"/>
            <a:ext cx="15324392" cy="6203190"/>
          </a:xfrm>
          <a:prstGeom prst="rect">
            <a:avLst/>
          </a:prstGeom>
        </p:spPr>
      </p:pic>
      <p:sp>
        <p:nvSpPr>
          <p:cNvPr id="12" name="TextBox 8">
            <a:extLst>
              <a:ext uri="{FF2B5EF4-FFF2-40B4-BE49-F238E27FC236}">
                <a16:creationId xmlns:a16="http://schemas.microsoft.com/office/drawing/2014/main" id="{670E6693-0684-D212-B556-561031EAEB34}"/>
              </a:ext>
            </a:extLst>
          </p:cNvPr>
          <p:cNvSpPr txBox="1"/>
          <p:nvPr/>
        </p:nvSpPr>
        <p:spPr>
          <a:xfrm>
            <a:off x="1513740" y="1844040"/>
            <a:ext cx="12828418" cy="1394460"/>
          </a:xfrm>
          <a:prstGeom prst="rect">
            <a:avLst/>
          </a:prstGeom>
        </p:spPr>
        <p:txBody>
          <a:bodyPr lIns="0" tIns="0" rIns="0" bIns="0" rtlCol="0" anchor="ctr"/>
          <a:lstStyle/>
          <a:p>
            <a:pPr algn="l">
              <a:lnSpc>
                <a:spcPts val="4284"/>
              </a:lnSpc>
            </a:pPr>
            <a:r>
              <a:rPr lang="en-US" sz="5400" b="1" dirty="0">
                <a:solidFill>
                  <a:srgbClr val="003366"/>
                </a:solidFill>
                <a:latin typeface="Times New Roman"/>
                <a:ea typeface="Times New Roman"/>
                <a:cs typeface="Times New Roman"/>
                <a:sym typeface="Times New Roman"/>
              </a:rPr>
              <a:t>Our Responsibilities</a:t>
            </a:r>
          </a:p>
        </p:txBody>
      </p:sp>
      <p:sp>
        <p:nvSpPr>
          <p:cNvPr id="13" name="Freeform 27">
            <a:extLst>
              <a:ext uri="{FF2B5EF4-FFF2-40B4-BE49-F238E27FC236}">
                <a16:creationId xmlns:a16="http://schemas.microsoft.com/office/drawing/2014/main" id="{7B49907C-70EE-0B5B-829C-F94DCEE4F9E7}"/>
              </a:ext>
            </a:extLst>
          </p:cNvPr>
          <p:cNvSpPr/>
          <p:nvPr/>
        </p:nvSpPr>
        <p:spPr>
          <a:xfrm>
            <a:off x="799154" y="2252616"/>
            <a:ext cx="455075" cy="455075"/>
          </a:xfrm>
          <a:custGeom>
            <a:avLst/>
            <a:gdLst/>
            <a:ahLst/>
            <a:cxnLst/>
            <a:rect l="l" t="t" r="r" b="b"/>
            <a:pathLst>
              <a:path w="455075" h="455075">
                <a:moveTo>
                  <a:pt x="0" y="0"/>
                </a:moveTo>
                <a:lnTo>
                  <a:pt x="455074" y="0"/>
                </a:lnTo>
                <a:lnTo>
                  <a:pt x="455074" y="455075"/>
                </a:lnTo>
                <a:lnTo>
                  <a:pt x="0" y="4550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381406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796" y="30259"/>
            <a:ext cx="18288000" cy="3744183"/>
            <a:chOff x="19728" y="6475"/>
            <a:chExt cx="24384000" cy="4992243"/>
          </a:xfrm>
        </p:grpSpPr>
        <p:sp>
          <p:nvSpPr>
            <p:cNvPr id="3" name="Freeform 3" descr="一張含有 黑暗, 黑色, 螢幕擷取畫面, 光線 的圖片  AI 產生的內容可能不正確。"/>
            <p:cNvSpPr/>
            <p:nvPr/>
          </p:nvSpPr>
          <p:spPr>
            <a:xfrm>
              <a:off x="19728" y="6475"/>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3"/>
              <a:stretch>
                <a:fillRect b="-1"/>
              </a:stretch>
            </a:blipFill>
          </p:spPr>
        </p:sp>
      </p:grpSp>
      <p:grpSp>
        <p:nvGrpSpPr>
          <p:cNvPr id="4" name="Group 4"/>
          <p:cNvGrpSpPr/>
          <p:nvPr/>
        </p:nvGrpSpPr>
        <p:grpSpPr>
          <a:xfrm>
            <a:off x="1363408" y="599237"/>
            <a:ext cx="1103243" cy="551059"/>
            <a:chOff x="0" y="0"/>
            <a:chExt cx="1470990" cy="734746"/>
          </a:xfrm>
        </p:grpSpPr>
        <p:sp>
          <p:nvSpPr>
            <p:cNvPr id="5" name="Freeform 5"/>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4"/>
              <a:stretch>
                <a:fillRect t="-221" r="3" b="-226"/>
              </a:stretch>
            </a:blipFill>
          </p:spPr>
        </p:sp>
      </p:grpSp>
      <p:sp>
        <p:nvSpPr>
          <p:cNvPr id="59" name="文字方塊 58">
            <a:extLst>
              <a:ext uri="{FF2B5EF4-FFF2-40B4-BE49-F238E27FC236}">
                <a16:creationId xmlns:a16="http://schemas.microsoft.com/office/drawing/2014/main" id="{99A95D82-6F1B-B931-AA4E-2C9523956F3F}"/>
              </a:ext>
            </a:extLst>
          </p:cNvPr>
          <p:cNvSpPr txBox="1"/>
          <p:nvPr/>
        </p:nvSpPr>
        <p:spPr>
          <a:xfrm>
            <a:off x="14097000" y="15354"/>
            <a:ext cx="4191000" cy="369332"/>
          </a:xfrm>
          <a:prstGeom prst="rect">
            <a:avLst/>
          </a:prstGeom>
          <a:noFill/>
        </p:spPr>
        <p:txBody>
          <a:bodyPr wrap="square">
            <a:spAutoFit/>
          </a:bodyPr>
          <a:lstStyle/>
          <a:p>
            <a:pPr eaLnBrk="1" fontAlgn="auto" hangingPunct="1"/>
            <a:r>
              <a:rPr lang="en-US" altLang="zh-TW" sz="1800"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rPr>
              <a:t>Department of Sports Science Research</a:t>
            </a:r>
            <a:endParaRPr lang="zh-TW" altLang="en-US" sz="1800"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 name="TextBox 4">
            <a:extLst>
              <a:ext uri="{FF2B5EF4-FFF2-40B4-BE49-F238E27FC236}">
                <a16:creationId xmlns:a16="http://schemas.microsoft.com/office/drawing/2014/main" id="{F63A9976-7FD5-3ED0-F6F3-A040EAF22755}"/>
              </a:ext>
            </a:extLst>
          </p:cNvPr>
          <p:cNvSpPr txBox="1"/>
          <p:nvPr/>
        </p:nvSpPr>
        <p:spPr>
          <a:xfrm>
            <a:off x="1427110" y="2904281"/>
            <a:ext cx="9088489" cy="400110"/>
          </a:xfrm>
          <a:prstGeom prst="rect">
            <a:avLst/>
          </a:prstGeom>
          <a:noFill/>
        </p:spPr>
        <p:txBody>
          <a:bodyPr wrap="square" anchor="ctr">
            <a:spAutoFit/>
          </a:bodyPr>
          <a:lstStyle/>
          <a:p>
            <a:pPr algn="l"/>
            <a:r>
              <a:rPr lang="en-US" altLang="zh-TW" sz="2000" b="0" dirty="0">
                <a:solidFill>
                  <a:srgbClr val="5A6870"/>
                </a:solidFill>
                <a:latin typeface="Times New Roman" panose="02020603050405020304" pitchFamily="18" charset="0"/>
                <a:cs typeface="Times New Roman" panose="02020603050405020304" pitchFamily="18" charset="0"/>
              </a:rPr>
              <a:t>Turning Sports Science Data into </a:t>
            </a:r>
            <a:r>
              <a:rPr lang="en-US" altLang="zh-TW" sz="2000" dirty="0">
                <a:solidFill>
                  <a:srgbClr val="5A6870"/>
                </a:solidFill>
                <a:latin typeface="Times New Roman" panose="02020603050405020304" pitchFamily="18" charset="0"/>
                <a:cs typeface="Times New Roman" panose="02020603050405020304" pitchFamily="18" charset="0"/>
              </a:rPr>
              <a:t>Actionable </a:t>
            </a:r>
            <a:r>
              <a:rPr lang="en-US" altLang="zh-TW" sz="2000" b="0" dirty="0">
                <a:solidFill>
                  <a:srgbClr val="5A6870"/>
                </a:solidFill>
                <a:latin typeface="Times New Roman" panose="02020603050405020304" pitchFamily="18" charset="0"/>
                <a:cs typeface="Times New Roman" panose="02020603050405020304" pitchFamily="18" charset="0"/>
              </a:rPr>
              <a:t>Support for Coaches and Athletes</a:t>
            </a:r>
          </a:p>
        </p:txBody>
      </p:sp>
      <p:pic>
        <p:nvPicPr>
          <p:cNvPr id="84" name="圖片 83">
            <a:extLst>
              <a:ext uri="{FF2B5EF4-FFF2-40B4-BE49-F238E27FC236}">
                <a16:creationId xmlns:a16="http://schemas.microsoft.com/office/drawing/2014/main" id="{5A2E2AA3-CB2B-F5D8-1B9B-07E690AF91B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26691" y="3543300"/>
            <a:ext cx="16442080" cy="6400800"/>
          </a:xfrm>
          <a:prstGeom prst="rect">
            <a:avLst/>
          </a:prstGeom>
        </p:spPr>
      </p:pic>
      <p:sp>
        <p:nvSpPr>
          <p:cNvPr id="12" name="TextBox 8">
            <a:extLst>
              <a:ext uri="{FF2B5EF4-FFF2-40B4-BE49-F238E27FC236}">
                <a16:creationId xmlns:a16="http://schemas.microsoft.com/office/drawing/2014/main" id="{400989EB-C75A-3E36-E0CF-D16A5D1345EE}"/>
              </a:ext>
            </a:extLst>
          </p:cNvPr>
          <p:cNvSpPr txBox="1"/>
          <p:nvPr/>
        </p:nvSpPr>
        <p:spPr>
          <a:xfrm>
            <a:off x="1513740" y="1844040"/>
            <a:ext cx="12828418" cy="1394460"/>
          </a:xfrm>
          <a:prstGeom prst="rect">
            <a:avLst/>
          </a:prstGeom>
        </p:spPr>
        <p:txBody>
          <a:bodyPr lIns="0" tIns="0" rIns="0" bIns="0" rtlCol="0" anchor="ctr"/>
          <a:lstStyle/>
          <a:p>
            <a:pPr algn="l">
              <a:lnSpc>
                <a:spcPts val="4284"/>
              </a:lnSpc>
            </a:pPr>
            <a:r>
              <a:rPr lang="en-US" sz="5400" b="1" dirty="0">
                <a:solidFill>
                  <a:srgbClr val="003366"/>
                </a:solidFill>
                <a:latin typeface="Times New Roman"/>
                <a:ea typeface="Times New Roman"/>
                <a:cs typeface="Times New Roman"/>
                <a:sym typeface="Times New Roman"/>
              </a:rPr>
              <a:t>Our Approach</a:t>
            </a:r>
          </a:p>
        </p:txBody>
      </p:sp>
      <p:sp>
        <p:nvSpPr>
          <p:cNvPr id="13" name="Freeform 27">
            <a:extLst>
              <a:ext uri="{FF2B5EF4-FFF2-40B4-BE49-F238E27FC236}">
                <a16:creationId xmlns:a16="http://schemas.microsoft.com/office/drawing/2014/main" id="{F4359D9D-BC7D-2213-9E26-91EDBD72C295}"/>
              </a:ext>
            </a:extLst>
          </p:cNvPr>
          <p:cNvSpPr/>
          <p:nvPr/>
        </p:nvSpPr>
        <p:spPr>
          <a:xfrm>
            <a:off x="799154" y="2252616"/>
            <a:ext cx="455075" cy="455075"/>
          </a:xfrm>
          <a:custGeom>
            <a:avLst/>
            <a:gdLst/>
            <a:ahLst/>
            <a:cxnLst/>
            <a:rect l="l" t="t" r="r" b="b"/>
            <a:pathLst>
              <a:path w="455075" h="455075">
                <a:moveTo>
                  <a:pt x="0" y="0"/>
                </a:moveTo>
                <a:lnTo>
                  <a:pt x="455074" y="0"/>
                </a:lnTo>
                <a:lnTo>
                  <a:pt x="455074" y="455075"/>
                </a:lnTo>
                <a:lnTo>
                  <a:pt x="0" y="4550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2712780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5403"/>
            <a:ext cx="18288000" cy="3744230"/>
            <a:chOff x="0" y="0"/>
            <a:chExt cx="24384000" cy="4992306"/>
          </a:xfrm>
        </p:grpSpPr>
        <p:sp>
          <p:nvSpPr>
            <p:cNvPr id="3" name="Freeform 3" descr="一張含有 黑暗, 黑色, 螢幕擷取畫面, 光線 的圖片  AI 產生的內容可能不正確。"/>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3"/>
              <a:stretch>
                <a:fillRect b="-1"/>
              </a:stretch>
            </a:blipFill>
          </p:spPr>
        </p:sp>
      </p:grpSp>
      <p:grpSp>
        <p:nvGrpSpPr>
          <p:cNvPr id="4" name="Group 4"/>
          <p:cNvGrpSpPr/>
          <p:nvPr/>
        </p:nvGrpSpPr>
        <p:grpSpPr>
          <a:xfrm>
            <a:off x="1363408" y="599237"/>
            <a:ext cx="1103243" cy="551059"/>
            <a:chOff x="0" y="0"/>
            <a:chExt cx="1470990" cy="734746"/>
          </a:xfrm>
        </p:grpSpPr>
        <p:sp>
          <p:nvSpPr>
            <p:cNvPr id="5" name="Freeform 5"/>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4"/>
              <a:stretch>
                <a:fillRect t="-221" r="3" b="-226"/>
              </a:stretch>
            </a:blipFill>
          </p:spPr>
        </p:sp>
      </p:grpSp>
      <p:sp>
        <p:nvSpPr>
          <p:cNvPr id="10" name="矩形 9">
            <a:extLst>
              <a:ext uri="{FF2B5EF4-FFF2-40B4-BE49-F238E27FC236}">
                <a16:creationId xmlns:a16="http://schemas.microsoft.com/office/drawing/2014/main" id="{1CBB8C55-3FA2-5E8E-DDA5-1F92D58C424C}"/>
              </a:ext>
            </a:extLst>
          </p:cNvPr>
          <p:cNvSpPr>
            <a:spLocks noGrp="1"/>
          </p:cNvSpPr>
          <p:nvPr/>
        </p:nvSpPr>
        <p:spPr>
          <a:xfrm>
            <a:off x="1479103" y="3259704"/>
            <a:ext cx="9525000" cy="419100"/>
          </a:xfrm>
          <a:prstGeom prst="rect">
            <a:avLst/>
          </a:prstGeom>
          <a:noFill/>
          <a:ln w="0">
            <a:noFill/>
          </a:ln>
        </p:spPr>
        <p:txBody>
          <a:bodyPr>
            <a:noAutofit/>
          </a:bodyPr>
          <a:lstStyle/>
          <a:p>
            <a:pPr>
              <a:defRPr sz="2250" b="1">
                <a:solidFill>
                  <a:srgbClr val="00558B"/>
                </a:solidFill>
                <a:latin typeface="Times New Roman"/>
                <a:ea typeface="Times New Roman"/>
                <a:cs typeface="Times New Roman"/>
              </a:defRPr>
            </a:pPr>
            <a:r>
              <a:rPr sz="2800" b="1" dirty="0">
                <a:solidFill>
                  <a:srgbClr val="00558B"/>
                </a:solidFill>
                <a:latin typeface="Times New Roman"/>
                <a:ea typeface="Times New Roman"/>
                <a:cs typeface="Times New Roman"/>
              </a:rPr>
              <a:t>Our objectives</a:t>
            </a:r>
          </a:p>
        </p:txBody>
      </p:sp>
      <p:sp>
        <p:nvSpPr>
          <p:cNvPr id="11" name="矩形 10">
            <a:extLst>
              <a:ext uri="{FF2B5EF4-FFF2-40B4-BE49-F238E27FC236}">
                <a16:creationId xmlns:a16="http://schemas.microsoft.com/office/drawing/2014/main" id="{95118D86-1EF6-6775-F432-15E78ABBF56E}"/>
              </a:ext>
            </a:extLst>
          </p:cNvPr>
          <p:cNvSpPr>
            <a:spLocks noGrp="1"/>
          </p:cNvSpPr>
          <p:nvPr/>
        </p:nvSpPr>
        <p:spPr>
          <a:xfrm>
            <a:off x="1513740" y="3882631"/>
            <a:ext cx="12096750" cy="495300"/>
          </a:xfrm>
          <a:prstGeom prst="rect">
            <a:avLst/>
          </a:prstGeom>
          <a:noFill/>
          <a:ln w="0">
            <a:noFill/>
          </a:ln>
        </p:spPr>
        <p:txBody>
          <a:bodyPr>
            <a:noAutofit/>
          </a:bodyPr>
          <a:lstStyle/>
          <a:p>
            <a:pPr>
              <a:defRPr sz="1950" b="0">
                <a:solidFill>
                  <a:srgbClr val="47566A"/>
                </a:solidFill>
                <a:latin typeface="Times New Roman"/>
                <a:ea typeface="Times New Roman"/>
                <a:cs typeface="Times New Roman"/>
              </a:defRPr>
            </a:pPr>
            <a:r>
              <a:rPr sz="2000" b="0" dirty="0">
                <a:solidFill>
                  <a:srgbClr val="47566A"/>
                </a:solidFill>
                <a:latin typeface="Times New Roman"/>
                <a:ea typeface="Times New Roman"/>
                <a:cs typeface="Times New Roman"/>
              </a:rPr>
              <a:t>Apply research and athlete health data to support safer participation, recovery and performance.</a:t>
            </a:r>
          </a:p>
        </p:txBody>
      </p:sp>
      <p:pic>
        <p:nvPicPr>
          <p:cNvPr id="37" name="圖片 36">
            <a:extLst>
              <a:ext uri="{FF2B5EF4-FFF2-40B4-BE49-F238E27FC236}">
                <a16:creationId xmlns:a16="http://schemas.microsoft.com/office/drawing/2014/main" id="{F0F098DB-BEEB-7459-20F9-A363A5AC4F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3740" y="4545361"/>
            <a:ext cx="15250102" cy="5262596"/>
          </a:xfrm>
          <a:prstGeom prst="rect">
            <a:avLst/>
          </a:prstGeom>
        </p:spPr>
      </p:pic>
      <p:sp>
        <p:nvSpPr>
          <p:cNvPr id="12" name="TextBox 8">
            <a:extLst>
              <a:ext uri="{FF2B5EF4-FFF2-40B4-BE49-F238E27FC236}">
                <a16:creationId xmlns:a16="http://schemas.microsoft.com/office/drawing/2014/main" id="{8B736300-64BF-AA65-92FE-99A92E716F79}"/>
              </a:ext>
            </a:extLst>
          </p:cNvPr>
          <p:cNvSpPr txBox="1"/>
          <p:nvPr/>
        </p:nvSpPr>
        <p:spPr>
          <a:xfrm>
            <a:off x="1513740" y="1844040"/>
            <a:ext cx="12828418" cy="1394460"/>
          </a:xfrm>
          <a:prstGeom prst="rect">
            <a:avLst/>
          </a:prstGeom>
        </p:spPr>
        <p:txBody>
          <a:bodyPr lIns="0" tIns="0" rIns="0" bIns="0" rtlCol="0" anchor="ctr"/>
          <a:lstStyle/>
          <a:p>
            <a:pPr algn="l">
              <a:lnSpc>
                <a:spcPts val="4284"/>
              </a:lnSpc>
            </a:pPr>
            <a:r>
              <a:rPr lang="en-US" sz="5400" b="1" dirty="0">
                <a:solidFill>
                  <a:srgbClr val="003366"/>
                </a:solidFill>
                <a:latin typeface="Times New Roman"/>
                <a:ea typeface="Times New Roman"/>
                <a:cs typeface="Times New Roman"/>
                <a:sym typeface="Times New Roman"/>
              </a:rPr>
              <a:t>Department of Sport Medicine Research</a:t>
            </a:r>
          </a:p>
        </p:txBody>
      </p:sp>
      <p:sp>
        <p:nvSpPr>
          <p:cNvPr id="13" name="Freeform 27">
            <a:extLst>
              <a:ext uri="{FF2B5EF4-FFF2-40B4-BE49-F238E27FC236}">
                <a16:creationId xmlns:a16="http://schemas.microsoft.com/office/drawing/2014/main" id="{B8D39DF5-F161-3EB6-9B3D-87AF22C776CA}"/>
              </a:ext>
            </a:extLst>
          </p:cNvPr>
          <p:cNvSpPr/>
          <p:nvPr/>
        </p:nvSpPr>
        <p:spPr>
          <a:xfrm>
            <a:off x="799154" y="2252616"/>
            <a:ext cx="455075" cy="455075"/>
          </a:xfrm>
          <a:custGeom>
            <a:avLst/>
            <a:gdLst/>
            <a:ahLst/>
            <a:cxnLst/>
            <a:rect l="l" t="t" r="r" b="b"/>
            <a:pathLst>
              <a:path w="455075" h="455075">
                <a:moveTo>
                  <a:pt x="0" y="0"/>
                </a:moveTo>
                <a:lnTo>
                  <a:pt x="455074" y="0"/>
                </a:lnTo>
                <a:lnTo>
                  <a:pt x="455074" y="455075"/>
                </a:lnTo>
                <a:lnTo>
                  <a:pt x="0" y="4550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1359973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5403"/>
            <a:ext cx="18288000" cy="3744230"/>
            <a:chOff x="0" y="0"/>
            <a:chExt cx="24384000" cy="4992306"/>
          </a:xfrm>
        </p:grpSpPr>
        <p:sp>
          <p:nvSpPr>
            <p:cNvPr id="3" name="Freeform 3" descr="一張含有 黑暗, 黑色, 螢幕擷取畫面, 光線 的圖片  AI 產生的內容可能不正確。"/>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3"/>
              <a:stretch>
                <a:fillRect b="-1"/>
              </a:stretch>
            </a:blipFill>
          </p:spPr>
        </p:sp>
      </p:grpSp>
      <p:grpSp>
        <p:nvGrpSpPr>
          <p:cNvPr id="4" name="Group 4"/>
          <p:cNvGrpSpPr/>
          <p:nvPr/>
        </p:nvGrpSpPr>
        <p:grpSpPr>
          <a:xfrm>
            <a:off x="1363408" y="599237"/>
            <a:ext cx="1103243" cy="551059"/>
            <a:chOff x="0" y="0"/>
            <a:chExt cx="1470990" cy="734746"/>
          </a:xfrm>
        </p:grpSpPr>
        <p:sp>
          <p:nvSpPr>
            <p:cNvPr id="5" name="Freeform 5"/>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4"/>
              <a:stretch>
                <a:fillRect t="-221" r="3" b="-226"/>
              </a:stretch>
            </a:blipFill>
          </p:spPr>
        </p:sp>
      </p:grpSp>
      <p:sp>
        <p:nvSpPr>
          <p:cNvPr id="10" name="矩形 9">
            <a:extLst>
              <a:ext uri="{FF2B5EF4-FFF2-40B4-BE49-F238E27FC236}">
                <a16:creationId xmlns:a16="http://schemas.microsoft.com/office/drawing/2014/main" id="{1CBB8C55-3FA2-5E8E-DDA5-1F92D58C424C}"/>
              </a:ext>
            </a:extLst>
          </p:cNvPr>
          <p:cNvSpPr>
            <a:spLocks noGrp="1"/>
          </p:cNvSpPr>
          <p:nvPr/>
        </p:nvSpPr>
        <p:spPr>
          <a:xfrm>
            <a:off x="1479103" y="3259704"/>
            <a:ext cx="9525000" cy="419100"/>
          </a:xfrm>
          <a:prstGeom prst="rect">
            <a:avLst/>
          </a:prstGeom>
          <a:noFill/>
          <a:ln w="0">
            <a:noFill/>
          </a:ln>
        </p:spPr>
        <p:txBody>
          <a:bodyPr>
            <a:noAutofit/>
          </a:bodyPr>
          <a:lstStyle/>
          <a:p>
            <a:pPr>
              <a:defRPr sz="2250" b="1">
                <a:solidFill>
                  <a:srgbClr val="00558B"/>
                </a:solidFill>
                <a:latin typeface="Times New Roman"/>
                <a:ea typeface="Times New Roman"/>
                <a:cs typeface="Times New Roman"/>
              </a:defRPr>
            </a:pPr>
            <a:r>
              <a:rPr lang="en-US" sz="2800" b="1" dirty="0">
                <a:solidFill>
                  <a:srgbClr val="00558B"/>
                </a:solidFill>
                <a:latin typeface="Times New Roman"/>
                <a:ea typeface="Times New Roman"/>
                <a:cs typeface="Times New Roman"/>
              </a:rPr>
              <a:t>Current and developing areas of research</a:t>
            </a:r>
          </a:p>
        </p:txBody>
      </p:sp>
      <p:sp>
        <p:nvSpPr>
          <p:cNvPr id="25" name="文字方塊 24">
            <a:extLst>
              <a:ext uri="{FF2B5EF4-FFF2-40B4-BE49-F238E27FC236}">
                <a16:creationId xmlns:a16="http://schemas.microsoft.com/office/drawing/2014/main" id="{099B461B-4619-15EB-36D4-A00148E6DBFB}"/>
              </a:ext>
            </a:extLst>
          </p:cNvPr>
          <p:cNvSpPr txBox="1"/>
          <p:nvPr/>
        </p:nvSpPr>
        <p:spPr>
          <a:xfrm>
            <a:off x="14097000" y="15354"/>
            <a:ext cx="4191000" cy="369332"/>
          </a:xfrm>
          <a:prstGeom prst="rect">
            <a:avLst/>
          </a:prstGeom>
          <a:noFill/>
        </p:spPr>
        <p:txBody>
          <a:bodyPr wrap="square">
            <a:spAutoFit/>
          </a:bodyPr>
          <a:lstStyle/>
          <a:p>
            <a:pPr eaLnBrk="1" fontAlgn="auto" hangingPunct="1"/>
            <a:r>
              <a:rPr lang="en-US" altLang="zh-TW" sz="1800"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rPr>
              <a:t>Department of Sport Medicine Research</a:t>
            </a:r>
            <a:endParaRPr lang="zh-TW" altLang="en-US" sz="1800"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54" name="圖片 53">
            <a:extLst>
              <a:ext uri="{FF2B5EF4-FFF2-40B4-BE49-F238E27FC236}">
                <a16:creationId xmlns:a16="http://schemas.microsoft.com/office/drawing/2014/main" id="{8FDBEA59-E7DD-D09E-5575-B667109B0C5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34522" y="4019415"/>
            <a:ext cx="15173616" cy="6000885"/>
          </a:xfrm>
          <a:prstGeom prst="rect">
            <a:avLst/>
          </a:prstGeom>
        </p:spPr>
      </p:pic>
      <p:sp>
        <p:nvSpPr>
          <p:cNvPr id="11" name="TextBox 8">
            <a:extLst>
              <a:ext uri="{FF2B5EF4-FFF2-40B4-BE49-F238E27FC236}">
                <a16:creationId xmlns:a16="http://schemas.microsoft.com/office/drawing/2014/main" id="{808AD1D2-1DE2-52E8-698F-CB55BBECD353}"/>
              </a:ext>
            </a:extLst>
          </p:cNvPr>
          <p:cNvSpPr txBox="1"/>
          <p:nvPr/>
        </p:nvSpPr>
        <p:spPr>
          <a:xfrm>
            <a:off x="1513740" y="1844040"/>
            <a:ext cx="12828418" cy="1394460"/>
          </a:xfrm>
          <a:prstGeom prst="rect">
            <a:avLst/>
          </a:prstGeom>
        </p:spPr>
        <p:txBody>
          <a:bodyPr lIns="0" tIns="0" rIns="0" bIns="0" rtlCol="0" anchor="ctr"/>
          <a:lstStyle/>
          <a:p>
            <a:pPr algn="l">
              <a:lnSpc>
                <a:spcPts val="4284"/>
              </a:lnSpc>
            </a:pPr>
            <a:r>
              <a:rPr lang="en-US" sz="5400" b="1" dirty="0">
                <a:solidFill>
                  <a:srgbClr val="003366"/>
                </a:solidFill>
                <a:latin typeface="Times New Roman"/>
                <a:ea typeface="Times New Roman"/>
                <a:cs typeface="Times New Roman"/>
                <a:sym typeface="Times New Roman"/>
              </a:rPr>
              <a:t>Research Priorities</a:t>
            </a:r>
          </a:p>
        </p:txBody>
      </p:sp>
      <p:sp>
        <p:nvSpPr>
          <p:cNvPr id="12" name="Freeform 27">
            <a:extLst>
              <a:ext uri="{FF2B5EF4-FFF2-40B4-BE49-F238E27FC236}">
                <a16:creationId xmlns:a16="http://schemas.microsoft.com/office/drawing/2014/main" id="{66A46201-867A-FF8C-31F3-A809D506F0FB}"/>
              </a:ext>
            </a:extLst>
          </p:cNvPr>
          <p:cNvSpPr/>
          <p:nvPr/>
        </p:nvSpPr>
        <p:spPr>
          <a:xfrm>
            <a:off x="799154" y="2252616"/>
            <a:ext cx="455075" cy="455075"/>
          </a:xfrm>
          <a:custGeom>
            <a:avLst/>
            <a:gdLst/>
            <a:ahLst/>
            <a:cxnLst/>
            <a:rect l="l" t="t" r="r" b="b"/>
            <a:pathLst>
              <a:path w="455075" h="455075">
                <a:moveTo>
                  <a:pt x="0" y="0"/>
                </a:moveTo>
                <a:lnTo>
                  <a:pt x="455074" y="0"/>
                </a:lnTo>
                <a:lnTo>
                  <a:pt x="455074" y="455075"/>
                </a:lnTo>
                <a:lnTo>
                  <a:pt x="0" y="4550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955168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5403"/>
            <a:ext cx="18288000" cy="3744230"/>
            <a:chOff x="0" y="0"/>
            <a:chExt cx="24384000" cy="4992306"/>
          </a:xfrm>
        </p:grpSpPr>
        <p:sp>
          <p:nvSpPr>
            <p:cNvPr id="3" name="Freeform 3" descr="一張含有 黑暗, 黑色, 螢幕擷取畫面, 光線 的圖片  AI 產生的內容可能不正確。"/>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3"/>
              <a:stretch>
                <a:fillRect b="-1"/>
              </a:stretch>
            </a:blipFill>
          </p:spPr>
        </p:sp>
      </p:grpSp>
      <p:grpSp>
        <p:nvGrpSpPr>
          <p:cNvPr id="4" name="Group 4"/>
          <p:cNvGrpSpPr/>
          <p:nvPr/>
        </p:nvGrpSpPr>
        <p:grpSpPr>
          <a:xfrm>
            <a:off x="1363408" y="599237"/>
            <a:ext cx="1103243" cy="551059"/>
            <a:chOff x="0" y="0"/>
            <a:chExt cx="1470990" cy="734746"/>
          </a:xfrm>
        </p:grpSpPr>
        <p:sp>
          <p:nvSpPr>
            <p:cNvPr id="5" name="Freeform 5"/>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4"/>
              <a:stretch>
                <a:fillRect t="-221" r="3" b="-226"/>
              </a:stretch>
            </a:blipFill>
          </p:spPr>
        </p:sp>
      </p:grpSp>
      <p:sp>
        <p:nvSpPr>
          <p:cNvPr id="25" name="TextBox 4">
            <a:extLst>
              <a:ext uri="{FF2B5EF4-FFF2-40B4-BE49-F238E27FC236}">
                <a16:creationId xmlns:a16="http://schemas.microsoft.com/office/drawing/2014/main" id="{AE2F91F6-AAB2-BBFE-7DE7-0F141DD16F44}"/>
              </a:ext>
            </a:extLst>
          </p:cNvPr>
          <p:cNvSpPr txBox="1"/>
          <p:nvPr/>
        </p:nvSpPr>
        <p:spPr>
          <a:xfrm>
            <a:off x="1427111" y="2904281"/>
            <a:ext cx="13258800" cy="400110"/>
          </a:xfrm>
          <a:prstGeom prst="rect">
            <a:avLst/>
          </a:prstGeom>
          <a:noFill/>
        </p:spPr>
        <p:txBody>
          <a:bodyPr wrap="square" anchor="ctr">
            <a:spAutoFit/>
          </a:bodyPr>
          <a:lstStyle/>
          <a:p>
            <a:pPr algn="l"/>
            <a:r>
              <a:rPr lang="en-US" sz="2000" b="0" dirty="0">
                <a:solidFill>
                  <a:srgbClr val="5A6870"/>
                </a:solidFill>
                <a:latin typeface="Times New Roman"/>
                <a:cs typeface="Times New Roman"/>
              </a:rPr>
              <a:t>Integrating Information Technology and Sports Science to Build Smart Sports Systems</a:t>
            </a:r>
            <a:endParaRPr sz="2000" dirty="0">
              <a:solidFill>
                <a:srgbClr val="5A6870"/>
              </a:solidFill>
              <a:latin typeface="Times New Roman"/>
              <a:cs typeface="Times New Roman"/>
            </a:endParaRPr>
          </a:p>
        </p:txBody>
      </p:sp>
      <p:sp>
        <p:nvSpPr>
          <p:cNvPr id="26" name="Intro"/>
          <p:cNvSpPr txBox="1"/>
          <p:nvPr/>
        </p:nvSpPr>
        <p:spPr>
          <a:xfrm>
            <a:off x="1371600" y="3520440"/>
            <a:ext cx="9235440" cy="1287532"/>
          </a:xfrm>
          <a:prstGeom prst="rect">
            <a:avLst/>
          </a:prstGeom>
          <a:noFill/>
        </p:spPr>
        <p:txBody>
          <a:bodyPr wrap="square" anchor="t">
            <a:spAutoFit/>
          </a:bodyPr>
          <a:lstStyle/>
          <a:p>
            <a:pPr algn="just">
              <a:lnSpc>
                <a:spcPct val="110000"/>
              </a:lnSpc>
              <a:spcAft>
                <a:spcPts val="0"/>
              </a:spcAft>
              <a:buNone/>
            </a:pPr>
            <a:r>
              <a:rPr b="0" dirty="0">
                <a:solidFill>
                  <a:srgbClr val="333333"/>
                </a:solidFill>
                <a:latin typeface="Times New Roman"/>
                <a:ea typeface="Times New Roman"/>
                <a:cs typeface="Times New Roman"/>
              </a:rPr>
              <a:t>We develop sports technology hardware and software, upgrade existing equipment, and build data systems that bring research results to coaches and athletes. Working with universities, research institutes and industry, we turn training needs into field-ready solutions.</a:t>
            </a:r>
          </a:p>
        </p:txBody>
      </p:sp>
      <p:sp>
        <p:nvSpPr>
          <p:cNvPr id="27" name="Division row 1"/>
          <p:cNvSpPr/>
          <p:nvPr/>
        </p:nvSpPr>
        <p:spPr>
          <a:xfrm>
            <a:off x="1463040" y="5029200"/>
            <a:ext cx="9144000" cy="1325880"/>
          </a:xfrm>
          <a:prstGeom prst="rect">
            <a:avLst/>
          </a:prstGeom>
          <a:solidFill>
            <a:srgbClr val="F3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a:cs typeface="Times New Roman"/>
            </a:endParaRPr>
          </a:p>
        </p:txBody>
      </p:sp>
      <p:sp>
        <p:nvSpPr>
          <p:cNvPr id="28" name="Division block 1"/>
          <p:cNvSpPr/>
          <p:nvPr/>
        </p:nvSpPr>
        <p:spPr>
          <a:xfrm>
            <a:off x="1463040" y="5029200"/>
            <a:ext cx="1325880" cy="1325880"/>
          </a:xfrm>
          <a:prstGeom prst="rect">
            <a:avLst/>
          </a:prstGeom>
          <a:solidFill>
            <a:srgbClr val="0B6B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a:cs typeface="Times New Roman"/>
            </a:endParaRPr>
          </a:p>
        </p:txBody>
      </p:sp>
      <p:pic>
        <p:nvPicPr>
          <p:cNvPr id="29" name="Division icon 1" descr="rnd.png"/>
          <p:cNvPicPr>
            <a:picLocks noChangeAspect="1"/>
          </p:cNvPicPr>
          <p:nvPr/>
        </p:nvPicPr>
        <p:blipFill>
          <a:blip r:embed="rId5"/>
          <a:stretch>
            <a:fillRect/>
          </a:stretch>
        </p:blipFill>
        <p:spPr>
          <a:xfrm>
            <a:off x="1783080" y="5349240"/>
            <a:ext cx="685800" cy="685800"/>
          </a:xfrm>
          <a:prstGeom prst="rect">
            <a:avLst/>
          </a:prstGeom>
        </p:spPr>
      </p:pic>
      <p:sp>
        <p:nvSpPr>
          <p:cNvPr id="31" name="Division row 2"/>
          <p:cNvSpPr/>
          <p:nvPr/>
        </p:nvSpPr>
        <p:spPr>
          <a:xfrm>
            <a:off x="1463040" y="6537960"/>
            <a:ext cx="9144000" cy="1325880"/>
          </a:xfrm>
          <a:prstGeom prst="rect">
            <a:avLst/>
          </a:prstGeom>
          <a:solidFill>
            <a:srgbClr val="F3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a:cs typeface="Times New Roman"/>
            </a:endParaRPr>
          </a:p>
        </p:txBody>
      </p:sp>
      <p:sp>
        <p:nvSpPr>
          <p:cNvPr id="32" name="Division block 2"/>
          <p:cNvSpPr/>
          <p:nvPr/>
        </p:nvSpPr>
        <p:spPr>
          <a:xfrm>
            <a:off x="1463040" y="6537960"/>
            <a:ext cx="1325880" cy="1325880"/>
          </a:xfrm>
          <a:prstGeom prst="rect">
            <a:avLst/>
          </a:prstGeom>
          <a:solidFill>
            <a:srgbClr val="128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a:cs typeface="Times New Roman"/>
            </a:endParaRPr>
          </a:p>
        </p:txBody>
      </p:sp>
      <p:pic>
        <p:nvPicPr>
          <p:cNvPr id="33" name="Division icon 2" descr="collab.png"/>
          <p:cNvPicPr>
            <a:picLocks noChangeAspect="1"/>
          </p:cNvPicPr>
          <p:nvPr/>
        </p:nvPicPr>
        <p:blipFill>
          <a:blip r:embed="rId6"/>
          <a:stretch>
            <a:fillRect/>
          </a:stretch>
        </p:blipFill>
        <p:spPr>
          <a:xfrm>
            <a:off x="1783080" y="6858000"/>
            <a:ext cx="685800" cy="685800"/>
          </a:xfrm>
          <a:prstGeom prst="rect">
            <a:avLst/>
          </a:prstGeom>
        </p:spPr>
      </p:pic>
      <p:sp>
        <p:nvSpPr>
          <p:cNvPr id="35" name="Division row 3"/>
          <p:cNvSpPr/>
          <p:nvPr/>
        </p:nvSpPr>
        <p:spPr>
          <a:xfrm>
            <a:off x="1463040" y="8046720"/>
            <a:ext cx="9144000" cy="1325880"/>
          </a:xfrm>
          <a:prstGeom prst="rect">
            <a:avLst/>
          </a:prstGeom>
          <a:solidFill>
            <a:srgbClr val="F3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a:cs typeface="Times New Roman"/>
            </a:endParaRPr>
          </a:p>
        </p:txBody>
      </p:sp>
      <p:sp>
        <p:nvSpPr>
          <p:cNvPr id="36" name="Division block 3"/>
          <p:cNvSpPr/>
          <p:nvPr/>
        </p:nvSpPr>
        <p:spPr>
          <a:xfrm>
            <a:off x="1463040" y="8046720"/>
            <a:ext cx="1325880" cy="1325880"/>
          </a:xfrm>
          <a:prstGeom prst="rect">
            <a:avLst/>
          </a:prstGeom>
          <a:solidFill>
            <a:srgbClr val="093E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a:cs typeface="Times New Roman"/>
            </a:endParaRPr>
          </a:p>
        </p:txBody>
      </p:sp>
      <p:pic>
        <p:nvPicPr>
          <p:cNvPr id="37" name="Division icon 3" descr="it.png"/>
          <p:cNvPicPr>
            <a:picLocks noChangeAspect="1"/>
          </p:cNvPicPr>
          <p:nvPr/>
        </p:nvPicPr>
        <p:blipFill>
          <a:blip r:embed="rId7"/>
          <a:stretch>
            <a:fillRect/>
          </a:stretch>
        </p:blipFill>
        <p:spPr>
          <a:xfrm>
            <a:off x="1783080" y="8366760"/>
            <a:ext cx="685800" cy="685800"/>
          </a:xfrm>
          <a:prstGeom prst="rect">
            <a:avLst/>
          </a:prstGeom>
        </p:spPr>
      </p:pic>
      <p:pic>
        <p:nvPicPr>
          <p:cNvPr id="39" name="Photo venue" descr="圖片_56.png"/>
          <p:cNvPicPr>
            <a:picLocks noChangeAspect="1"/>
          </p:cNvPicPr>
          <p:nvPr/>
        </p:nvPicPr>
        <p:blipFill>
          <a:blip r:embed="rId8"/>
          <a:srcRect t="17856" b="17856"/>
          <a:stretch>
            <a:fillRect/>
          </a:stretch>
        </p:blipFill>
        <p:spPr>
          <a:xfrm>
            <a:off x="11201400" y="3520440"/>
            <a:ext cx="6446520" cy="3108960"/>
          </a:xfrm>
          <a:prstGeom prst="rect">
            <a:avLst/>
          </a:prstGeom>
        </p:spPr>
      </p:pic>
      <p:pic>
        <p:nvPicPr>
          <p:cNvPr id="40" name="Photo gymnastics" descr="圖片_25.jpg"/>
          <p:cNvPicPr>
            <a:picLocks noChangeAspect="1"/>
          </p:cNvPicPr>
          <p:nvPr/>
        </p:nvPicPr>
        <p:blipFill>
          <a:blip r:embed="rId9"/>
          <a:srcRect t="6108" b="6108"/>
          <a:stretch>
            <a:fillRect/>
          </a:stretch>
        </p:blipFill>
        <p:spPr>
          <a:xfrm>
            <a:off x="11201400" y="6812280"/>
            <a:ext cx="3154680" cy="2606040"/>
          </a:xfrm>
          <a:prstGeom prst="rect">
            <a:avLst/>
          </a:prstGeom>
        </p:spPr>
      </p:pic>
      <p:pic>
        <p:nvPicPr>
          <p:cNvPr id="41" name="Photo pitching" descr="圖片_33.png"/>
          <p:cNvPicPr>
            <a:picLocks noChangeAspect="1"/>
          </p:cNvPicPr>
          <p:nvPr/>
        </p:nvPicPr>
        <p:blipFill>
          <a:blip r:embed="rId10"/>
          <a:srcRect l="15913" r="15913"/>
          <a:stretch>
            <a:fillRect/>
          </a:stretch>
        </p:blipFill>
        <p:spPr>
          <a:xfrm>
            <a:off x="14493240" y="6812280"/>
            <a:ext cx="3154680" cy="2606040"/>
          </a:xfrm>
          <a:prstGeom prst="rect">
            <a:avLst/>
          </a:prstGeom>
        </p:spPr>
      </p:pic>
      <p:sp>
        <p:nvSpPr>
          <p:cNvPr id="11" name="Division text 1">
            <a:extLst>
              <a:ext uri="{FF2B5EF4-FFF2-40B4-BE49-F238E27FC236}">
                <a16:creationId xmlns:a16="http://schemas.microsoft.com/office/drawing/2014/main" id="{C95D2A3E-B4AF-FA79-D7D3-98093E5ACF04}"/>
              </a:ext>
            </a:extLst>
          </p:cNvPr>
          <p:cNvSpPr txBox="1"/>
          <p:nvPr/>
        </p:nvSpPr>
        <p:spPr>
          <a:xfrm>
            <a:off x="3063240" y="5083607"/>
            <a:ext cx="6446520" cy="1061701"/>
          </a:xfrm>
          <a:prstGeom prst="rect">
            <a:avLst/>
          </a:prstGeom>
          <a:noFill/>
        </p:spPr>
        <p:txBody>
          <a:bodyPr wrap="square" anchor="ctr">
            <a:spAutoFit/>
          </a:bodyPr>
          <a:lstStyle/>
          <a:p>
            <a:pPr>
              <a:spcAft>
                <a:spcPts val="267"/>
              </a:spcAft>
            </a:pPr>
            <a:r>
              <a:rPr lang="en-US" altLang="zh-TW" sz="2400" b="1" dirty="0">
                <a:solidFill>
                  <a:srgbClr val="0B6BB5"/>
                </a:solidFill>
                <a:latin typeface="Times New Roman"/>
                <a:cs typeface="Times New Roman"/>
              </a:rPr>
              <a:t>Smart Imaging &amp; Data Division</a:t>
            </a:r>
            <a:endParaRPr lang="en-US" sz="2400" b="1" dirty="0">
              <a:solidFill>
                <a:srgbClr val="0B6BB5"/>
              </a:solidFill>
              <a:latin typeface="Times New Roman"/>
              <a:cs typeface="Times New Roman"/>
            </a:endParaRPr>
          </a:p>
          <a:p>
            <a:pPr>
              <a:lnSpc>
                <a:spcPct val="105000"/>
              </a:lnSpc>
            </a:pPr>
            <a:r>
              <a:rPr lang="en-US" altLang="zh-TW" dirty="0">
                <a:latin typeface="Times New Roman"/>
                <a:cs typeface="Times New Roman"/>
              </a:rPr>
              <a:t>Motion capture and video analysis • Computer vision and AI pose estimation • Performance data visualization</a:t>
            </a:r>
            <a:endParaRPr lang="en-US" dirty="0">
              <a:solidFill>
                <a:srgbClr val="333333"/>
              </a:solidFill>
              <a:latin typeface="Times New Roman"/>
              <a:ea typeface="Times New Roman"/>
              <a:cs typeface="Times New Roman"/>
            </a:endParaRPr>
          </a:p>
        </p:txBody>
      </p:sp>
      <p:sp>
        <p:nvSpPr>
          <p:cNvPr id="12" name="Division text 2">
            <a:extLst>
              <a:ext uri="{FF2B5EF4-FFF2-40B4-BE49-F238E27FC236}">
                <a16:creationId xmlns:a16="http://schemas.microsoft.com/office/drawing/2014/main" id="{51DF0F74-BD5F-8D34-E2D1-711EF30E5D36}"/>
              </a:ext>
            </a:extLst>
          </p:cNvPr>
          <p:cNvSpPr txBox="1"/>
          <p:nvPr/>
        </p:nvSpPr>
        <p:spPr>
          <a:xfrm>
            <a:off x="3108960" y="6599514"/>
            <a:ext cx="8259518" cy="1054135"/>
          </a:xfrm>
          <a:prstGeom prst="rect">
            <a:avLst/>
          </a:prstGeom>
          <a:noFill/>
        </p:spPr>
        <p:txBody>
          <a:bodyPr wrap="square" anchor="ctr">
            <a:spAutoFit/>
          </a:bodyPr>
          <a:lstStyle/>
          <a:p>
            <a:pPr>
              <a:spcAft>
                <a:spcPts val="267"/>
              </a:spcAft>
            </a:pPr>
            <a:r>
              <a:rPr lang="en-US" altLang="zh-TW" sz="2400" b="1" dirty="0">
                <a:solidFill>
                  <a:srgbClr val="128777"/>
                </a:solidFill>
                <a:latin typeface="Times New Roman"/>
                <a:cs typeface="Times New Roman"/>
              </a:rPr>
              <a:t>Information Technology Development Division</a:t>
            </a:r>
          </a:p>
          <a:p>
            <a:pPr>
              <a:spcAft>
                <a:spcPts val="267"/>
              </a:spcAft>
            </a:pPr>
            <a:r>
              <a:rPr lang="en-US" altLang="zh-TW" dirty="0">
                <a:latin typeface="Times New Roman"/>
                <a:cs typeface="Times New Roman"/>
              </a:rPr>
              <a:t>Wearable sensors and smart devices • Embedded hardware and equipment upgrading • Real-time data acquisition</a:t>
            </a:r>
            <a:endParaRPr lang="en-US" sz="1600" dirty="0">
              <a:solidFill>
                <a:srgbClr val="333333"/>
              </a:solidFill>
              <a:latin typeface="Times New Roman"/>
              <a:ea typeface="Times New Roman"/>
              <a:cs typeface="Times New Roman"/>
            </a:endParaRPr>
          </a:p>
        </p:txBody>
      </p:sp>
      <p:sp>
        <p:nvSpPr>
          <p:cNvPr id="13" name="Division text 3">
            <a:extLst>
              <a:ext uri="{FF2B5EF4-FFF2-40B4-BE49-F238E27FC236}">
                <a16:creationId xmlns:a16="http://schemas.microsoft.com/office/drawing/2014/main" id="{64546AD3-F330-4751-9DC9-730FBC54668F}"/>
              </a:ext>
            </a:extLst>
          </p:cNvPr>
          <p:cNvSpPr txBox="1"/>
          <p:nvPr/>
        </p:nvSpPr>
        <p:spPr>
          <a:xfrm>
            <a:off x="3108960" y="8178808"/>
            <a:ext cx="6964785" cy="1061701"/>
          </a:xfrm>
          <a:prstGeom prst="rect">
            <a:avLst/>
          </a:prstGeom>
          <a:noFill/>
        </p:spPr>
        <p:txBody>
          <a:bodyPr wrap="square" anchor="ctr">
            <a:spAutoFit/>
          </a:bodyPr>
          <a:lstStyle/>
          <a:p>
            <a:pPr>
              <a:spcAft>
                <a:spcPts val="267"/>
              </a:spcAft>
            </a:pPr>
            <a:r>
              <a:rPr lang="en-US" altLang="zh-TW" sz="2400" b="1" dirty="0">
                <a:solidFill>
                  <a:schemeClr val="tx2">
                    <a:lumMod val="90000"/>
                    <a:lumOff val="10000"/>
                  </a:schemeClr>
                </a:solidFill>
                <a:latin typeface="Times New Roman"/>
                <a:cs typeface="Times New Roman"/>
              </a:rPr>
              <a:t>IOT&amp; Embedded Systems Division</a:t>
            </a:r>
            <a:endParaRPr sz="2400" b="1" dirty="0">
              <a:solidFill>
                <a:schemeClr val="tx2">
                  <a:lumMod val="90000"/>
                  <a:lumOff val="10000"/>
                </a:schemeClr>
              </a:solidFill>
              <a:latin typeface="Times New Roman"/>
              <a:ea typeface="Times New Roman"/>
              <a:cs typeface="Times New Roman"/>
            </a:endParaRPr>
          </a:p>
          <a:p>
            <a:pPr>
              <a:lnSpc>
                <a:spcPct val="105000"/>
              </a:lnSpc>
            </a:pPr>
            <a:r>
              <a:rPr lang="en-US" altLang="zh-TW" dirty="0">
                <a:latin typeface="Times New Roman"/>
                <a:cs typeface="Times New Roman"/>
              </a:rPr>
              <a:t>Software and systems • Sports science database • Data platform and AI applications</a:t>
            </a:r>
            <a:endParaRPr sz="1600" dirty="0">
              <a:solidFill>
                <a:srgbClr val="333333"/>
              </a:solidFill>
              <a:latin typeface="Times New Roman"/>
              <a:ea typeface="Times New Roman"/>
              <a:cs typeface="Times New Roman"/>
            </a:endParaRPr>
          </a:p>
        </p:txBody>
      </p:sp>
      <p:sp>
        <p:nvSpPr>
          <p:cNvPr id="10" name="TextBox 8">
            <a:extLst>
              <a:ext uri="{FF2B5EF4-FFF2-40B4-BE49-F238E27FC236}">
                <a16:creationId xmlns:a16="http://schemas.microsoft.com/office/drawing/2014/main" id="{AA6213A3-1143-DE38-F376-388759DDC2FD}"/>
              </a:ext>
            </a:extLst>
          </p:cNvPr>
          <p:cNvSpPr txBox="1"/>
          <p:nvPr/>
        </p:nvSpPr>
        <p:spPr>
          <a:xfrm>
            <a:off x="1524000" y="1809206"/>
            <a:ext cx="16240860" cy="1394460"/>
          </a:xfrm>
          <a:prstGeom prst="rect">
            <a:avLst/>
          </a:prstGeom>
        </p:spPr>
        <p:txBody>
          <a:bodyPr lIns="0" tIns="0" rIns="0" bIns="0" rtlCol="0" anchor="ctr"/>
          <a:lstStyle/>
          <a:p>
            <a:pPr algn="l">
              <a:lnSpc>
                <a:spcPts val="4284"/>
              </a:lnSpc>
            </a:pPr>
            <a:r>
              <a:rPr lang="en-US" sz="4400" b="1" dirty="0">
                <a:solidFill>
                  <a:srgbClr val="003366"/>
                </a:solidFill>
                <a:latin typeface="Times New Roman"/>
                <a:ea typeface="Times New Roman"/>
                <a:cs typeface="Times New Roman"/>
                <a:sym typeface="Times New Roman"/>
              </a:rPr>
              <a:t>Department of Sports Technology &amp; Information Development</a:t>
            </a:r>
          </a:p>
        </p:txBody>
      </p:sp>
      <p:sp>
        <p:nvSpPr>
          <p:cNvPr id="14" name="Freeform 27">
            <a:extLst>
              <a:ext uri="{FF2B5EF4-FFF2-40B4-BE49-F238E27FC236}">
                <a16:creationId xmlns:a16="http://schemas.microsoft.com/office/drawing/2014/main" id="{C216C50C-93D2-8792-B620-5B906709F1B9}"/>
              </a:ext>
            </a:extLst>
          </p:cNvPr>
          <p:cNvSpPr/>
          <p:nvPr/>
        </p:nvSpPr>
        <p:spPr>
          <a:xfrm>
            <a:off x="799154" y="2252616"/>
            <a:ext cx="455075" cy="455075"/>
          </a:xfrm>
          <a:custGeom>
            <a:avLst/>
            <a:gdLst/>
            <a:ahLst/>
            <a:cxnLst/>
            <a:rect l="l" t="t" r="r" b="b"/>
            <a:pathLst>
              <a:path w="455075" h="455075">
                <a:moveTo>
                  <a:pt x="0" y="0"/>
                </a:moveTo>
                <a:lnTo>
                  <a:pt x="455074" y="0"/>
                </a:lnTo>
                <a:lnTo>
                  <a:pt x="455074" y="455075"/>
                </a:lnTo>
                <a:lnTo>
                  <a:pt x="0" y="45507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Tree>
    <p:extLst>
      <p:ext uri="{BB962C8B-B14F-4D97-AF65-F5344CB8AC3E}">
        <p14:creationId xmlns:p14="http://schemas.microsoft.com/office/powerpoint/2010/main" val="1437964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363408" y="599237"/>
            <a:ext cx="1103243" cy="551059"/>
            <a:chOff x="0" y="0"/>
            <a:chExt cx="1470990" cy="734746"/>
          </a:xfrm>
        </p:grpSpPr>
        <p:sp>
          <p:nvSpPr>
            <p:cNvPr id="5" name="Freeform 5"/>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3"/>
              <a:stretch>
                <a:fillRect t="-221" r="3" b="-226"/>
              </a:stretch>
            </a:blipFill>
          </p:spPr>
        </p:sp>
      </p:grpSp>
      <p:sp>
        <p:nvSpPr>
          <p:cNvPr id="10" name="矩形 9">
            <a:extLst>
              <a:ext uri="{FF2B5EF4-FFF2-40B4-BE49-F238E27FC236}">
                <a16:creationId xmlns:a16="http://schemas.microsoft.com/office/drawing/2014/main" id="{1CBB8C55-3FA2-5E8E-DDA5-1F92D58C424C}"/>
              </a:ext>
            </a:extLst>
          </p:cNvPr>
          <p:cNvSpPr>
            <a:spLocks noGrp="1"/>
          </p:cNvSpPr>
          <p:nvPr/>
        </p:nvSpPr>
        <p:spPr>
          <a:xfrm>
            <a:off x="1479103" y="3259704"/>
            <a:ext cx="12801600" cy="419100"/>
          </a:xfrm>
          <a:prstGeom prst="rect">
            <a:avLst/>
          </a:prstGeom>
          <a:noFill/>
          <a:ln w="0">
            <a:noFill/>
          </a:ln>
        </p:spPr>
        <p:txBody>
          <a:bodyPr>
            <a:noAutofit/>
          </a:bodyPr>
          <a:lstStyle/>
          <a:p>
            <a:pPr>
              <a:defRPr sz="2250" b="1">
                <a:solidFill>
                  <a:srgbClr val="00558B"/>
                </a:solidFill>
                <a:latin typeface="Times New Roman"/>
                <a:ea typeface="Times New Roman"/>
                <a:cs typeface="Times New Roman"/>
              </a:defRPr>
            </a:pPr>
            <a:r>
              <a:rPr lang="en-US" sz="2800" b="1" dirty="0">
                <a:solidFill>
                  <a:srgbClr val="00558B"/>
                </a:solidFill>
                <a:latin typeface="Times New Roman"/>
                <a:ea typeface="Times New Roman"/>
                <a:cs typeface="Times New Roman"/>
              </a:rPr>
              <a:t>Technologies we develop to support coaches and athletes</a:t>
            </a:r>
          </a:p>
        </p:txBody>
      </p:sp>
      <p:sp>
        <p:nvSpPr>
          <p:cNvPr id="26" name="Area card 1"/>
          <p:cNvSpPr/>
          <p:nvPr/>
        </p:nvSpPr>
        <p:spPr>
          <a:xfrm>
            <a:off x="1463040" y="4023360"/>
            <a:ext cx="5166360" cy="1691640"/>
          </a:xfrm>
          <a:prstGeom prst="roundRect">
            <a:avLst>
              <a:gd name="adj" fmla="val 8000"/>
            </a:avLst>
          </a:prstGeom>
          <a:solidFill>
            <a:srgbClr val="FFFFFF"/>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Area icon 1"/>
          <p:cNvSpPr/>
          <p:nvPr/>
        </p:nvSpPr>
        <p:spPr>
          <a:xfrm>
            <a:off x="1691640" y="4434840"/>
            <a:ext cx="868680" cy="868680"/>
          </a:xfrm>
          <a:prstGeom prst="ellipse">
            <a:avLst/>
          </a:prstGeom>
          <a:solidFill>
            <a:srgbClr val="0B6B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Area icon 1 icon" descr="venue.png"/>
          <p:cNvPicPr>
            <a:picLocks noChangeAspect="1"/>
          </p:cNvPicPr>
          <p:nvPr/>
        </p:nvPicPr>
        <p:blipFill>
          <a:blip r:embed="rId4"/>
          <a:stretch>
            <a:fillRect/>
          </a:stretch>
        </p:blipFill>
        <p:spPr>
          <a:xfrm>
            <a:off x="1882749" y="4625949"/>
            <a:ext cx="486460" cy="486460"/>
          </a:xfrm>
          <a:prstGeom prst="rect">
            <a:avLst/>
          </a:prstGeom>
        </p:spPr>
      </p:pic>
      <p:sp>
        <p:nvSpPr>
          <p:cNvPr id="29" name="Area text 1"/>
          <p:cNvSpPr txBox="1"/>
          <p:nvPr/>
        </p:nvSpPr>
        <p:spPr>
          <a:xfrm>
            <a:off x="2743200" y="4186494"/>
            <a:ext cx="3749040" cy="1365374"/>
          </a:xfrm>
          <a:prstGeom prst="rect">
            <a:avLst/>
          </a:prstGeom>
          <a:noFill/>
        </p:spPr>
        <p:txBody>
          <a:bodyPr wrap="square" anchor="ctr">
            <a:spAutoFit/>
          </a:bodyPr>
          <a:lstStyle/>
          <a:p>
            <a:pPr algn="l">
              <a:lnSpc>
                <a:spcPct val="100000"/>
              </a:lnSpc>
              <a:spcAft>
                <a:spcPts val="400"/>
              </a:spcAft>
              <a:buNone/>
            </a:pPr>
            <a:r>
              <a:rPr sz="2400" b="1" dirty="0">
                <a:solidFill>
                  <a:srgbClr val="1F5C8C"/>
                </a:solidFill>
                <a:latin typeface="Times New Roman"/>
                <a:ea typeface="Times New Roman"/>
                <a:cs typeface="Times New Roman"/>
              </a:rPr>
              <a:t>Smart Training Venues</a:t>
            </a:r>
          </a:p>
          <a:p>
            <a:pPr algn="l">
              <a:lnSpc>
                <a:spcPct val="105000"/>
              </a:lnSpc>
              <a:spcAft>
                <a:spcPts val="0"/>
              </a:spcAft>
              <a:buNone/>
            </a:pPr>
            <a:r>
              <a:rPr b="0" dirty="0">
                <a:solidFill>
                  <a:srgbClr val="333333"/>
                </a:solidFill>
                <a:latin typeface="Times New Roman"/>
                <a:ea typeface="Times New Roman"/>
                <a:cs typeface="Times New Roman"/>
              </a:rPr>
              <a:t>Technology-enabled baseball field and local positioning systems with live data and video feedback</a:t>
            </a:r>
          </a:p>
        </p:txBody>
      </p:sp>
      <p:sp>
        <p:nvSpPr>
          <p:cNvPr id="30" name="Area card 2"/>
          <p:cNvSpPr/>
          <p:nvPr/>
        </p:nvSpPr>
        <p:spPr>
          <a:xfrm>
            <a:off x="6949440" y="4023360"/>
            <a:ext cx="5166360" cy="1691640"/>
          </a:xfrm>
          <a:prstGeom prst="roundRect">
            <a:avLst>
              <a:gd name="adj" fmla="val 8000"/>
            </a:avLst>
          </a:prstGeom>
          <a:solidFill>
            <a:srgbClr val="FFFFFF"/>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Area icon 2"/>
          <p:cNvSpPr/>
          <p:nvPr/>
        </p:nvSpPr>
        <p:spPr>
          <a:xfrm>
            <a:off x="7178040" y="4434840"/>
            <a:ext cx="868680" cy="868680"/>
          </a:xfrm>
          <a:prstGeom prst="ellipse">
            <a:avLst/>
          </a:prstGeom>
          <a:solidFill>
            <a:srgbClr val="128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Area icon 2 icon" descr="ai.png"/>
          <p:cNvPicPr>
            <a:picLocks noChangeAspect="1"/>
          </p:cNvPicPr>
          <p:nvPr/>
        </p:nvPicPr>
        <p:blipFill>
          <a:blip r:embed="rId5"/>
          <a:stretch>
            <a:fillRect/>
          </a:stretch>
        </p:blipFill>
        <p:spPr>
          <a:xfrm>
            <a:off x="7369149" y="4625949"/>
            <a:ext cx="486460" cy="486460"/>
          </a:xfrm>
          <a:prstGeom prst="rect">
            <a:avLst/>
          </a:prstGeom>
        </p:spPr>
      </p:pic>
      <p:sp>
        <p:nvSpPr>
          <p:cNvPr id="33" name="Area text 2"/>
          <p:cNvSpPr txBox="1"/>
          <p:nvPr/>
        </p:nvSpPr>
        <p:spPr>
          <a:xfrm>
            <a:off x="8229600" y="4186494"/>
            <a:ext cx="3749040" cy="1365374"/>
          </a:xfrm>
          <a:prstGeom prst="rect">
            <a:avLst/>
          </a:prstGeom>
          <a:noFill/>
        </p:spPr>
        <p:txBody>
          <a:bodyPr wrap="square" anchor="ctr">
            <a:spAutoFit/>
          </a:bodyPr>
          <a:lstStyle/>
          <a:p>
            <a:pPr algn="l">
              <a:lnSpc>
                <a:spcPct val="100000"/>
              </a:lnSpc>
              <a:spcAft>
                <a:spcPts val="400"/>
              </a:spcAft>
              <a:buNone/>
            </a:pPr>
            <a:r>
              <a:rPr sz="2400" b="1" dirty="0">
                <a:solidFill>
                  <a:srgbClr val="1F5C8C"/>
                </a:solidFill>
                <a:latin typeface="Times New Roman"/>
                <a:ea typeface="Times New Roman"/>
                <a:cs typeface="Times New Roman"/>
              </a:rPr>
              <a:t>AI-Assisted Training</a:t>
            </a:r>
          </a:p>
          <a:p>
            <a:pPr algn="l">
              <a:lnSpc>
                <a:spcPct val="105000"/>
              </a:lnSpc>
              <a:spcAft>
                <a:spcPts val="0"/>
              </a:spcAft>
              <a:buNone/>
            </a:pPr>
            <a:r>
              <a:rPr b="0" dirty="0">
                <a:solidFill>
                  <a:srgbClr val="333333"/>
                </a:solidFill>
                <a:latin typeface="Times New Roman"/>
                <a:ea typeface="Times New Roman"/>
                <a:cs typeface="Times New Roman"/>
              </a:rPr>
              <a:t>AI gymnastics coaching, an archery robot and a smart weightlifting training system</a:t>
            </a:r>
          </a:p>
        </p:txBody>
      </p:sp>
      <p:sp>
        <p:nvSpPr>
          <p:cNvPr id="34" name="Area card 3"/>
          <p:cNvSpPr/>
          <p:nvPr/>
        </p:nvSpPr>
        <p:spPr>
          <a:xfrm>
            <a:off x="1463040" y="5943600"/>
            <a:ext cx="5166360" cy="1691640"/>
          </a:xfrm>
          <a:prstGeom prst="roundRect">
            <a:avLst>
              <a:gd name="adj" fmla="val 8000"/>
            </a:avLst>
          </a:prstGeom>
          <a:solidFill>
            <a:srgbClr val="FFFFFF"/>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Area icon 3"/>
          <p:cNvSpPr/>
          <p:nvPr/>
        </p:nvSpPr>
        <p:spPr>
          <a:xfrm>
            <a:off x="1691640" y="6355080"/>
            <a:ext cx="868680" cy="868680"/>
          </a:xfrm>
          <a:prstGeom prst="ellipse">
            <a:avLst/>
          </a:prstGeom>
          <a:solidFill>
            <a:srgbClr val="093E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Area icon 3 icon" descr="video.png"/>
          <p:cNvPicPr>
            <a:picLocks noChangeAspect="1"/>
          </p:cNvPicPr>
          <p:nvPr/>
        </p:nvPicPr>
        <p:blipFill>
          <a:blip r:embed="rId6"/>
          <a:stretch>
            <a:fillRect/>
          </a:stretch>
        </p:blipFill>
        <p:spPr>
          <a:xfrm>
            <a:off x="1882749" y="6546189"/>
            <a:ext cx="486460" cy="486460"/>
          </a:xfrm>
          <a:prstGeom prst="rect">
            <a:avLst/>
          </a:prstGeom>
        </p:spPr>
      </p:pic>
      <p:sp>
        <p:nvSpPr>
          <p:cNvPr id="37" name="Area text 3"/>
          <p:cNvSpPr txBox="1"/>
          <p:nvPr/>
        </p:nvSpPr>
        <p:spPr>
          <a:xfrm>
            <a:off x="2743200" y="6252159"/>
            <a:ext cx="3749040" cy="1074525"/>
          </a:xfrm>
          <a:prstGeom prst="rect">
            <a:avLst/>
          </a:prstGeom>
          <a:noFill/>
        </p:spPr>
        <p:txBody>
          <a:bodyPr wrap="square" anchor="ctr">
            <a:spAutoFit/>
          </a:bodyPr>
          <a:lstStyle/>
          <a:p>
            <a:pPr algn="l">
              <a:lnSpc>
                <a:spcPct val="100000"/>
              </a:lnSpc>
              <a:spcAft>
                <a:spcPts val="400"/>
              </a:spcAft>
              <a:buNone/>
            </a:pPr>
            <a:r>
              <a:rPr sz="2400" b="1" dirty="0">
                <a:solidFill>
                  <a:srgbClr val="1F5C8C"/>
                </a:solidFill>
                <a:latin typeface="Times New Roman"/>
                <a:ea typeface="Times New Roman"/>
                <a:cs typeface="Times New Roman"/>
              </a:rPr>
              <a:t>Motion &amp; Video Analysis</a:t>
            </a:r>
          </a:p>
          <a:p>
            <a:pPr algn="l">
              <a:lnSpc>
                <a:spcPct val="105000"/>
              </a:lnSpc>
              <a:spcAft>
                <a:spcPts val="0"/>
              </a:spcAft>
              <a:buNone/>
            </a:pPr>
            <a:r>
              <a:rPr b="0" dirty="0">
                <a:solidFill>
                  <a:srgbClr val="333333"/>
                </a:solidFill>
                <a:latin typeface="Times New Roman"/>
                <a:ea typeface="Times New Roman"/>
                <a:cs typeface="Times New Roman"/>
              </a:rPr>
              <a:t>Video-based technique analysis</a:t>
            </a:r>
            <a:r>
              <a:rPr lang="zh-TW" altLang="en-US" dirty="0">
                <a:solidFill>
                  <a:srgbClr val="333333"/>
                </a:solidFill>
                <a:latin typeface="Times New Roman"/>
                <a:ea typeface="Times New Roman"/>
                <a:cs typeface="Times New Roman"/>
              </a:rPr>
              <a:t> </a:t>
            </a:r>
            <a:r>
              <a:rPr b="0" dirty="0">
                <a:solidFill>
                  <a:srgbClr val="333333"/>
                </a:solidFill>
                <a:latin typeface="Times New Roman"/>
                <a:ea typeface="Times New Roman"/>
                <a:cs typeface="Times New Roman"/>
              </a:rPr>
              <a:t>and automated video tagging</a:t>
            </a:r>
          </a:p>
        </p:txBody>
      </p:sp>
      <p:sp>
        <p:nvSpPr>
          <p:cNvPr id="38" name="Area card 4"/>
          <p:cNvSpPr/>
          <p:nvPr/>
        </p:nvSpPr>
        <p:spPr>
          <a:xfrm>
            <a:off x="6949440" y="5943600"/>
            <a:ext cx="5166360" cy="1691640"/>
          </a:xfrm>
          <a:prstGeom prst="roundRect">
            <a:avLst>
              <a:gd name="adj" fmla="val 8000"/>
            </a:avLst>
          </a:prstGeom>
          <a:solidFill>
            <a:srgbClr val="FFFFFF"/>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Area icon 4"/>
          <p:cNvSpPr/>
          <p:nvPr/>
        </p:nvSpPr>
        <p:spPr>
          <a:xfrm>
            <a:off x="7178040" y="6355080"/>
            <a:ext cx="868680" cy="868680"/>
          </a:xfrm>
          <a:prstGeom prst="ellipse">
            <a:avLst/>
          </a:prstGeom>
          <a:solidFill>
            <a:srgbClr val="0B6B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Area icon 4 icon" descr="scout.png"/>
          <p:cNvPicPr>
            <a:picLocks noChangeAspect="1"/>
          </p:cNvPicPr>
          <p:nvPr/>
        </p:nvPicPr>
        <p:blipFill>
          <a:blip r:embed="rId7"/>
          <a:stretch>
            <a:fillRect/>
          </a:stretch>
        </p:blipFill>
        <p:spPr>
          <a:xfrm>
            <a:off x="7369149" y="6546189"/>
            <a:ext cx="486460" cy="486460"/>
          </a:xfrm>
          <a:prstGeom prst="rect">
            <a:avLst/>
          </a:prstGeom>
        </p:spPr>
      </p:pic>
      <p:sp>
        <p:nvSpPr>
          <p:cNvPr id="41" name="Area text 4"/>
          <p:cNvSpPr txBox="1"/>
          <p:nvPr/>
        </p:nvSpPr>
        <p:spPr>
          <a:xfrm>
            <a:off x="8229600" y="5922067"/>
            <a:ext cx="3749040" cy="1734706"/>
          </a:xfrm>
          <a:prstGeom prst="rect">
            <a:avLst/>
          </a:prstGeom>
          <a:noFill/>
        </p:spPr>
        <p:txBody>
          <a:bodyPr wrap="square" anchor="ctr">
            <a:spAutoFit/>
          </a:bodyPr>
          <a:lstStyle/>
          <a:p>
            <a:pPr algn="l">
              <a:lnSpc>
                <a:spcPct val="100000"/>
              </a:lnSpc>
              <a:spcAft>
                <a:spcPts val="400"/>
              </a:spcAft>
              <a:buNone/>
            </a:pPr>
            <a:r>
              <a:rPr sz="2400" b="1" dirty="0">
                <a:solidFill>
                  <a:srgbClr val="1F5C8C"/>
                </a:solidFill>
                <a:latin typeface="Times New Roman"/>
                <a:ea typeface="Times New Roman"/>
                <a:cs typeface="Times New Roman"/>
              </a:rPr>
              <a:t>Scouting &amp; Competition Analysis</a:t>
            </a:r>
          </a:p>
          <a:p>
            <a:pPr algn="l">
              <a:lnSpc>
                <a:spcPct val="105000"/>
              </a:lnSpc>
              <a:spcAft>
                <a:spcPts val="0"/>
              </a:spcAft>
              <a:buNone/>
            </a:pPr>
            <a:r>
              <a:rPr b="0" dirty="0">
                <a:solidFill>
                  <a:srgbClr val="333333"/>
                </a:solidFill>
                <a:latin typeface="Times New Roman"/>
                <a:ea typeface="Times New Roman"/>
                <a:cs typeface="Times New Roman"/>
              </a:rPr>
              <a:t>Game recording apps and automated match-video collection for tactical insight</a:t>
            </a:r>
          </a:p>
        </p:txBody>
      </p:sp>
      <p:sp>
        <p:nvSpPr>
          <p:cNvPr id="42" name="Area card 5"/>
          <p:cNvSpPr/>
          <p:nvPr/>
        </p:nvSpPr>
        <p:spPr>
          <a:xfrm>
            <a:off x="1463040" y="7863840"/>
            <a:ext cx="5166360" cy="1691640"/>
          </a:xfrm>
          <a:prstGeom prst="roundRect">
            <a:avLst>
              <a:gd name="adj" fmla="val 8000"/>
            </a:avLst>
          </a:prstGeom>
          <a:solidFill>
            <a:srgbClr val="FFFFFF"/>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Area icon 5"/>
          <p:cNvSpPr/>
          <p:nvPr/>
        </p:nvSpPr>
        <p:spPr>
          <a:xfrm>
            <a:off x="1691640" y="8275320"/>
            <a:ext cx="868680" cy="868680"/>
          </a:xfrm>
          <a:prstGeom prst="ellipse">
            <a:avLst/>
          </a:prstGeom>
          <a:solidFill>
            <a:srgbClr val="128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Area icon 5 icon" descr="data.png"/>
          <p:cNvPicPr>
            <a:picLocks noChangeAspect="1"/>
          </p:cNvPicPr>
          <p:nvPr/>
        </p:nvPicPr>
        <p:blipFill>
          <a:blip r:embed="rId8"/>
          <a:stretch>
            <a:fillRect/>
          </a:stretch>
        </p:blipFill>
        <p:spPr>
          <a:xfrm>
            <a:off x="1882749" y="8466429"/>
            <a:ext cx="486460" cy="486460"/>
          </a:xfrm>
          <a:prstGeom prst="rect">
            <a:avLst/>
          </a:prstGeom>
        </p:spPr>
      </p:pic>
      <p:sp>
        <p:nvSpPr>
          <p:cNvPr id="45" name="Area text 5"/>
          <p:cNvSpPr txBox="1"/>
          <p:nvPr/>
        </p:nvSpPr>
        <p:spPr>
          <a:xfrm>
            <a:off x="2743200" y="8026974"/>
            <a:ext cx="3749040" cy="1365374"/>
          </a:xfrm>
          <a:prstGeom prst="rect">
            <a:avLst/>
          </a:prstGeom>
          <a:noFill/>
        </p:spPr>
        <p:txBody>
          <a:bodyPr wrap="square" anchor="ctr">
            <a:spAutoFit/>
          </a:bodyPr>
          <a:lstStyle/>
          <a:p>
            <a:pPr algn="l">
              <a:lnSpc>
                <a:spcPct val="100000"/>
              </a:lnSpc>
              <a:spcAft>
                <a:spcPts val="400"/>
              </a:spcAft>
              <a:buNone/>
            </a:pPr>
            <a:r>
              <a:rPr sz="2400" b="1" dirty="0">
                <a:solidFill>
                  <a:srgbClr val="1F5C8C"/>
                </a:solidFill>
                <a:latin typeface="Times New Roman"/>
                <a:ea typeface="Times New Roman"/>
                <a:cs typeface="Times New Roman"/>
              </a:rPr>
              <a:t>Sports Data Platform</a:t>
            </a:r>
          </a:p>
          <a:p>
            <a:pPr algn="l">
              <a:lnSpc>
                <a:spcPct val="105000"/>
              </a:lnSpc>
              <a:spcAft>
                <a:spcPts val="0"/>
              </a:spcAft>
              <a:buNone/>
            </a:pPr>
            <a:r>
              <a:rPr b="0" dirty="0">
                <a:solidFill>
                  <a:srgbClr val="333333"/>
                </a:solidFill>
                <a:latin typeface="Times New Roman"/>
                <a:ea typeface="Times New Roman"/>
                <a:cs typeface="Times New Roman"/>
              </a:rPr>
              <a:t>Athlete database integrating training, testing and competition data with consent management</a:t>
            </a:r>
          </a:p>
        </p:txBody>
      </p:sp>
      <p:sp>
        <p:nvSpPr>
          <p:cNvPr id="46" name="Area card 6"/>
          <p:cNvSpPr/>
          <p:nvPr/>
        </p:nvSpPr>
        <p:spPr>
          <a:xfrm>
            <a:off x="6949440" y="7863840"/>
            <a:ext cx="5166360" cy="1691640"/>
          </a:xfrm>
          <a:prstGeom prst="roundRect">
            <a:avLst>
              <a:gd name="adj" fmla="val 8000"/>
            </a:avLst>
          </a:prstGeom>
          <a:solidFill>
            <a:srgbClr val="FFFFFF"/>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Area icon 6"/>
          <p:cNvSpPr/>
          <p:nvPr/>
        </p:nvSpPr>
        <p:spPr>
          <a:xfrm>
            <a:off x="7178040" y="8275320"/>
            <a:ext cx="868680" cy="868680"/>
          </a:xfrm>
          <a:prstGeom prst="ellipse">
            <a:avLst/>
          </a:prstGeom>
          <a:solidFill>
            <a:srgbClr val="093E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Area icon 6 icon" descr="equip.png"/>
          <p:cNvPicPr>
            <a:picLocks noChangeAspect="1"/>
          </p:cNvPicPr>
          <p:nvPr/>
        </p:nvPicPr>
        <p:blipFill>
          <a:blip r:embed="rId9"/>
          <a:stretch>
            <a:fillRect/>
          </a:stretch>
        </p:blipFill>
        <p:spPr>
          <a:xfrm>
            <a:off x="7369149" y="8466429"/>
            <a:ext cx="486460" cy="486460"/>
          </a:xfrm>
          <a:prstGeom prst="rect">
            <a:avLst/>
          </a:prstGeom>
        </p:spPr>
      </p:pic>
      <p:sp>
        <p:nvSpPr>
          <p:cNvPr id="49" name="Area text 6"/>
          <p:cNvSpPr txBox="1"/>
          <p:nvPr/>
        </p:nvSpPr>
        <p:spPr>
          <a:xfrm>
            <a:off x="8229600" y="7987733"/>
            <a:ext cx="3749040" cy="1443857"/>
          </a:xfrm>
          <a:prstGeom prst="rect">
            <a:avLst/>
          </a:prstGeom>
          <a:noFill/>
        </p:spPr>
        <p:txBody>
          <a:bodyPr wrap="square" anchor="ctr">
            <a:spAutoFit/>
          </a:bodyPr>
          <a:lstStyle/>
          <a:p>
            <a:pPr algn="l">
              <a:lnSpc>
                <a:spcPct val="100000"/>
              </a:lnSpc>
              <a:spcAft>
                <a:spcPts val="400"/>
              </a:spcAft>
              <a:buNone/>
            </a:pPr>
            <a:r>
              <a:rPr sz="2400" b="1" dirty="0">
                <a:solidFill>
                  <a:srgbClr val="1F5C8C"/>
                </a:solidFill>
                <a:latin typeface="Times New Roman"/>
                <a:ea typeface="Times New Roman"/>
                <a:cs typeface="Times New Roman"/>
              </a:rPr>
              <a:t>Smart Training Equipment</a:t>
            </a:r>
          </a:p>
          <a:p>
            <a:pPr algn="l">
              <a:lnSpc>
                <a:spcPct val="105000"/>
              </a:lnSpc>
              <a:spcAft>
                <a:spcPts val="0"/>
              </a:spcAft>
              <a:buNone/>
            </a:pPr>
            <a:r>
              <a:rPr b="0" dirty="0">
                <a:solidFill>
                  <a:srgbClr val="333333"/>
                </a:solidFill>
                <a:latin typeface="Times New Roman"/>
                <a:ea typeface="Times New Roman"/>
                <a:cs typeface="Times New Roman"/>
              </a:rPr>
              <a:t>Smart pitching machine</a:t>
            </a:r>
            <a:r>
              <a:rPr lang="en-US" dirty="0">
                <a:solidFill>
                  <a:srgbClr val="333333"/>
                </a:solidFill>
                <a:latin typeface="Times New Roman"/>
                <a:ea typeface="Times New Roman"/>
                <a:cs typeface="Times New Roman"/>
              </a:rPr>
              <a:t> and</a:t>
            </a:r>
            <a:r>
              <a:rPr lang="zh-TW" altLang="en-US" b="0" dirty="0">
                <a:solidFill>
                  <a:srgbClr val="333333"/>
                </a:solidFill>
                <a:latin typeface="Times New Roman"/>
                <a:ea typeface="Times New Roman"/>
                <a:cs typeface="Times New Roman"/>
              </a:rPr>
              <a:t> </a:t>
            </a:r>
            <a:r>
              <a:rPr lang="en-US" altLang="zh-TW" b="0" dirty="0">
                <a:solidFill>
                  <a:srgbClr val="333333"/>
                </a:solidFill>
                <a:latin typeface="Times New Roman"/>
                <a:ea typeface="Times New Roman"/>
                <a:cs typeface="Times New Roman"/>
              </a:rPr>
              <a:t>javelin </a:t>
            </a:r>
            <a:r>
              <a:rPr b="0" dirty="0">
                <a:solidFill>
                  <a:srgbClr val="333333"/>
                </a:solidFill>
                <a:latin typeface="Times New Roman"/>
                <a:ea typeface="Times New Roman"/>
                <a:cs typeface="Times New Roman"/>
              </a:rPr>
              <a:t>throwing platform</a:t>
            </a:r>
          </a:p>
        </p:txBody>
      </p:sp>
      <p:pic>
        <p:nvPicPr>
          <p:cNvPr id="50" name="Photo app" descr="圖片_48.png"/>
          <p:cNvPicPr>
            <a:picLocks noChangeAspect="1"/>
          </p:cNvPicPr>
          <p:nvPr/>
        </p:nvPicPr>
        <p:blipFill>
          <a:blip r:embed="rId10"/>
          <a:srcRect t="15197" b="15197"/>
          <a:stretch>
            <a:fillRect/>
          </a:stretch>
        </p:blipFill>
        <p:spPr>
          <a:xfrm>
            <a:off x="12573000" y="4023360"/>
            <a:ext cx="5074920" cy="2651760"/>
          </a:xfrm>
          <a:prstGeom prst="rect">
            <a:avLst/>
          </a:prstGeom>
        </p:spPr>
      </p:pic>
      <p:sp>
        <p:nvSpPr>
          <p:cNvPr id="51" name="Photo app caption"/>
          <p:cNvSpPr/>
          <p:nvPr/>
        </p:nvSpPr>
        <p:spPr>
          <a:xfrm>
            <a:off x="12573000" y="6172200"/>
            <a:ext cx="5074920" cy="502920"/>
          </a:xfrm>
          <a:prstGeom prst="rect">
            <a:avLst/>
          </a:prstGeom>
          <a:solidFill>
            <a:srgbClr val="093E68">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 rIns="182880" bIns="18288" rtlCol="0" anchor="ctr"/>
          <a:lstStyle/>
          <a:p>
            <a:pPr algn="l">
              <a:lnSpc>
                <a:spcPct val="100000"/>
              </a:lnSpc>
              <a:spcAft>
                <a:spcPts val="0"/>
              </a:spcAft>
              <a:buNone/>
            </a:pPr>
            <a:r>
              <a:rPr sz="1500" b="0">
                <a:solidFill>
                  <a:srgbClr val="FFFFFF"/>
                </a:solidFill>
                <a:latin typeface="Times New Roman"/>
                <a:ea typeface="Times New Roman"/>
                <a:cs typeface="Times New Roman"/>
              </a:rPr>
              <a:t>Baseball game recording app</a:t>
            </a:r>
          </a:p>
        </p:txBody>
      </p:sp>
      <p:pic>
        <p:nvPicPr>
          <p:cNvPr id="52" name="Photo throwing" descr="圖片_28.jpg"/>
          <p:cNvPicPr>
            <a:picLocks noChangeAspect="1"/>
          </p:cNvPicPr>
          <p:nvPr/>
        </p:nvPicPr>
        <p:blipFill>
          <a:blip r:embed="rId11"/>
          <a:srcRect t="23107" b="23107"/>
          <a:stretch>
            <a:fillRect/>
          </a:stretch>
        </p:blipFill>
        <p:spPr>
          <a:xfrm>
            <a:off x="12573000" y="6858000"/>
            <a:ext cx="5074920" cy="2651760"/>
          </a:xfrm>
          <a:prstGeom prst="rect">
            <a:avLst/>
          </a:prstGeom>
        </p:spPr>
      </p:pic>
      <p:sp>
        <p:nvSpPr>
          <p:cNvPr id="53" name="Photo throwing caption"/>
          <p:cNvSpPr/>
          <p:nvPr/>
        </p:nvSpPr>
        <p:spPr>
          <a:xfrm>
            <a:off x="12573000" y="9006840"/>
            <a:ext cx="5074920" cy="502920"/>
          </a:xfrm>
          <a:prstGeom prst="rect">
            <a:avLst/>
          </a:prstGeom>
          <a:solidFill>
            <a:srgbClr val="093E68">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 rIns="182880" bIns="18288" rtlCol="0" anchor="ctr"/>
          <a:lstStyle/>
          <a:p>
            <a:pPr algn="l">
              <a:lnSpc>
                <a:spcPct val="100000"/>
              </a:lnSpc>
              <a:spcAft>
                <a:spcPts val="0"/>
              </a:spcAft>
              <a:buNone/>
            </a:pPr>
            <a:r>
              <a:rPr lang="en-US" sz="1500" b="0" dirty="0">
                <a:solidFill>
                  <a:srgbClr val="FFFFFF"/>
                </a:solidFill>
                <a:latin typeface="Times New Roman"/>
                <a:ea typeface="Times New Roman"/>
                <a:cs typeface="Times New Roman"/>
              </a:rPr>
              <a:t>Javelin t</a:t>
            </a:r>
            <a:r>
              <a:rPr sz="1500" b="0" dirty="0">
                <a:solidFill>
                  <a:srgbClr val="FFFFFF"/>
                </a:solidFill>
                <a:latin typeface="Times New Roman"/>
                <a:ea typeface="Times New Roman"/>
                <a:cs typeface="Times New Roman"/>
              </a:rPr>
              <a:t>hrowing training platform</a:t>
            </a:r>
          </a:p>
        </p:txBody>
      </p:sp>
      <p:sp>
        <p:nvSpPr>
          <p:cNvPr id="11" name="TextBox 8">
            <a:extLst>
              <a:ext uri="{FF2B5EF4-FFF2-40B4-BE49-F238E27FC236}">
                <a16:creationId xmlns:a16="http://schemas.microsoft.com/office/drawing/2014/main" id="{F804A0AA-9D7C-A7BD-B9ED-B2A3DFBE7881}"/>
              </a:ext>
            </a:extLst>
          </p:cNvPr>
          <p:cNvSpPr txBox="1"/>
          <p:nvPr/>
        </p:nvSpPr>
        <p:spPr>
          <a:xfrm>
            <a:off x="1513740" y="1844040"/>
            <a:ext cx="12828418" cy="1394460"/>
          </a:xfrm>
          <a:prstGeom prst="rect">
            <a:avLst/>
          </a:prstGeom>
        </p:spPr>
        <p:txBody>
          <a:bodyPr lIns="0" tIns="0" rIns="0" bIns="0" rtlCol="0" anchor="ctr"/>
          <a:lstStyle/>
          <a:p>
            <a:pPr algn="l">
              <a:lnSpc>
                <a:spcPts val="4284"/>
              </a:lnSpc>
            </a:pPr>
            <a:r>
              <a:rPr lang="en-US" sz="5400" b="1" dirty="0">
                <a:solidFill>
                  <a:srgbClr val="003366"/>
                </a:solidFill>
                <a:latin typeface="Times New Roman"/>
                <a:ea typeface="Times New Roman"/>
                <a:cs typeface="Times New Roman"/>
                <a:sym typeface="Times New Roman"/>
              </a:rPr>
              <a:t>Focus Areas</a:t>
            </a:r>
          </a:p>
        </p:txBody>
      </p:sp>
      <p:sp>
        <p:nvSpPr>
          <p:cNvPr id="12" name="Freeform 27">
            <a:extLst>
              <a:ext uri="{FF2B5EF4-FFF2-40B4-BE49-F238E27FC236}">
                <a16:creationId xmlns:a16="http://schemas.microsoft.com/office/drawing/2014/main" id="{AB8721B0-08AC-DD8A-895F-DD5BC8B3F2EF}"/>
              </a:ext>
            </a:extLst>
          </p:cNvPr>
          <p:cNvSpPr/>
          <p:nvPr/>
        </p:nvSpPr>
        <p:spPr>
          <a:xfrm>
            <a:off x="799154" y="2252616"/>
            <a:ext cx="455075" cy="455075"/>
          </a:xfrm>
          <a:custGeom>
            <a:avLst/>
            <a:gdLst/>
            <a:ahLst/>
            <a:cxnLst/>
            <a:rect l="l" t="t" r="r" b="b"/>
            <a:pathLst>
              <a:path w="455075" h="455075">
                <a:moveTo>
                  <a:pt x="0" y="0"/>
                </a:moveTo>
                <a:lnTo>
                  <a:pt x="455074" y="0"/>
                </a:lnTo>
                <a:lnTo>
                  <a:pt x="455074" y="455075"/>
                </a:lnTo>
                <a:lnTo>
                  <a:pt x="0" y="45507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grpSp>
        <p:nvGrpSpPr>
          <p:cNvPr id="56" name="Group 2">
            <a:extLst>
              <a:ext uri="{FF2B5EF4-FFF2-40B4-BE49-F238E27FC236}">
                <a16:creationId xmlns:a16="http://schemas.microsoft.com/office/drawing/2014/main" id="{33984C2D-33E0-22A2-8395-4DCE90D1A2DE}"/>
              </a:ext>
            </a:extLst>
          </p:cNvPr>
          <p:cNvGrpSpPr/>
          <p:nvPr/>
        </p:nvGrpSpPr>
        <p:grpSpPr>
          <a:xfrm>
            <a:off x="0" y="25405"/>
            <a:ext cx="18288000" cy="3744230"/>
            <a:chOff x="0" y="0"/>
            <a:chExt cx="24384000" cy="4992306"/>
          </a:xfrm>
        </p:grpSpPr>
        <p:sp>
          <p:nvSpPr>
            <p:cNvPr id="57" name="Freeform 3" descr="一張含有 黑暗, 黑色, 螢幕擷取畫面, 光線 的圖片  AI 產生的內容可能不正確。">
              <a:extLst>
                <a:ext uri="{FF2B5EF4-FFF2-40B4-BE49-F238E27FC236}">
                  <a16:creationId xmlns:a16="http://schemas.microsoft.com/office/drawing/2014/main" id="{FDD0BB17-815A-6943-35A2-71B69438F741}"/>
                </a:ext>
              </a:extLst>
            </p:cNvPr>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14"/>
              <a:stretch>
                <a:fillRect b="-1"/>
              </a:stretch>
            </a:blipFill>
          </p:spPr>
        </p:sp>
      </p:grpSp>
      <p:sp>
        <p:nvSpPr>
          <p:cNvPr id="58" name="文字方塊 57">
            <a:extLst>
              <a:ext uri="{FF2B5EF4-FFF2-40B4-BE49-F238E27FC236}">
                <a16:creationId xmlns:a16="http://schemas.microsoft.com/office/drawing/2014/main" id="{E413CC17-AEC0-5AFB-FA83-F70F912F0D6A}"/>
              </a:ext>
            </a:extLst>
          </p:cNvPr>
          <p:cNvSpPr txBox="1"/>
          <p:nvPr/>
        </p:nvSpPr>
        <p:spPr>
          <a:xfrm>
            <a:off x="11887200" y="-39489"/>
            <a:ext cx="7680960" cy="369332"/>
          </a:xfrm>
          <a:prstGeom prst="rect">
            <a:avLst/>
          </a:prstGeom>
          <a:noFill/>
        </p:spPr>
        <p:txBody>
          <a:bodyPr wrap="square">
            <a:spAutoFit/>
          </a:bodyPr>
          <a:lstStyle/>
          <a:p>
            <a:pPr eaLnBrk="1" fontAlgn="auto" hangingPunct="1"/>
            <a:r>
              <a:rPr lang="en-US" altLang="zh-TW"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rPr>
              <a:t>Department of Sports Technology &amp; Information Development</a:t>
            </a:r>
            <a:endParaRPr lang="zh-TW" altLang="en-US"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1415291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363408" y="599237"/>
            <a:ext cx="1103243" cy="551059"/>
            <a:chOff x="0" y="0"/>
            <a:chExt cx="1470990" cy="734746"/>
          </a:xfrm>
        </p:grpSpPr>
        <p:sp>
          <p:nvSpPr>
            <p:cNvPr id="5" name="Freeform 5"/>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3"/>
              <a:stretch>
                <a:fillRect t="-221" r="3" b="-226"/>
              </a:stretch>
            </a:blipFill>
          </p:spPr>
        </p:sp>
      </p:grpSp>
      <p:sp>
        <p:nvSpPr>
          <p:cNvPr id="16" name="TextBox 4">
            <a:extLst>
              <a:ext uri="{FF2B5EF4-FFF2-40B4-BE49-F238E27FC236}">
                <a16:creationId xmlns:a16="http://schemas.microsoft.com/office/drawing/2014/main" id="{F63A9976-7FD5-3ED0-F6F3-A040EAF22755}"/>
              </a:ext>
            </a:extLst>
          </p:cNvPr>
          <p:cNvSpPr txBox="1"/>
          <p:nvPr/>
        </p:nvSpPr>
        <p:spPr>
          <a:xfrm>
            <a:off x="1427110" y="2904281"/>
            <a:ext cx="9088489" cy="400110"/>
          </a:xfrm>
          <a:prstGeom prst="rect">
            <a:avLst/>
          </a:prstGeom>
          <a:noFill/>
        </p:spPr>
        <p:txBody>
          <a:bodyPr wrap="square" anchor="ctr">
            <a:spAutoFit/>
          </a:bodyPr>
          <a:lstStyle/>
          <a:p>
            <a:pPr algn="l"/>
            <a:r>
              <a:rPr lang="en-US" altLang="zh-TW" sz="2000" b="0" dirty="0">
                <a:solidFill>
                  <a:srgbClr val="5A6870"/>
                </a:solidFill>
                <a:latin typeface="Times New Roman" panose="02020603050405020304" pitchFamily="18" charset="0"/>
                <a:cs typeface="Times New Roman" panose="02020603050405020304" pitchFamily="18" charset="0"/>
              </a:rPr>
              <a:t>Live match data from the courtside to the coach’s tablet</a:t>
            </a:r>
          </a:p>
        </p:txBody>
      </p:sp>
      <p:sp>
        <p:nvSpPr>
          <p:cNvPr id="60" name="TextBox 59"/>
          <p:cNvSpPr txBox="1"/>
          <p:nvPr/>
        </p:nvSpPr>
        <p:spPr>
          <a:xfrm>
            <a:off x="1220724" y="3566160"/>
            <a:ext cx="7680959" cy="411479"/>
          </a:xfrm>
          <a:prstGeom prst="rect">
            <a:avLst/>
          </a:prstGeom>
          <a:noFill/>
        </p:spPr>
        <p:txBody>
          <a:bodyPr wrap="square" lIns="0" tIns="0" rIns="0" bIns="0" anchor="t">
            <a:spAutoFit/>
          </a:bodyPr>
          <a:lstStyle/>
          <a:p>
            <a:pPr algn="l"/>
            <a:r>
              <a:rPr sz="2400" b="1" dirty="0">
                <a:solidFill>
                  <a:srgbClr val="1F5C99"/>
                </a:solidFill>
                <a:latin typeface="Times New Roman"/>
              </a:rPr>
              <a:t>Why We Built Our Own</a:t>
            </a:r>
          </a:p>
        </p:txBody>
      </p:sp>
      <p:graphicFrame>
        <p:nvGraphicFramePr>
          <p:cNvPr id="61" name="Comparison table"/>
          <p:cNvGraphicFramePr>
            <a:graphicFrameLocks noGrp="1"/>
          </p:cNvGraphicFramePr>
          <p:nvPr/>
        </p:nvGraphicFramePr>
        <p:xfrm>
          <a:off x="1220724" y="4114800"/>
          <a:ext cx="8161019" cy="3703320"/>
        </p:xfrm>
        <a:graphic>
          <a:graphicData uri="http://schemas.openxmlformats.org/drawingml/2006/table">
            <a:tbl>
              <a:tblPr firstRow="1"/>
              <a:tblGrid>
                <a:gridCol w="2811779">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617220">
                <a:tc>
                  <a:txBody>
                    <a:bodyPr/>
                    <a:lstStyle/>
                    <a:p>
                      <a:pPr algn="l"/>
                      <a:endParaRPr/>
                    </a:p>
                  </a:txBody>
                  <a:tcPr marL="164592" marR="82296" anchor="ctr">
                    <a:lnL w="0">
                      <a:noFill/>
                    </a:lnL>
                    <a:lnR w="0">
                      <a:noFill/>
                    </a:lnR>
                    <a:lnT w="9525">
                      <a:solidFill>
                        <a:srgbClr val="D3DEE8"/>
                      </a:solidFill>
                    </a:lnT>
                    <a:lnB w="9525">
                      <a:solidFill>
                        <a:srgbClr val="D3DEE8"/>
                      </a:solidFill>
                    </a:lnB>
                    <a:solidFill>
                      <a:srgbClr val="0E3A66"/>
                    </a:solidFill>
                  </a:tcPr>
                </a:tc>
                <a:tc>
                  <a:txBody>
                    <a:bodyPr/>
                    <a:lstStyle/>
                    <a:p>
                      <a:pPr algn="ctr"/>
                      <a:r>
                        <a:rPr sz="1950" b="1">
                          <a:solidFill>
                            <a:srgbClr val="FFFFFF"/>
                          </a:solidFill>
                          <a:latin typeface="Times New Roman"/>
                        </a:rPr>
                        <a:t>Data Volley</a:t>
                      </a:r>
                    </a:p>
                  </a:txBody>
                  <a:tcPr marL="164592" marR="82296" anchor="ctr">
                    <a:lnL w="0">
                      <a:noFill/>
                    </a:lnL>
                    <a:lnR w="0">
                      <a:noFill/>
                    </a:lnR>
                    <a:lnT w="9525">
                      <a:solidFill>
                        <a:srgbClr val="D3DEE8"/>
                      </a:solidFill>
                    </a:lnT>
                    <a:lnB w="9525">
                      <a:solidFill>
                        <a:srgbClr val="D3DEE8"/>
                      </a:solidFill>
                    </a:lnB>
                    <a:solidFill>
                      <a:srgbClr val="0E3A66"/>
                    </a:solidFill>
                  </a:tcPr>
                </a:tc>
                <a:tc>
                  <a:txBody>
                    <a:bodyPr/>
                    <a:lstStyle/>
                    <a:p>
                      <a:pPr algn="ctr"/>
                      <a:r>
                        <a:rPr sz="1950" b="1">
                          <a:solidFill>
                            <a:srgbClr val="FFFFFF"/>
                          </a:solidFill>
                          <a:latin typeface="Times New Roman"/>
                        </a:rPr>
                        <a:t>HUDL</a:t>
                      </a:r>
                    </a:p>
                  </a:txBody>
                  <a:tcPr marL="164592" marR="82296" anchor="ctr">
                    <a:lnL w="0">
                      <a:noFill/>
                    </a:lnL>
                    <a:lnR w="0">
                      <a:noFill/>
                    </a:lnR>
                    <a:lnT w="9525">
                      <a:solidFill>
                        <a:srgbClr val="D3DEE8"/>
                      </a:solidFill>
                    </a:lnT>
                    <a:lnB w="9525">
                      <a:solidFill>
                        <a:srgbClr val="D3DEE8"/>
                      </a:solidFill>
                    </a:lnB>
                    <a:solidFill>
                      <a:srgbClr val="0E3A66"/>
                    </a:solidFill>
                  </a:tcPr>
                </a:tc>
                <a:tc>
                  <a:txBody>
                    <a:bodyPr/>
                    <a:lstStyle/>
                    <a:p>
                      <a:pPr algn="ctr"/>
                      <a:r>
                        <a:rPr sz="1950" b="1">
                          <a:solidFill>
                            <a:srgbClr val="FFFFFF"/>
                          </a:solidFill>
                          <a:latin typeface="Times New Roman"/>
                        </a:rPr>
                        <a:t>Our System</a:t>
                      </a:r>
                    </a:p>
                  </a:txBody>
                  <a:tcPr marL="164592" marR="82296" anchor="ctr">
                    <a:lnL w="0">
                      <a:noFill/>
                    </a:lnL>
                    <a:lnR w="0">
                      <a:noFill/>
                    </a:lnR>
                    <a:lnT w="9525">
                      <a:solidFill>
                        <a:srgbClr val="D3DEE8"/>
                      </a:solidFill>
                    </a:lnT>
                    <a:lnB w="9525">
                      <a:solidFill>
                        <a:srgbClr val="D3DEE8"/>
                      </a:solidFill>
                    </a:lnB>
                    <a:solidFill>
                      <a:srgbClr val="1468B3"/>
                    </a:solidFill>
                  </a:tcPr>
                </a:tc>
                <a:extLst>
                  <a:ext uri="{0D108BD9-81ED-4DB2-BD59-A6C34878D82A}">
                    <a16:rowId xmlns:a16="http://schemas.microsoft.com/office/drawing/2014/main" val="10000"/>
                  </a:ext>
                </a:extLst>
              </a:tr>
              <a:tr h="617220">
                <a:tc>
                  <a:txBody>
                    <a:bodyPr/>
                    <a:lstStyle/>
                    <a:p>
                      <a:pPr algn="l"/>
                      <a:r>
                        <a:rPr sz="1950" b="1">
                          <a:solidFill>
                            <a:srgbClr val="0E3A66"/>
                          </a:solidFill>
                          <a:latin typeface="Times New Roman"/>
                        </a:rPr>
                        <a:t>Live recording</a:t>
                      </a:r>
                    </a:p>
                  </a:txBody>
                  <a:tcPr marL="164592" marR="82296" anchor="ctr">
                    <a:lnL w="0">
                      <a:noFill/>
                    </a:lnL>
                    <a:lnR w="0">
                      <a:noFill/>
                    </a:lnR>
                    <a:lnT w="9525">
                      <a:solidFill>
                        <a:srgbClr val="D3DEE8"/>
                      </a:solidFill>
                    </a:lnT>
                    <a:lnB w="9525">
                      <a:solidFill>
                        <a:srgbClr val="D3DEE8"/>
                      </a:solidFill>
                    </a:lnB>
                    <a:solidFill>
                      <a:srgbClr val="FFFFFF"/>
                    </a:solidFill>
                  </a:tcPr>
                </a:tc>
                <a:tc>
                  <a:txBody>
                    <a:bodyPr/>
                    <a:lstStyle/>
                    <a:p>
                      <a:pPr algn="ctr"/>
                      <a:r>
                        <a:rPr sz="1950" b="0">
                          <a:solidFill>
                            <a:srgbClr val="5A6470"/>
                          </a:solidFill>
                          <a:latin typeface="Times New Roman"/>
                        </a:rPr>
                        <a:t>✓</a:t>
                      </a:r>
                    </a:p>
                  </a:txBody>
                  <a:tcPr marL="164592" marR="82296" anchor="ctr">
                    <a:lnL w="0">
                      <a:noFill/>
                    </a:lnL>
                    <a:lnR w="0">
                      <a:noFill/>
                    </a:lnR>
                    <a:lnT w="9525">
                      <a:solidFill>
                        <a:srgbClr val="D3DEE8"/>
                      </a:solidFill>
                    </a:lnT>
                    <a:lnB w="9525">
                      <a:solidFill>
                        <a:srgbClr val="D3DEE8"/>
                      </a:solidFill>
                    </a:lnB>
                    <a:solidFill>
                      <a:srgbClr val="FFFFFF"/>
                    </a:solidFill>
                  </a:tcPr>
                </a:tc>
                <a:tc>
                  <a:txBody>
                    <a:bodyPr/>
                    <a:lstStyle/>
                    <a:p>
                      <a:pPr algn="ctr"/>
                      <a:r>
                        <a:rPr sz="1950" b="0">
                          <a:solidFill>
                            <a:srgbClr val="B03A2E"/>
                          </a:solidFill>
                          <a:latin typeface="Times New Roman"/>
                        </a:rPr>
                        <a:t>✗</a:t>
                      </a:r>
                    </a:p>
                  </a:txBody>
                  <a:tcPr marL="164592" marR="82296" anchor="ctr">
                    <a:lnL w="0">
                      <a:noFill/>
                    </a:lnL>
                    <a:lnR w="0">
                      <a:noFill/>
                    </a:lnR>
                    <a:lnT w="9525">
                      <a:solidFill>
                        <a:srgbClr val="D3DEE8"/>
                      </a:solidFill>
                    </a:lnT>
                    <a:lnB w="9525">
                      <a:solidFill>
                        <a:srgbClr val="D3DEE8"/>
                      </a:solidFill>
                    </a:lnB>
                    <a:solidFill>
                      <a:srgbClr val="FFFFFF"/>
                    </a:solidFill>
                  </a:tcPr>
                </a:tc>
                <a:tc>
                  <a:txBody>
                    <a:bodyPr/>
                    <a:lstStyle/>
                    <a:p>
                      <a:pPr algn="ctr"/>
                      <a:r>
                        <a:rPr sz="1950" b="1">
                          <a:solidFill>
                            <a:srgbClr val="1468B3"/>
                          </a:solidFill>
                          <a:latin typeface="Times New Roman"/>
                        </a:rPr>
                        <a:t>✓</a:t>
                      </a:r>
                    </a:p>
                  </a:txBody>
                  <a:tcPr marL="164592" marR="82296" anchor="ctr">
                    <a:lnL w="0">
                      <a:noFill/>
                    </a:lnL>
                    <a:lnR w="0">
                      <a:noFill/>
                    </a:lnR>
                    <a:lnT w="9525">
                      <a:solidFill>
                        <a:srgbClr val="D3DEE8"/>
                      </a:solidFill>
                    </a:lnT>
                    <a:lnB w="9525">
                      <a:solidFill>
                        <a:srgbClr val="D3DEE8"/>
                      </a:solidFill>
                    </a:lnB>
                    <a:solidFill>
                      <a:srgbClr val="EEF4FA"/>
                    </a:solidFill>
                  </a:tcPr>
                </a:tc>
                <a:extLst>
                  <a:ext uri="{0D108BD9-81ED-4DB2-BD59-A6C34878D82A}">
                    <a16:rowId xmlns:a16="http://schemas.microsoft.com/office/drawing/2014/main" val="10001"/>
                  </a:ext>
                </a:extLst>
              </a:tr>
              <a:tr h="617220">
                <a:tc>
                  <a:txBody>
                    <a:bodyPr/>
                    <a:lstStyle/>
                    <a:p>
                      <a:pPr algn="l"/>
                      <a:r>
                        <a:rPr sz="1950" b="1">
                          <a:solidFill>
                            <a:srgbClr val="0E3A66"/>
                          </a:solidFill>
                          <a:latin typeface="Times New Roman"/>
                        </a:rPr>
                        <a:t>Live push to bench</a:t>
                      </a:r>
                    </a:p>
                  </a:txBody>
                  <a:tcPr marL="164592" marR="82296" anchor="ctr">
                    <a:lnL w="0">
                      <a:noFill/>
                    </a:lnL>
                    <a:lnR w="0">
                      <a:noFill/>
                    </a:lnR>
                    <a:lnT w="9525">
                      <a:solidFill>
                        <a:srgbClr val="D3DEE8"/>
                      </a:solidFill>
                    </a:lnT>
                    <a:lnB w="9525">
                      <a:solidFill>
                        <a:srgbClr val="D3DEE8"/>
                      </a:solidFill>
                    </a:lnB>
                    <a:solidFill>
                      <a:srgbClr val="FFFFFF"/>
                    </a:solidFill>
                  </a:tcPr>
                </a:tc>
                <a:tc>
                  <a:txBody>
                    <a:bodyPr/>
                    <a:lstStyle/>
                    <a:p>
                      <a:pPr algn="ctr"/>
                      <a:r>
                        <a:rPr sz="1950" b="0">
                          <a:solidFill>
                            <a:srgbClr val="5A6470"/>
                          </a:solidFill>
                          <a:latin typeface="Times New Roman"/>
                        </a:rPr>
                        <a:t>✓</a:t>
                      </a:r>
                    </a:p>
                  </a:txBody>
                  <a:tcPr marL="164592" marR="82296" anchor="ctr">
                    <a:lnL w="0">
                      <a:noFill/>
                    </a:lnL>
                    <a:lnR w="0">
                      <a:noFill/>
                    </a:lnR>
                    <a:lnT w="9525">
                      <a:solidFill>
                        <a:srgbClr val="D3DEE8"/>
                      </a:solidFill>
                    </a:lnT>
                    <a:lnB w="9525">
                      <a:solidFill>
                        <a:srgbClr val="D3DEE8"/>
                      </a:solidFill>
                    </a:lnB>
                    <a:solidFill>
                      <a:srgbClr val="FFFFFF"/>
                    </a:solidFill>
                  </a:tcPr>
                </a:tc>
                <a:tc>
                  <a:txBody>
                    <a:bodyPr/>
                    <a:lstStyle/>
                    <a:p>
                      <a:pPr algn="ctr"/>
                      <a:r>
                        <a:rPr sz="1950" b="0">
                          <a:solidFill>
                            <a:srgbClr val="B03A2E"/>
                          </a:solidFill>
                          <a:latin typeface="Times New Roman"/>
                        </a:rPr>
                        <a:t>✗</a:t>
                      </a:r>
                    </a:p>
                  </a:txBody>
                  <a:tcPr marL="164592" marR="82296" anchor="ctr">
                    <a:lnL w="0">
                      <a:noFill/>
                    </a:lnL>
                    <a:lnR w="0">
                      <a:noFill/>
                    </a:lnR>
                    <a:lnT w="9525">
                      <a:solidFill>
                        <a:srgbClr val="D3DEE8"/>
                      </a:solidFill>
                    </a:lnT>
                    <a:lnB w="9525">
                      <a:solidFill>
                        <a:srgbClr val="D3DEE8"/>
                      </a:solidFill>
                    </a:lnB>
                    <a:solidFill>
                      <a:srgbClr val="FFFFFF"/>
                    </a:solidFill>
                  </a:tcPr>
                </a:tc>
                <a:tc>
                  <a:txBody>
                    <a:bodyPr/>
                    <a:lstStyle/>
                    <a:p>
                      <a:pPr algn="ctr"/>
                      <a:r>
                        <a:rPr sz="1950" b="1">
                          <a:solidFill>
                            <a:srgbClr val="1468B3"/>
                          </a:solidFill>
                          <a:latin typeface="Times New Roman"/>
                        </a:rPr>
                        <a:t>✓</a:t>
                      </a:r>
                    </a:p>
                  </a:txBody>
                  <a:tcPr marL="164592" marR="82296" anchor="ctr">
                    <a:lnL w="0">
                      <a:noFill/>
                    </a:lnL>
                    <a:lnR w="0">
                      <a:noFill/>
                    </a:lnR>
                    <a:lnT w="9525">
                      <a:solidFill>
                        <a:srgbClr val="D3DEE8"/>
                      </a:solidFill>
                    </a:lnT>
                    <a:lnB w="9525">
                      <a:solidFill>
                        <a:srgbClr val="D3DEE8"/>
                      </a:solidFill>
                    </a:lnB>
                    <a:solidFill>
                      <a:srgbClr val="EEF4FA"/>
                    </a:solidFill>
                  </a:tcPr>
                </a:tc>
                <a:extLst>
                  <a:ext uri="{0D108BD9-81ED-4DB2-BD59-A6C34878D82A}">
                    <a16:rowId xmlns:a16="http://schemas.microsoft.com/office/drawing/2014/main" val="10002"/>
                  </a:ext>
                </a:extLst>
              </a:tr>
              <a:tr h="617220">
                <a:tc>
                  <a:txBody>
                    <a:bodyPr/>
                    <a:lstStyle/>
                    <a:p>
                      <a:pPr algn="l"/>
                      <a:r>
                        <a:rPr sz="1950" b="1">
                          <a:solidFill>
                            <a:srgbClr val="0E3A66"/>
                          </a:solidFill>
                          <a:latin typeface="Times New Roman"/>
                        </a:rPr>
                        <a:t>Learning curve</a:t>
                      </a:r>
                    </a:p>
                  </a:txBody>
                  <a:tcPr marL="164592" marR="82296" anchor="ctr">
                    <a:lnL w="0">
                      <a:noFill/>
                    </a:lnL>
                    <a:lnR w="0">
                      <a:noFill/>
                    </a:lnR>
                    <a:lnT w="9525">
                      <a:solidFill>
                        <a:srgbClr val="D3DEE8"/>
                      </a:solidFill>
                    </a:lnT>
                    <a:lnB w="9525">
                      <a:solidFill>
                        <a:srgbClr val="D3DEE8"/>
                      </a:solidFill>
                    </a:lnB>
                    <a:solidFill>
                      <a:srgbClr val="FFFFFF"/>
                    </a:solidFill>
                  </a:tcPr>
                </a:tc>
                <a:tc>
                  <a:txBody>
                    <a:bodyPr/>
                    <a:lstStyle/>
                    <a:p>
                      <a:pPr algn="ctr"/>
                      <a:r>
                        <a:rPr sz="1950" b="0">
                          <a:solidFill>
                            <a:srgbClr val="5A6470"/>
                          </a:solidFill>
                          <a:latin typeface="Times New Roman"/>
                        </a:rPr>
                        <a:t>High</a:t>
                      </a:r>
                    </a:p>
                  </a:txBody>
                  <a:tcPr marL="164592" marR="82296" anchor="ctr">
                    <a:lnL w="0">
                      <a:noFill/>
                    </a:lnL>
                    <a:lnR w="0">
                      <a:noFill/>
                    </a:lnR>
                    <a:lnT w="9525">
                      <a:solidFill>
                        <a:srgbClr val="D3DEE8"/>
                      </a:solidFill>
                    </a:lnT>
                    <a:lnB w="9525">
                      <a:solidFill>
                        <a:srgbClr val="D3DEE8"/>
                      </a:solidFill>
                    </a:lnB>
                    <a:solidFill>
                      <a:srgbClr val="FFFFFF"/>
                    </a:solidFill>
                  </a:tcPr>
                </a:tc>
                <a:tc>
                  <a:txBody>
                    <a:bodyPr/>
                    <a:lstStyle/>
                    <a:p>
                      <a:pPr algn="ctr"/>
                      <a:r>
                        <a:rPr sz="1950" b="0">
                          <a:solidFill>
                            <a:srgbClr val="5A6470"/>
                          </a:solidFill>
                          <a:latin typeface="Times New Roman"/>
                        </a:rPr>
                        <a:t>Low</a:t>
                      </a:r>
                    </a:p>
                  </a:txBody>
                  <a:tcPr marL="164592" marR="82296" anchor="ctr">
                    <a:lnL w="0">
                      <a:noFill/>
                    </a:lnL>
                    <a:lnR w="0">
                      <a:noFill/>
                    </a:lnR>
                    <a:lnT w="9525">
                      <a:solidFill>
                        <a:srgbClr val="D3DEE8"/>
                      </a:solidFill>
                    </a:lnT>
                    <a:lnB w="9525">
                      <a:solidFill>
                        <a:srgbClr val="D3DEE8"/>
                      </a:solidFill>
                    </a:lnB>
                    <a:solidFill>
                      <a:srgbClr val="FFFFFF"/>
                    </a:solidFill>
                  </a:tcPr>
                </a:tc>
                <a:tc>
                  <a:txBody>
                    <a:bodyPr/>
                    <a:lstStyle/>
                    <a:p>
                      <a:pPr algn="ctr"/>
                      <a:r>
                        <a:rPr sz="1950" b="1">
                          <a:solidFill>
                            <a:srgbClr val="1468B3"/>
                          </a:solidFill>
                          <a:latin typeface="Times New Roman"/>
                        </a:rPr>
                        <a:t>Low</a:t>
                      </a:r>
                    </a:p>
                  </a:txBody>
                  <a:tcPr marL="164592" marR="82296" anchor="ctr">
                    <a:lnL w="0">
                      <a:noFill/>
                    </a:lnL>
                    <a:lnR w="0">
                      <a:noFill/>
                    </a:lnR>
                    <a:lnT w="9525">
                      <a:solidFill>
                        <a:srgbClr val="D3DEE8"/>
                      </a:solidFill>
                    </a:lnT>
                    <a:lnB w="9525">
                      <a:solidFill>
                        <a:srgbClr val="D3DEE8"/>
                      </a:solidFill>
                    </a:lnB>
                    <a:solidFill>
                      <a:srgbClr val="EEF4FA"/>
                    </a:solidFill>
                  </a:tcPr>
                </a:tc>
                <a:extLst>
                  <a:ext uri="{0D108BD9-81ED-4DB2-BD59-A6C34878D82A}">
                    <a16:rowId xmlns:a16="http://schemas.microsoft.com/office/drawing/2014/main" val="10003"/>
                  </a:ext>
                </a:extLst>
              </a:tr>
              <a:tr h="617220">
                <a:tc>
                  <a:txBody>
                    <a:bodyPr/>
                    <a:lstStyle/>
                    <a:p>
                      <a:pPr algn="l"/>
                      <a:r>
                        <a:rPr sz="1950" b="1">
                          <a:solidFill>
                            <a:srgbClr val="0E3A66"/>
                          </a:solidFill>
                          <a:latin typeface="Times New Roman"/>
                        </a:rPr>
                        <a:t>Customisation</a:t>
                      </a:r>
                    </a:p>
                  </a:txBody>
                  <a:tcPr marL="164592" marR="82296" anchor="ctr">
                    <a:lnL w="0">
                      <a:noFill/>
                    </a:lnL>
                    <a:lnR w="0">
                      <a:noFill/>
                    </a:lnR>
                    <a:lnT w="9525">
                      <a:solidFill>
                        <a:srgbClr val="D3DEE8"/>
                      </a:solidFill>
                    </a:lnT>
                    <a:lnB w="9525">
                      <a:solidFill>
                        <a:srgbClr val="D3DEE8"/>
                      </a:solidFill>
                    </a:lnB>
                    <a:solidFill>
                      <a:srgbClr val="FFFFFF"/>
                    </a:solidFill>
                  </a:tcPr>
                </a:tc>
                <a:tc>
                  <a:txBody>
                    <a:bodyPr/>
                    <a:lstStyle/>
                    <a:p>
                      <a:pPr algn="ctr"/>
                      <a:r>
                        <a:rPr sz="1950" b="0">
                          <a:solidFill>
                            <a:srgbClr val="5A6470"/>
                          </a:solidFill>
                          <a:latin typeface="Times New Roman"/>
                        </a:rPr>
                        <a:t>Low</a:t>
                      </a:r>
                    </a:p>
                  </a:txBody>
                  <a:tcPr marL="164592" marR="82296" anchor="ctr">
                    <a:lnL w="0">
                      <a:noFill/>
                    </a:lnL>
                    <a:lnR w="0">
                      <a:noFill/>
                    </a:lnR>
                    <a:lnT w="9525">
                      <a:solidFill>
                        <a:srgbClr val="D3DEE8"/>
                      </a:solidFill>
                    </a:lnT>
                    <a:lnB w="9525">
                      <a:solidFill>
                        <a:srgbClr val="D3DEE8"/>
                      </a:solidFill>
                    </a:lnB>
                    <a:solidFill>
                      <a:srgbClr val="FFFFFF"/>
                    </a:solidFill>
                  </a:tcPr>
                </a:tc>
                <a:tc>
                  <a:txBody>
                    <a:bodyPr/>
                    <a:lstStyle/>
                    <a:p>
                      <a:pPr algn="ctr"/>
                      <a:r>
                        <a:rPr sz="1950" b="0">
                          <a:solidFill>
                            <a:srgbClr val="5A6470"/>
                          </a:solidFill>
                          <a:latin typeface="Times New Roman"/>
                        </a:rPr>
                        <a:t>Low</a:t>
                      </a:r>
                    </a:p>
                  </a:txBody>
                  <a:tcPr marL="164592" marR="82296" anchor="ctr">
                    <a:lnL w="0">
                      <a:noFill/>
                    </a:lnL>
                    <a:lnR w="0">
                      <a:noFill/>
                    </a:lnR>
                    <a:lnT w="9525">
                      <a:solidFill>
                        <a:srgbClr val="D3DEE8"/>
                      </a:solidFill>
                    </a:lnT>
                    <a:lnB w="9525">
                      <a:solidFill>
                        <a:srgbClr val="D3DEE8"/>
                      </a:solidFill>
                    </a:lnB>
                    <a:solidFill>
                      <a:srgbClr val="FFFFFF"/>
                    </a:solidFill>
                  </a:tcPr>
                </a:tc>
                <a:tc>
                  <a:txBody>
                    <a:bodyPr/>
                    <a:lstStyle/>
                    <a:p>
                      <a:pPr algn="ctr"/>
                      <a:r>
                        <a:rPr sz="1950" b="1">
                          <a:solidFill>
                            <a:srgbClr val="1468B3"/>
                          </a:solidFill>
                          <a:latin typeface="Times New Roman"/>
                        </a:rPr>
                        <a:t>High</a:t>
                      </a:r>
                    </a:p>
                  </a:txBody>
                  <a:tcPr marL="164592" marR="82296" anchor="ctr">
                    <a:lnL w="0">
                      <a:noFill/>
                    </a:lnL>
                    <a:lnR w="0">
                      <a:noFill/>
                    </a:lnR>
                    <a:lnT w="9525">
                      <a:solidFill>
                        <a:srgbClr val="D3DEE8"/>
                      </a:solidFill>
                    </a:lnT>
                    <a:lnB w="9525">
                      <a:solidFill>
                        <a:srgbClr val="D3DEE8"/>
                      </a:solidFill>
                    </a:lnB>
                    <a:solidFill>
                      <a:srgbClr val="EEF4FA"/>
                    </a:solidFill>
                  </a:tcPr>
                </a:tc>
                <a:extLst>
                  <a:ext uri="{0D108BD9-81ED-4DB2-BD59-A6C34878D82A}">
                    <a16:rowId xmlns:a16="http://schemas.microsoft.com/office/drawing/2014/main" val="10004"/>
                  </a:ext>
                </a:extLst>
              </a:tr>
              <a:tr h="617220">
                <a:tc>
                  <a:txBody>
                    <a:bodyPr/>
                    <a:lstStyle/>
                    <a:p>
                      <a:pPr algn="l"/>
                      <a:r>
                        <a:rPr sz="1950" b="1">
                          <a:solidFill>
                            <a:srgbClr val="0E3A66"/>
                          </a:solidFill>
                          <a:latin typeface="Times New Roman"/>
                        </a:rPr>
                        <a:t>Licence cost</a:t>
                      </a:r>
                    </a:p>
                  </a:txBody>
                  <a:tcPr marL="164592" marR="82296" anchor="ctr">
                    <a:lnL w="0">
                      <a:noFill/>
                    </a:lnL>
                    <a:lnR w="0">
                      <a:noFill/>
                    </a:lnR>
                    <a:lnT w="9525">
                      <a:solidFill>
                        <a:srgbClr val="D3DEE8"/>
                      </a:solidFill>
                    </a:lnT>
                    <a:lnB w="9525">
                      <a:solidFill>
                        <a:srgbClr val="D3DEE8"/>
                      </a:solidFill>
                    </a:lnB>
                    <a:solidFill>
                      <a:srgbClr val="FFFFFF"/>
                    </a:solidFill>
                  </a:tcPr>
                </a:tc>
                <a:tc>
                  <a:txBody>
                    <a:bodyPr/>
                    <a:lstStyle/>
                    <a:p>
                      <a:pPr algn="ctr"/>
                      <a:r>
                        <a:rPr sz="1950" b="0">
                          <a:solidFill>
                            <a:srgbClr val="5A6470"/>
                          </a:solidFill>
                          <a:latin typeface="Times New Roman"/>
                        </a:rPr>
                        <a:t>High</a:t>
                      </a:r>
                    </a:p>
                  </a:txBody>
                  <a:tcPr marL="164592" marR="82296" anchor="ctr">
                    <a:lnL w="0">
                      <a:noFill/>
                    </a:lnL>
                    <a:lnR w="0">
                      <a:noFill/>
                    </a:lnR>
                    <a:lnT w="9525">
                      <a:solidFill>
                        <a:srgbClr val="D3DEE8"/>
                      </a:solidFill>
                    </a:lnT>
                    <a:lnB w="9525">
                      <a:solidFill>
                        <a:srgbClr val="D3DEE8"/>
                      </a:solidFill>
                    </a:lnB>
                    <a:solidFill>
                      <a:srgbClr val="FFFFFF"/>
                    </a:solidFill>
                  </a:tcPr>
                </a:tc>
                <a:tc>
                  <a:txBody>
                    <a:bodyPr/>
                    <a:lstStyle/>
                    <a:p>
                      <a:pPr algn="ctr"/>
                      <a:r>
                        <a:rPr sz="1950" b="0">
                          <a:solidFill>
                            <a:srgbClr val="5A6470"/>
                          </a:solidFill>
                          <a:latin typeface="Times New Roman"/>
                        </a:rPr>
                        <a:t>High</a:t>
                      </a:r>
                    </a:p>
                  </a:txBody>
                  <a:tcPr marL="164592" marR="82296" anchor="ctr">
                    <a:lnL w="0">
                      <a:noFill/>
                    </a:lnL>
                    <a:lnR w="0">
                      <a:noFill/>
                    </a:lnR>
                    <a:lnT w="9525">
                      <a:solidFill>
                        <a:srgbClr val="D3DEE8"/>
                      </a:solidFill>
                    </a:lnT>
                    <a:lnB w="9525">
                      <a:solidFill>
                        <a:srgbClr val="D3DEE8"/>
                      </a:solidFill>
                    </a:lnB>
                    <a:solidFill>
                      <a:srgbClr val="FFFFFF"/>
                    </a:solidFill>
                  </a:tcPr>
                </a:tc>
                <a:tc>
                  <a:txBody>
                    <a:bodyPr/>
                    <a:lstStyle/>
                    <a:p>
                      <a:pPr algn="ctr"/>
                      <a:r>
                        <a:rPr sz="1950" b="1">
                          <a:solidFill>
                            <a:srgbClr val="1468B3"/>
                          </a:solidFill>
                          <a:latin typeface="Times New Roman"/>
                        </a:rPr>
                        <a:t>In-house</a:t>
                      </a:r>
                    </a:p>
                  </a:txBody>
                  <a:tcPr marL="164592" marR="82296" anchor="ctr">
                    <a:lnL w="0">
                      <a:noFill/>
                    </a:lnL>
                    <a:lnR w="0">
                      <a:noFill/>
                    </a:lnR>
                    <a:lnT w="9525">
                      <a:solidFill>
                        <a:srgbClr val="D3DEE8"/>
                      </a:solidFill>
                    </a:lnT>
                    <a:lnB w="9525">
                      <a:solidFill>
                        <a:srgbClr val="D3DEE8"/>
                      </a:solidFill>
                    </a:lnB>
                    <a:solidFill>
                      <a:srgbClr val="EEF4FA"/>
                    </a:solidFill>
                  </a:tcPr>
                </a:tc>
                <a:extLst>
                  <a:ext uri="{0D108BD9-81ED-4DB2-BD59-A6C34878D82A}">
                    <a16:rowId xmlns:a16="http://schemas.microsoft.com/office/drawing/2014/main" val="10005"/>
                  </a:ext>
                </a:extLst>
              </a:tr>
            </a:tbl>
          </a:graphicData>
        </a:graphic>
      </p:graphicFrame>
      <p:sp>
        <p:nvSpPr>
          <p:cNvPr id="62" name="TextBox 61"/>
          <p:cNvSpPr txBox="1"/>
          <p:nvPr/>
        </p:nvSpPr>
        <p:spPr>
          <a:xfrm>
            <a:off x="1220724" y="8161020"/>
            <a:ext cx="8161020" cy="960119"/>
          </a:xfrm>
          <a:prstGeom prst="rect">
            <a:avLst/>
          </a:prstGeom>
          <a:noFill/>
        </p:spPr>
        <p:txBody>
          <a:bodyPr wrap="square" lIns="0" tIns="0" rIns="0" bIns="0" anchor="t">
            <a:spAutoFit/>
          </a:bodyPr>
          <a:lstStyle/>
          <a:p>
            <a:pPr algn="l"/>
            <a:r>
              <a:rPr sz="1950" b="0">
                <a:solidFill>
                  <a:srgbClr val="5A6470"/>
                </a:solidFill>
                <a:latin typeface="Times New Roman"/>
              </a:rPr>
              <a:t>Commercial tools are either real-time but specialist-only, or video-based and post-match. Our coaches needed both: live data, simple enough for staff to run courtside.</a:t>
            </a:r>
          </a:p>
        </p:txBody>
      </p:sp>
      <p:sp>
        <p:nvSpPr>
          <p:cNvPr id="63" name="TextBox 62"/>
          <p:cNvSpPr txBox="1"/>
          <p:nvPr/>
        </p:nvSpPr>
        <p:spPr>
          <a:xfrm>
            <a:off x="10287000" y="3566160"/>
            <a:ext cx="6858000" cy="411479"/>
          </a:xfrm>
          <a:prstGeom prst="rect">
            <a:avLst/>
          </a:prstGeom>
          <a:noFill/>
        </p:spPr>
        <p:txBody>
          <a:bodyPr wrap="square" lIns="0" tIns="0" rIns="0" bIns="0" anchor="t">
            <a:spAutoFit/>
          </a:bodyPr>
          <a:lstStyle/>
          <a:p>
            <a:pPr algn="l"/>
            <a:r>
              <a:rPr sz="2400" b="1">
                <a:solidFill>
                  <a:srgbClr val="1F5C99"/>
                </a:solidFill>
                <a:latin typeface="Times New Roman"/>
              </a:rPr>
              <a:t>Inside the System</a:t>
            </a:r>
          </a:p>
        </p:txBody>
      </p:sp>
      <p:pic>
        <p:nvPicPr>
          <p:cNvPr id="64" name="Picture 63" descr="input_screen.png"/>
          <p:cNvPicPr>
            <a:picLocks noChangeAspect="1"/>
          </p:cNvPicPr>
          <p:nvPr/>
        </p:nvPicPr>
        <p:blipFill>
          <a:blip r:embed="rId4"/>
          <a:stretch>
            <a:fillRect/>
          </a:stretch>
        </p:blipFill>
        <p:spPr>
          <a:xfrm>
            <a:off x="10300716" y="4114800"/>
            <a:ext cx="2302211" cy="3360420"/>
          </a:xfrm>
          <a:prstGeom prst="rect">
            <a:avLst/>
          </a:prstGeom>
          <a:ln w="19050">
            <a:solidFill>
              <a:srgbClr val="D3DEE8"/>
            </a:solidFill>
          </a:ln>
        </p:spPr>
      </p:pic>
      <p:pic>
        <p:nvPicPr>
          <p:cNvPr id="65" name="Picture 64" descr="stats_routes.png"/>
          <p:cNvPicPr>
            <a:picLocks noChangeAspect="1"/>
          </p:cNvPicPr>
          <p:nvPr/>
        </p:nvPicPr>
        <p:blipFill>
          <a:blip r:embed="rId5"/>
          <a:stretch>
            <a:fillRect/>
          </a:stretch>
        </p:blipFill>
        <p:spPr>
          <a:xfrm>
            <a:off x="12893040" y="4114800"/>
            <a:ext cx="2295324" cy="3360420"/>
          </a:xfrm>
          <a:prstGeom prst="rect">
            <a:avLst/>
          </a:prstGeom>
          <a:ln w="19050">
            <a:solidFill>
              <a:srgbClr val="D3DEE8"/>
            </a:solidFill>
          </a:ln>
        </p:spPr>
      </p:pic>
      <p:pic>
        <p:nvPicPr>
          <p:cNvPr id="66" name="Picture 65" descr="stats_table.png"/>
          <p:cNvPicPr>
            <a:picLocks noChangeAspect="1"/>
          </p:cNvPicPr>
          <p:nvPr/>
        </p:nvPicPr>
        <p:blipFill>
          <a:blip r:embed="rId6"/>
          <a:stretch>
            <a:fillRect/>
          </a:stretch>
        </p:blipFill>
        <p:spPr>
          <a:xfrm>
            <a:off x="15485363" y="4114800"/>
            <a:ext cx="2308748" cy="3360420"/>
          </a:xfrm>
          <a:prstGeom prst="rect">
            <a:avLst/>
          </a:prstGeom>
          <a:ln w="19050">
            <a:solidFill>
              <a:srgbClr val="D3DEE8"/>
            </a:solidFill>
          </a:ln>
        </p:spPr>
      </p:pic>
      <p:sp>
        <p:nvSpPr>
          <p:cNvPr id="67" name="TextBox 66"/>
          <p:cNvSpPr txBox="1"/>
          <p:nvPr/>
        </p:nvSpPr>
        <p:spPr>
          <a:xfrm>
            <a:off x="10287000" y="7543800"/>
            <a:ext cx="7406640" cy="411479"/>
          </a:xfrm>
          <a:prstGeom prst="rect">
            <a:avLst/>
          </a:prstGeom>
          <a:noFill/>
        </p:spPr>
        <p:txBody>
          <a:bodyPr wrap="square" lIns="0" tIns="0" rIns="0" bIns="0" anchor="t">
            <a:spAutoFit/>
          </a:bodyPr>
          <a:lstStyle/>
          <a:p>
            <a:pPr algn="l"/>
            <a:r>
              <a:rPr sz="1650" b="0">
                <a:solidFill>
                  <a:srgbClr val="5A6470"/>
                </a:solidFill>
                <a:latin typeface="Times New Roman"/>
              </a:rPr>
              <a:t>Courtside input  ·  attack routes  ·  player efficiency</a:t>
            </a:r>
          </a:p>
        </p:txBody>
      </p:sp>
      <p:sp>
        <p:nvSpPr>
          <p:cNvPr id="68" name="Rounded Rectangle 67"/>
          <p:cNvSpPr/>
          <p:nvPr/>
        </p:nvSpPr>
        <p:spPr>
          <a:xfrm>
            <a:off x="10287000" y="8161020"/>
            <a:ext cx="1988819" cy="1097280"/>
          </a:xfrm>
          <a:prstGeom prst="roundRect">
            <a:avLst>
              <a:gd name="adj" fmla="val 12000"/>
            </a:avLst>
          </a:prstGeom>
          <a:solidFill>
            <a:srgbClr val="146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0287000" y="8339328"/>
            <a:ext cx="1988819" cy="384048"/>
          </a:xfrm>
          <a:prstGeom prst="rect">
            <a:avLst/>
          </a:prstGeom>
          <a:noFill/>
        </p:spPr>
        <p:txBody>
          <a:bodyPr wrap="square" lIns="0" tIns="0" rIns="0" bIns="0" anchor="t">
            <a:spAutoFit/>
          </a:bodyPr>
          <a:lstStyle/>
          <a:p>
            <a:pPr algn="ctr"/>
            <a:r>
              <a:rPr sz="1950" b="1" dirty="0">
                <a:solidFill>
                  <a:srgbClr val="FFFFFF"/>
                </a:solidFill>
                <a:latin typeface="Times New Roman"/>
              </a:rPr>
              <a:t>RECORD</a:t>
            </a:r>
          </a:p>
        </p:txBody>
      </p:sp>
      <p:sp>
        <p:nvSpPr>
          <p:cNvPr id="70" name="TextBox 69"/>
          <p:cNvSpPr txBox="1"/>
          <p:nvPr/>
        </p:nvSpPr>
        <p:spPr>
          <a:xfrm>
            <a:off x="10287000" y="8723376"/>
            <a:ext cx="1988819" cy="384048"/>
          </a:xfrm>
          <a:prstGeom prst="rect">
            <a:avLst/>
          </a:prstGeom>
          <a:noFill/>
        </p:spPr>
        <p:txBody>
          <a:bodyPr wrap="square" lIns="0" tIns="0" rIns="0" bIns="0" anchor="t">
            <a:spAutoFit/>
          </a:bodyPr>
          <a:lstStyle/>
          <a:p>
            <a:pPr algn="ctr"/>
            <a:r>
              <a:rPr sz="1650" b="0" dirty="0">
                <a:solidFill>
                  <a:srgbClr val="FFFFFF"/>
                </a:solidFill>
                <a:latin typeface="Times New Roman"/>
              </a:rPr>
              <a:t>Courtside tablet</a:t>
            </a:r>
          </a:p>
        </p:txBody>
      </p:sp>
      <p:pic>
        <p:nvPicPr>
          <p:cNvPr id="71" name="Picture 70" descr="ic_arrow_n.png"/>
          <p:cNvPicPr>
            <a:picLocks noChangeAspect="1"/>
          </p:cNvPicPr>
          <p:nvPr/>
        </p:nvPicPr>
        <p:blipFill>
          <a:blip r:embed="rId7"/>
          <a:stretch>
            <a:fillRect/>
          </a:stretch>
        </p:blipFill>
        <p:spPr>
          <a:xfrm>
            <a:off x="12344400" y="8572500"/>
            <a:ext cx="329184" cy="329184"/>
          </a:xfrm>
          <a:prstGeom prst="rect">
            <a:avLst/>
          </a:prstGeom>
        </p:spPr>
      </p:pic>
      <p:sp>
        <p:nvSpPr>
          <p:cNvPr id="72" name="Rounded Rectangle 71"/>
          <p:cNvSpPr/>
          <p:nvPr/>
        </p:nvSpPr>
        <p:spPr>
          <a:xfrm>
            <a:off x="12742163" y="8161020"/>
            <a:ext cx="1988819" cy="1097280"/>
          </a:xfrm>
          <a:prstGeom prst="roundRect">
            <a:avLst>
              <a:gd name="adj" fmla="val 12000"/>
            </a:avLst>
          </a:prstGeom>
          <a:solidFill>
            <a:srgbClr val="1E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2742163" y="8339328"/>
            <a:ext cx="1988819" cy="384048"/>
          </a:xfrm>
          <a:prstGeom prst="rect">
            <a:avLst/>
          </a:prstGeom>
          <a:noFill/>
        </p:spPr>
        <p:txBody>
          <a:bodyPr wrap="square" lIns="0" tIns="0" rIns="0" bIns="0" anchor="t">
            <a:spAutoFit/>
          </a:bodyPr>
          <a:lstStyle/>
          <a:p>
            <a:pPr algn="ctr"/>
            <a:r>
              <a:rPr sz="1950" b="1">
                <a:solidFill>
                  <a:srgbClr val="FFFFFF"/>
                </a:solidFill>
                <a:latin typeface="Times New Roman"/>
              </a:rPr>
              <a:t>SYNC</a:t>
            </a:r>
          </a:p>
        </p:txBody>
      </p:sp>
      <p:sp>
        <p:nvSpPr>
          <p:cNvPr id="74" name="TextBox 73"/>
          <p:cNvSpPr txBox="1"/>
          <p:nvPr/>
        </p:nvSpPr>
        <p:spPr>
          <a:xfrm>
            <a:off x="12742163" y="8723376"/>
            <a:ext cx="1988819" cy="384048"/>
          </a:xfrm>
          <a:prstGeom prst="rect">
            <a:avLst/>
          </a:prstGeom>
          <a:noFill/>
        </p:spPr>
        <p:txBody>
          <a:bodyPr wrap="square" lIns="0" tIns="0" rIns="0" bIns="0" anchor="t">
            <a:spAutoFit/>
          </a:bodyPr>
          <a:lstStyle/>
          <a:p>
            <a:pPr algn="ctr"/>
            <a:r>
              <a:rPr sz="1650" b="0">
                <a:solidFill>
                  <a:srgbClr val="FFFFFF"/>
                </a:solidFill>
                <a:latin typeface="Times New Roman"/>
              </a:rPr>
              <a:t>Cloud database</a:t>
            </a:r>
          </a:p>
        </p:txBody>
      </p:sp>
      <p:pic>
        <p:nvPicPr>
          <p:cNvPr id="75" name="Picture 74" descr="ic_arrow_n.png"/>
          <p:cNvPicPr>
            <a:picLocks noChangeAspect="1"/>
          </p:cNvPicPr>
          <p:nvPr/>
        </p:nvPicPr>
        <p:blipFill>
          <a:blip r:embed="rId7"/>
          <a:stretch>
            <a:fillRect/>
          </a:stretch>
        </p:blipFill>
        <p:spPr>
          <a:xfrm>
            <a:off x="14799563" y="8572500"/>
            <a:ext cx="329184" cy="329184"/>
          </a:xfrm>
          <a:prstGeom prst="rect">
            <a:avLst/>
          </a:prstGeom>
        </p:spPr>
      </p:pic>
      <p:sp>
        <p:nvSpPr>
          <p:cNvPr id="76" name="Rounded Rectangle 75"/>
          <p:cNvSpPr/>
          <p:nvPr/>
        </p:nvSpPr>
        <p:spPr>
          <a:xfrm>
            <a:off x="15197328" y="8161020"/>
            <a:ext cx="1988819" cy="1097280"/>
          </a:xfrm>
          <a:prstGeom prst="roundRect">
            <a:avLst>
              <a:gd name="adj" fmla="val 12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15197328" y="8339328"/>
            <a:ext cx="1988819" cy="384048"/>
          </a:xfrm>
          <a:prstGeom prst="rect">
            <a:avLst/>
          </a:prstGeom>
          <a:noFill/>
        </p:spPr>
        <p:txBody>
          <a:bodyPr wrap="square" lIns="0" tIns="0" rIns="0" bIns="0" anchor="t">
            <a:spAutoFit/>
          </a:bodyPr>
          <a:lstStyle/>
          <a:p>
            <a:pPr algn="ctr"/>
            <a:r>
              <a:rPr sz="1950" b="1">
                <a:solidFill>
                  <a:srgbClr val="FFFFFF"/>
                </a:solidFill>
                <a:latin typeface="Times New Roman"/>
              </a:rPr>
              <a:t>DECIDE</a:t>
            </a:r>
          </a:p>
        </p:txBody>
      </p:sp>
      <p:sp>
        <p:nvSpPr>
          <p:cNvPr id="78" name="TextBox 77"/>
          <p:cNvSpPr txBox="1"/>
          <p:nvPr/>
        </p:nvSpPr>
        <p:spPr>
          <a:xfrm>
            <a:off x="15197328" y="8723376"/>
            <a:ext cx="1988819" cy="384048"/>
          </a:xfrm>
          <a:prstGeom prst="rect">
            <a:avLst/>
          </a:prstGeom>
          <a:noFill/>
        </p:spPr>
        <p:txBody>
          <a:bodyPr wrap="square" lIns="0" tIns="0" rIns="0" bIns="0" anchor="t">
            <a:spAutoFit/>
          </a:bodyPr>
          <a:lstStyle/>
          <a:p>
            <a:pPr algn="ctr"/>
            <a:r>
              <a:rPr sz="1650" b="0">
                <a:solidFill>
                  <a:srgbClr val="FFFFFF"/>
                </a:solidFill>
                <a:latin typeface="Times New Roman"/>
              </a:rPr>
              <a:t>Coach’s tablet</a:t>
            </a:r>
          </a:p>
        </p:txBody>
      </p:sp>
      <p:sp>
        <p:nvSpPr>
          <p:cNvPr id="10" name="TextBox 8">
            <a:extLst>
              <a:ext uri="{FF2B5EF4-FFF2-40B4-BE49-F238E27FC236}">
                <a16:creationId xmlns:a16="http://schemas.microsoft.com/office/drawing/2014/main" id="{BEBD18AC-214D-B313-A513-DE10717E067C}"/>
              </a:ext>
            </a:extLst>
          </p:cNvPr>
          <p:cNvSpPr txBox="1"/>
          <p:nvPr/>
        </p:nvSpPr>
        <p:spPr>
          <a:xfrm>
            <a:off x="1513740" y="1844040"/>
            <a:ext cx="12828418" cy="1394460"/>
          </a:xfrm>
          <a:prstGeom prst="rect">
            <a:avLst/>
          </a:prstGeom>
        </p:spPr>
        <p:txBody>
          <a:bodyPr lIns="0" tIns="0" rIns="0" bIns="0" rtlCol="0" anchor="ctr"/>
          <a:lstStyle/>
          <a:p>
            <a:pPr algn="l">
              <a:lnSpc>
                <a:spcPts val="4284"/>
              </a:lnSpc>
            </a:pPr>
            <a:r>
              <a:rPr lang="en-US" sz="5400" b="1" dirty="0">
                <a:solidFill>
                  <a:srgbClr val="003366"/>
                </a:solidFill>
                <a:latin typeface="Times New Roman"/>
                <a:ea typeface="Times New Roman"/>
                <a:cs typeface="Times New Roman"/>
                <a:sym typeface="Times New Roman"/>
              </a:rPr>
              <a:t>Volleyball Scouting System</a:t>
            </a:r>
          </a:p>
        </p:txBody>
      </p:sp>
      <p:sp>
        <p:nvSpPr>
          <p:cNvPr id="11" name="Freeform 27">
            <a:extLst>
              <a:ext uri="{FF2B5EF4-FFF2-40B4-BE49-F238E27FC236}">
                <a16:creationId xmlns:a16="http://schemas.microsoft.com/office/drawing/2014/main" id="{7C56F576-9178-6566-6DE7-BD7D05E55D1B}"/>
              </a:ext>
            </a:extLst>
          </p:cNvPr>
          <p:cNvSpPr/>
          <p:nvPr/>
        </p:nvSpPr>
        <p:spPr>
          <a:xfrm>
            <a:off x="799154" y="2252616"/>
            <a:ext cx="455075" cy="455075"/>
          </a:xfrm>
          <a:custGeom>
            <a:avLst/>
            <a:gdLst/>
            <a:ahLst/>
            <a:cxnLst/>
            <a:rect l="l" t="t" r="r" b="b"/>
            <a:pathLst>
              <a:path w="455075" h="455075">
                <a:moveTo>
                  <a:pt x="0" y="0"/>
                </a:moveTo>
                <a:lnTo>
                  <a:pt x="455074" y="0"/>
                </a:lnTo>
                <a:lnTo>
                  <a:pt x="455074" y="455075"/>
                </a:lnTo>
                <a:lnTo>
                  <a:pt x="0" y="4550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15" name="Group 2">
            <a:extLst>
              <a:ext uri="{FF2B5EF4-FFF2-40B4-BE49-F238E27FC236}">
                <a16:creationId xmlns:a16="http://schemas.microsoft.com/office/drawing/2014/main" id="{124A00B4-0DC1-B160-D6D9-206C899678FC}"/>
              </a:ext>
            </a:extLst>
          </p:cNvPr>
          <p:cNvGrpSpPr/>
          <p:nvPr/>
        </p:nvGrpSpPr>
        <p:grpSpPr>
          <a:xfrm>
            <a:off x="0" y="25405"/>
            <a:ext cx="18288000" cy="3744230"/>
            <a:chOff x="0" y="0"/>
            <a:chExt cx="24384000" cy="4992306"/>
          </a:xfrm>
        </p:grpSpPr>
        <p:sp>
          <p:nvSpPr>
            <p:cNvPr id="17" name="Freeform 3" descr="一張含有 黑暗, 黑色, 螢幕擷取畫面, 光線 的圖片  AI 產生的內容可能不正確。">
              <a:extLst>
                <a:ext uri="{FF2B5EF4-FFF2-40B4-BE49-F238E27FC236}">
                  <a16:creationId xmlns:a16="http://schemas.microsoft.com/office/drawing/2014/main" id="{797E7FFE-AA23-C1DB-1C91-FFB63BE3B2AB}"/>
                </a:ext>
              </a:extLst>
            </p:cNvPr>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10"/>
              <a:stretch>
                <a:fillRect b="-1"/>
              </a:stretch>
            </a:blipFill>
          </p:spPr>
        </p:sp>
      </p:grpSp>
      <p:sp>
        <p:nvSpPr>
          <p:cNvPr id="18" name="文字方塊 17">
            <a:extLst>
              <a:ext uri="{FF2B5EF4-FFF2-40B4-BE49-F238E27FC236}">
                <a16:creationId xmlns:a16="http://schemas.microsoft.com/office/drawing/2014/main" id="{874C32CD-AE7A-78D5-238D-6126E1A208B8}"/>
              </a:ext>
            </a:extLst>
          </p:cNvPr>
          <p:cNvSpPr txBox="1"/>
          <p:nvPr/>
        </p:nvSpPr>
        <p:spPr>
          <a:xfrm>
            <a:off x="11887200" y="-39489"/>
            <a:ext cx="7680960" cy="369332"/>
          </a:xfrm>
          <a:prstGeom prst="rect">
            <a:avLst/>
          </a:prstGeom>
          <a:noFill/>
        </p:spPr>
        <p:txBody>
          <a:bodyPr wrap="square">
            <a:spAutoFit/>
          </a:bodyPr>
          <a:lstStyle/>
          <a:p>
            <a:pPr eaLnBrk="1" fontAlgn="auto" hangingPunct="1"/>
            <a:r>
              <a:rPr lang="en-US" altLang="zh-TW"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rPr>
              <a:t>Department of Sports Technology &amp; Information Development</a:t>
            </a:r>
            <a:endParaRPr lang="zh-TW" altLang="en-US"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119485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363408" y="599237"/>
            <a:ext cx="1103243" cy="551059"/>
            <a:chOff x="0" y="0"/>
            <a:chExt cx="1470990" cy="734746"/>
          </a:xfrm>
        </p:grpSpPr>
        <p:sp>
          <p:nvSpPr>
            <p:cNvPr id="5" name="Freeform 5"/>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7"/>
              <a:stretch>
                <a:fillRect t="-221" r="3" b="-226"/>
              </a:stretch>
            </a:blipFill>
          </p:spPr>
        </p:sp>
      </p:grpSp>
      <p:sp>
        <p:nvSpPr>
          <p:cNvPr id="7" name="Freeform 7"/>
          <p:cNvSpPr/>
          <p:nvPr/>
        </p:nvSpPr>
        <p:spPr>
          <a:xfrm>
            <a:off x="1513740" y="1755038"/>
            <a:ext cx="16475784" cy="1508760"/>
          </a:xfrm>
          <a:custGeom>
            <a:avLst/>
            <a:gdLst/>
            <a:ahLst/>
            <a:cxnLst/>
            <a:rect l="l" t="t" r="r" b="b"/>
            <a:pathLst>
              <a:path w="21967712" h="2011680">
                <a:moveTo>
                  <a:pt x="0" y="0"/>
                </a:moveTo>
                <a:lnTo>
                  <a:pt x="21967712" y="0"/>
                </a:lnTo>
                <a:lnTo>
                  <a:pt x="21967712" y="2011680"/>
                </a:lnTo>
                <a:lnTo>
                  <a:pt x="0" y="2011680"/>
                </a:lnTo>
                <a:close/>
              </a:path>
            </a:pathLst>
          </a:custGeom>
          <a:blipFill>
            <a:blip r:embed="rId8">
              <a:alphaModFix amt="0"/>
            </a:blip>
            <a:stretch>
              <a:fillRect t="-192578" r="-14005" b="-192578"/>
            </a:stretch>
          </a:blipFill>
        </p:spPr>
        <p:txBody>
          <a:bodyPr/>
          <a:lstStyle/>
          <a:p>
            <a:endParaRPr/>
          </a:p>
        </p:txBody>
      </p:sp>
      <p:sp>
        <p:nvSpPr>
          <p:cNvPr id="16" name="TextBox 4">
            <a:extLst>
              <a:ext uri="{FF2B5EF4-FFF2-40B4-BE49-F238E27FC236}">
                <a16:creationId xmlns:a16="http://schemas.microsoft.com/office/drawing/2014/main" id="{F63A9976-7FD5-3ED0-F6F3-A040EAF22755}"/>
              </a:ext>
            </a:extLst>
          </p:cNvPr>
          <p:cNvSpPr txBox="1"/>
          <p:nvPr/>
        </p:nvSpPr>
        <p:spPr>
          <a:xfrm>
            <a:off x="1427110" y="2904281"/>
            <a:ext cx="9088489" cy="400110"/>
          </a:xfrm>
          <a:prstGeom prst="rect">
            <a:avLst/>
          </a:prstGeom>
          <a:noFill/>
        </p:spPr>
        <p:txBody>
          <a:bodyPr wrap="square" anchor="ctr">
            <a:spAutoFit/>
          </a:bodyPr>
          <a:lstStyle/>
          <a:p>
            <a:pPr algn="l"/>
            <a:r>
              <a:rPr lang="en-US" altLang="zh-TW" sz="2000" b="0" dirty="0">
                <a:solidFill>
                  <a:srgbClr val="5A6870"/>
                </a:solidFill>
                <a:latin typeface="Times New Roman" panose="02020603050405020304" pitchFamily="18" charset="0"/>
                <a:cs typeface="Times New Roman" panose="02020603050405020304" pitchFamily="18" charset="0"/>
              </a:rPr>
              <a:t>Aichi-Nagoya 2026 — recorded courtside, read by the coaching staff in real time</a:t>
            </a:r>
          </a:p>
        </p:txBody>
      </p:sp>
      <p:sp>
        <p:nvSpPr>
          <p:cNvPr id="60" name="TextBox 59"/>
          <p:cNvSpPr txBox="1"/>
          <p:nvPr/>
        </p:nvSpPr>
        <p:spPr>
          <a:xfrm>
            <a:off x="1220724" y="3566160"/>
            <a:ext cx="10287000" cy="411479"/>
          </a:xfrm>
          <a:prstGeom prst="rect">
            <a:avLst/>
          </a:prstGeom>
          <a:noFill/>
        </p:spPr>
        <p:txBody>
          <a:bodyPr wrap="square" lIns="0" tIns="0" rIns="0" bIns="0" anchor="t">
            <a:spAutoFit/>
          </a:bodyPr>
          <a:lstStyle/>
          <a:p>
            <a:pPr algn="l"/>
            <a:r>
              <a:rPr sz="2400" b="1">
                <a:solidFill>
                  <a:srgbClr val="1F5C99"/>
                </a:solidFill>
                <a:latin typeface="Times New Roman"/>
              </a:rPr>
              <a:t>Courtside Demo</a:t>
            </a:r>
          </a:p>
        </p:txBody>
      </p:sp>
      <p:pic>
        <p:nvPicPr>
          <p:cNvPr id="61" name="Demo video 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9"/>
          <a:stretch>
            <a:fillRect/>
          </a:stretch>
        </p:blipFill>
        <p:spPr>
          <a:xfrm>
            <a:off x="1220724" y="4114800"/>
            <a:ext cx="5006340" cy="2816066"/>
          </a:xfrm>
          <a:prstGeom prst="rect">
            <a:avLst/>
          </a:prstGeom>
        </p:spPr>
      </p:pic>
      <p:pic>
        <p:nvPicPr>
          <p:cNvPr id="62" name="Demo video 2">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10"/>
          <a:stretch>
            <a:fillRect/>
          </a:stretch>
        </p:blipFill>
        <p:spPr>
          <a:xfrm>
            <a:off x="6569964" y="4114800"/>
            <a:ext cx="5006340" cy="2816066"/>
          </a:xfrm>
          <a:prstGeom prst="rect">
            <a:avLst/>
          </a:prstGeom>
        </p:spPr>
      </p:pic>
      <p:sp>
        <p:nvSpPr>
          <p:cNvPr id="63" name="TextBox 62"/>
          <p:cNvSpPr txBox="1"/>
          <p:nvPr/>
        </p:nvSpPr>
        <p:spPr>
          <a:xfrm>
            <a:off x="1220724" y="7068026"/>
            <a:ext cx="10355580" cy="411479"/>
          </a:xfrm>
          <a:prstGeom prst="rect">
            <a:avLst/>
          </a:prstGeom>
          <a:noFill/>
        </p:spPr>
        <p:txBody>
          <a:bodyPr wrap="square" lIns="0" tIns="0" rIns="0" bIns="0" anchor="t">
            <a:spAutoFit/>
          </a:bodyPr>
          <a:lstStyle/>
          <a:p>
            <a:pPr algn="l"/>
            <a:r>
              <a:rPr sz="1650" b="0">
                <a:solidFill>
                  <a:srgbClr val="5A6470"/>
                </a:solidFill>
                <a:latin typeface="Times New Roman"/>
              </a:rPr>
              <a:t>Click to play · each rally is tapped in as it happens, from the press tribune</a:t>
            </a:r>
          </a:p>
        </p:txBody>
      </p:sp>
      <p:sp>
        <p:nvSpPr>
          <p:cNvPr id="64" name="TextBox 63"/>
          <p:cNvSpPr txBox="1"/>
          <p:nvPr/>
        </p:nvSpPr>
        <p:spPr>
          <a:xfrm>
            <a:off x="12138659" y="3566160"/>
            <a:ext cx="5074920" cy="411479"/>
          </a:xfrm>
          <a:prstGeom prst="rect">
            <a:avLst/>
          </a:prstGeom>
          <a:noFill/>
        </p:spPr>
        <p:txBody>
          <a:bodyPr wrap="square" lIns="0" tIns="0" rIns="0" bIns="0" anchor="t">
            <a:spAutoFit/>
          </a:bodyPr>
          <a:lstStyle/>
          <a:p>
            <a:pPr algn="l"/>
            <a:r>
              <a:rPr sz="2400" b="1">
                <a:solidFill>
                  <a:srgbClr val="1F5C99"/>
                </a:solidFill>
                <a:latin typeface="Times New Roman"/>
              </a:rPr>
              <a:t>In the Coaches’ Hands</a:t>
            </a:r>
          </a:p>
        </p:txBody>
      </p:sp>
      <p:pic>
        <p:nvPicPr>
          <p:cNvPr id="65" name="Picture 64" descr="timeout1.png"/>
          <p:cNvPicPr>
            <a:picLocks noChangeAspect="1"/>
          </p:cNvPicPr>
          <p:nvPr/>
        </p:nvPicPr>
        <p:blipFill>
          <a:blip r:embed="rId11"/>
          <a:stretch>
            <a:fillRect/>
          </a:stretch>
        </p:blipFill>
        <p:spPr>
          <a:xfrm>
            <a:off x="12152376" y="4114800"/>
            <a:ext cx="4937760" cy="2271317"/>
          </a:xfrm>
          <a:prstGeom prst="rect">
            <a:avLst/>
          </a:prstGeom>
          <a:ln w="19050">
            <a:solidFill>
              <a:srgbClr val="D3DEE8"/>
            </a:solidFill>
          </a:ln>
        </p:spPr>
      </p:pic>
      <p:sp>
        <p:nvSpPr>
          <p:cNvPr id="66" name="TextBox 65"/>
          <p:cNvSpPr txBox="1"/>
          <p:nvPr/>
        </p:nvSpPr>
        <p:spPr>
          <a:xfrm>
            <a:off x="12138659" y="6523277"/>
            <a:ext cx="5074920" cy="685800"/>
          </a:xfrm>
          <a:prstGeom prst="rect">
            <a:avLst/>
          </a:prstGeom>
          <a:noFill/>
        </p:spPr>
        <p:txBody>
          <a:bodyPr wrap="square" lIns="0" tIns="0" rIns="0" bIns="0" anchor="t">
            <a:spAutoFit/>
          </a:bodyPr>
          <a:lstStyle/>
          <a:p>
            <a:pPr algn="l"/>
            <a:r>
              <a:rPr sz="1650" b="0">
                <a:solidFill>
                  <a:srgbClr val="5A6470"/>
                </a:solidFill>
                <a:latin typeface="Times New Roman"/>
              </a:rPr>
              <a:t>Timeout: the coach reads live data on the tablet</a:t>
            </a:r>
          </a:p>
        </p:txBody>
      </p:sp>
      <p:sp>
        <p:nvSpPr>
          <p:cNvPr id="67" name="Rounded Rectangle 66"/>
          <p:cNvSpPr/>
          <p:nvPr/>
        </p:nvSpPr>
        <p:spPr>
          <a:xfrm>
            <a:off x="1220724" y="7612379"/>
            <a:ext cx="4965192" cy="1645919"/>
          </a:xfrm>
          <a:prstGeom prst="roundRect">
            <a:avLst>
              <a:gd name="adj" fmla="val 8000"/>
            </a:avLst>
          </a:prstGeom>
          <a:solidFill>
            <a:srgbClr val="FFFFFF"/>
          </a:solidFill>
          <a:ln w="19050">
            <a:solidFill>
              <a:srgbClr val="D3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1495044" y="7955279"/>
            <a:ext cx="960119" cy="960119"/>
          </a:xfrm>
          <a:prstGeom prst="ellipse">
            <a:avLst/>
          </a:prstGeom>
          <a:solidFill>
            <a:srgbClr val="146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9" name="Picture 68" descr="ic_chess_w.png"/>
          <p:cNvPicPr>
            <a:picLocks noChangeAspect="1"/>
          </p:cNvPicPr>
          <p:nvPr/>
        </p:nvPicPr>
        <p:blipFill>
          <a:blip r:embed="rId12"/>
          <a:stretch>
            <a:fillRect/>
          </a:stretch>
        </p:blipFill>
        <p:spPr>
          <a:xfrm>
            <a:off x="1735074" y="8195309"/>
            <a:ext cx="480059" cy="480059"/>
          </a:xfrm>
          <a:prstGeom prst="rect">
            <a:avLst/>
          </a:prstGeom>
        </p:spPr>
      </p:pic>
      <p:sp>
        <p:nvSpPr>
          <p:cNvPr id="70" name="TextBox 69"/>
          <p:cNvSpPr txBox="1"/>
          <p:nvPr/>
        </p:nvSpPr>
        <p:spPr>
          <a:xfrm>
            <a:off x="2702052" y="7845552"/>
            <a:ext cx="3291839" cy="438912"/>
          </a:xfrm>
          <a:prstGeom prst="rect">
            <a:avLst/>
          </a:prstGeom>
          <a:noFill/>
        </p:spPr>
        <p:txBody>
          <a:bodyPr wrap="square" lIns="0" tIns="0" rIns="0" bIns="0" anchor="t">
            <a:spAutoFit/>
          </a:bodyPr>
          <a:lstStyle/>
          <a:p>
            <a:pPr algn="l"/>
            <a:r>
              <a:rPr sz="2250" b="1">
                <a:solidFill>
                  <a:srgbClr val="1F5C99"/>
                </a:solidFill>
                <a:latin typeface="Times New Roman"/>
              </a:rPr>
              <a:t>Opponent Tendencies</a:t>
            </a:r>
          </a:p>
        </p:txBody>
      </p:sp>
      <p:sp>
        <p:nvSpPr>
          <p:cNvPr id="71" name="TextBox 70"/>
          <p:cNvSpPr txBox="1"/>
          <p:nvPr/>
        </p:nvSpPr>
        <p:spPr>
          <a:xfrm>
            <a:off x="2702052" y="8311896"/>
            <a:ext cx="3319272" cy="822959"/>
          </a:xfrm>
          <a:prstGeom prst="rect">
            <a:avLst/>
          </a:prstGeom>
          <a:noFill/>
        </p:spPr>
        <p:txBody>
          <a:bodyPr wrap="square" lIns="0" tIns="0" rIns="0" bIns="0" anchor="t">
            <a:spAutoFit/>
          </a:bodyPr>
          <a:lstStyle/>
          <a:p>
            <a:pPr algn="l"/>
            <a:r>
              <a:rPr sz="1725" b="0">
                <a:solidFill>
                  <a:srgbClr val="5A6470"/>
                </a:solidFill>
                <a:latin typeface="Times New Roman"/>
              </a:rPr>
              <a:t>Attack routes and serve patterns, updated every rally</a:t>
            </a:r>
          </a:p>
        </p:txBody>
      </p:sp>
      <p:sp>
        <p:nvSpPr>
          <p:cNvPr id="72" name="Rounded Rectangle 71"/>
          <p:cNvSpPr/>
          <p:nvPr/>
        </p:nvSpPr>
        <p:spPr>
          <a:xfrm>
            <a:off x="6597396" y="7612379"/>
            <a:ext cx="4965192" cy="1645919"/>
          </a:xfrm>
          <a:prstGeom prst="roundRect">
            <a:avLst>
              <a:gd name="adj" fmla="val 8000"/>
            </a:avLst>
          </a:prstGeom>
          <a:solidFill>
            <a:srgbClr val="FFFFFF"/>
          </a:solidFill>
          <a:ln w="19050">
            <a:solidFill>
              <a:srgbClr val="D3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6871716" y="7955279"/>
            <a:ext cx="960119" cy="960119"/>
          </a:xfrm>
          <a:prstGeom prst="ellipse">
            <a:avLst/>
          </a:prstGeom>
          <a:solidFill>
            <a:srgbClr val="1E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4" name="Picture 73" descr="ic_chart_w.png"/>
          <p:cNvPicPr>
            <a:picLocks noChangeAspect="1"/>
          </p:cNvPicPr>
          <p:nvPr/>
        </p:nvPicPr>
        <p:blipFill>
          <a:blip r:embed="rId13"/>
          <a:stretch>
            <a:fillRect/>
          </a:stretch>
        </p:blipFill>
        <p:spPr>
          <a:xfrm>
            <a:off x="7111746" y="8195309"/>
            <a:ext cx="480059" cy="480059"/>
          </a:xfrm>
          <a:prstGeom prst="rect">
            <a:avLst/>
          </a:prstGeom>
        </p:spPr>
      </p:pic>
      <p:sp>
        <p:nvSpPr>
          <p:cNvPr id="75" name="TextBox 74"/>
          <p:cNvSpPr txBox="1"/>
          <p:nvPr/>
        </p:nvSpPr>
        <p:spPr>
          <a:xfrm>
            <a:off x="8078723" y="7845552"/>
            <a:ext cx="3291839" cy="438912"/>
          </a:xfrm>
          <a:prstGeom prst="rect">
            <a:avLst/>
          </a:prstGeom>
          <a:noFill/>
        </p:spPr>
        <p:txBody>
          <a:bodyPr wrap="square" lIns="0" tIns="0" rIns="0" bIns="0" anchor="t">
            <a:spAutoFit/>
          </a:bodyPr>
          <a:lstStyle/>
          <a:p>
            <a:pPr algn="l"/>
            <a:r>
              <a:rPr sz="2250" b="1">
                <a:solidFill>
                  <a:srgbClr val="1F5C99"/>
                </a:solidFill>
                <a:latin typeface="Times New Roman"/>
              </a:rPr>
              <a:t>Player Efficiency</a:t>
            </a:r>
          </a:p>
        </p:txBody>
      </p:sp>
      <p:sp>
        <p:nvSpPr>
          <p:cNvPr id="76" name="TextBox 75"/>
          <p:cNvSpPr txBox="1"/>
          <p:nvPr/>
        </p:nvSpPr>
        <p:spPr>
          <a:xfrm>
            <a:off x="8078723" y="8311896"/>
            <a:ext cx="3319272" cy="822959"/>
          </a:xfrm>
          <a:prstGeom prst="rect">
            <a:avLst/>
          </a:prstGeom>
          <a:noFill/>
        </p:spPr>
        <p:txBody>
          <a:bodyPr wrap="square" lIns="0" tIns="0" rIns="0" bIns="0" anchor="t">
            <a:spAutoFit/>
          </a:bodyPr>
          <a:lstStyle/>
          <a:p>
            <a:pPr algn="l"/>
            <a:r>
              <a:rPr sz="1725" b="0">
                <a:solidFill>
                  <a:srgbClr val="5A6470"/>
                </a:solidFill>
                <a:latin typeface="Times New Roman"/>
              </a:rPr>
              <a:t>Attack and serve results per player, set by set</a:t>
            </a:r>
          </a:p>
        </p:txBody>
      </p:sp>
      <p:sp>
        <p:nvSpPr>
          <p:cNvPr id="77" name="Rounded Rectangle 76"/>
          <p:cNvSpPr/>
          <p:nvPr/>
        </p:nvSpPr>
        <p:spPr>
          <a:xfrm>
            <a:off x="11974068" y="7612379"/>
            <a:ext cx="4965192" cy="1645919"/>
          </a:xfrm>
          <a:prstGeom prst="roundRect">
            <a:avLst>
              <a:gd name="adj" fmla="val 8000"/>
            </a:avLst>
          </a:prstGeom>
          <a:solidFill>
            <a:srgbClr val="FFFFFF"/>
          </a:solidFill>
          <a:ln w="19050">
            <a:solidFill>
              <a:srgbClr val="D3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12248388" y="7955279"/>
            <a:ext cx="960119" cy="960119"/>
          </a:xfrm>
          <a:prstGeom prst="ellipse">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9" name="Picture 78" descr="ic_users_w.png"/>
          <p:cNvPicPr>
            <a:picLocks noChangeAspect="1"/>
          </p:cNvPicPr>
          <p:nvPr/>
        </p:nvPicPr>
        <p:blipFill>
          <a:blip r:embed="rId14"/>
          <a:stretch>
            <a:fillRect/>
          </a:stretch>
        </p:blipFill>
        <p:spPr>
          <a:xfrm>
            <a:off x="12488418" y="8195309"/>
            <a:ext cx="480059" cy="480059"/>
          </a:xfrm>
          <a:prstGeom prst="rect">
            <a:avLst/>
          </a:prstGeom>
        </p:spPr>
      </p:pic>
      <p:sp>
        <p:nvSpPr>
          <p:cNvPr id="80" name="TextBox 79"/>
          <p:cNvSpPr txBox="1"/>
          <p:nvPr/>
        </p:nvSpPr>
        <p:spPr>
          <a:xfrm>
            <a:off x="13455396" y="7845552"/>
            <a:ext cx="3291839" cy="438912"/>
          </a:xfrm>
          <a:prstGeom prst="rect">
            <a:avLst/>
          </a:prstGeom>
          <a:noFill/>
        </p:spPr>
        <p:txBody>
          <a:bodyPr wrap="square" lIns="0" tIns="0" rIns="0" bIns="0" anchor="t">
            <a:spAutoFit/>
          </a:bodyPr>
          <a:lstStyle/>
          <a:p>
            <a:pPr algn="l"/>
            <a:r>
              <a:rPr sz="2250" b="1">
                <a:solidFill>
                  <a:srgbClr val="1F5C99"/>
                </a:solidFill>
                <a:latin typeface="Times New Roman"/>
              </a:rPr>
              <a:t>Two National Teams</a:t>
            </a:r>
          </a:p>
        </p:txBody>
      </p:sp>
      <p:sp>
        <p:nvSpPr>
          <p:cNvPr id="81" name="TextBox 80"/>
          <p:cNvSpPr txBox="1"/>
          <p:nvPr/>
        </p:nvSpPr>
        <p:spPr>
          <a:xfrm>
            <a:off x="13455396" y="8311896"/>
            <a:ext cx="3319272" cy="822959"/>
          </a:xfrm>
          <a:prstGeom prst="rect">
            <a:avLst/>
          </a:prstGeom>
          <a:noFill/>
        </p:spPr>
        <p:txBody>
          <a:bodyPr wrap="square" lIns="0" tIns="0" rIns="0" bIns="0" anchor="t">
            <a:spAutoFit/>
          </a:bodyPr>
          <a:lstStyle/>
          <a:p>
            <a:pPr algn="l"/>
            <a:r>
              <a:rPr sz="1725" b="0">
                <a:solidFill>
                  <a:srgbClr val="5A6470"/>
                </a:solidFill>
                <a:latin typeface="Times New Roman"/>
              </a:rPr>
              <a:t>Men’s and women’s squads, from the AVC Cup to the Asian Games</a:t>
            </a:r>
          </a:p>
        </p:txBody>
      </p:sp>
      <p:sp>
        <p:nvSpPr>
          <p:cNvPr id="10" name="TextBox 8">
            <a:extLst>
              <a:ext uri="{FF2B5EF4-FFF2-40B4-BE49-F238E27FC236}">
                <a16:creationId xmlns:a16="http://schemas.microsoft.com/office/drawing/2014/main" id="{F4A5AABA-9117-1DF9-E619-5F867C481A4B}"/>
              </a:ext>
            </a:extLst>
          </p:cNvPr>
          <p:cNvSpPr txBox="1"/>
          <p:nvPr/>
        </p:nvSpPr>
        <p:spPr>
          <a:xfrm>
            <a:off x="1513740" y="1844040"/>
            <a:ext cx="12828418" cy="1394460"/>
          </a:xfrm>
          <a:prstGeom prst="rect">
            <a:avLst/>
          </a:prstGeom>
        </p:spPr>
        <p:txBody>
          <a:bodyPr lIns="0" tIns="0" rIns="0" bIns="0" rtlCol="0" anchor="ctr"/>
          <a:lstStyle/>
          <a:p>
            <a:pPr algn="l">
              <a:lnSpc>
                <a:spcPts val="4284"/>
              </a:lnSpc>
            </a:pPr>
            <a:r>
              <a:rPr lang="en-US" sz="5400" b="1" dirty="0">
                <a:solidFill>
                  <a:srgbClr val="003366"/>
                </a:solidFill>
                <a:latin typeface="Times New Roman"/>
                <a:ea typeface="Times New Roman"/>
                <a:cs typeface="Times New Roman"/>
                <a:sym typeface="Times New Roman"/>
              </a:rPr>
              <a:t>Live at The Asian Games</a:t>
            </a:r>
          </a:p>
        </p:txBody>
      </p:sp>
      <p:sp>
        <p:nvSpPr>
          <p:cNvPr id="11" name="Freeform 27">
            <a:extLst>
              <a:ext uri="{FF2B5EF4-FFF2-40B4-BE49-F238E27FC236}">
                <a16:creationId xmlns:a16="http://schemas.microsoft.com/office/drawing/2014/main" id="{AA83F4D5-5475-448C-DDE9-1A91A8D70C1A}"/>
              </a:ext>
            </a:extLst>
          </p:cNvPr>
          <p:cNvSpPr/>
          <p:nvPr/>
        </p:nvSpPr>
        <p:spPr>
          <a:xfrm>
            <a:off x="799154" y="2252616"/>
            <a:ext cx="455075" cy="455075"/>
          </a:xfrm>
          <a:custGeom>
            <a:avLst/>
            <a:gdLst/>
            <a:ahLst/>
            <a:cxnLst/>
            <a:rect l="l" t="t" r="r" b="b"/>
            <a:pathLst>
              <a:path w="455075" h="455075">
                <a:moveTo>
                  <a:pt x="0" y="0"/>
                </a:moveTo>
                <a:lnTo>
                  <a:pt x="455074" y="0"/>
                </a:lnTo>
                <a:lnTo>
                  <a:pt x="455074" y="455075"/>
                </a:lnTo>
                <a:lnTo>
                  <a:pt x="0" y="45507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12" name="Group 2">
            <a:extLst>
              <a:ext uri="{FF2B5EF4-FFF2-40B4-BE49-F238E27FC236}">
                <a16:creationId xmlns:a16="http://schemas.microsoft.com/office/drawing/2014/main" id="{3BC9139F-B6AC-8F8A-6DFC-4EC75DF3DACC}"/>
              </a:ext>
            </a:extLst>
          </p:cNvPr>
          <p:cNvGrpSpPr/>
          <p:nvPr/>
        </p:nvGrpSpPr>
        <p:grpSpPr>
          <a:xfrm>
            <a:off x="0" y="25405"/>
            <a:ext cx="18288000" cy="3744230"/>
            <a:chOff x="0" y="0"/>
            <a:chExt cx="24384000" cy="4992306"/>
          </a:xfrm>
        </p:grpSpPr>
        <p:sp>
          <p:nvSpPr>
            <p:cNvPr id="13" name="Freeform 3" descr="一張含有 黑暗, 黑色, 螢幕擷取畫面, 光線 的圖片  AI 產生的內容可能不正確。">
              <a:extLst>
                <a:ext uri="{FF2B5EF4-FFF2-40B4-BE49-F238E27FC236}">
                  <a16:creationId xmlns:a16="http://schemas.microsoft.com/office/drawing/2014/main" id="{ABA54C03-F3E6-0CD6-55A8-CC1F463F03E2}"/>
                </a:ext>
              </a:extLst>
            </p:cNvPr>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17"/>
              <a:stretch>
                <a:fillRect b="-1"/>
              </a:stretch>
            </a:blipFill>
          </p:spPr>
        </p:sp>
      </p:grpSp>
      <p:sp>
        <p:nvSpPr>
          <p:cNvPr id="14" name="文字方塊 13">
            <a:extLst>
              <a:ext uri="{FF2B5EF4-FFF2-40B4-BE49-F238E27FC236}">
                <a16:creationId xmlns:a16="http://schemas.microsoft.com/office/drawing/2014/main" id="{7E0C55BB-7509-F4D6-394E-803D59F77EBA}"/>
              </a:ext>
            </a:extLst>
          </p:cNvPr>
          <p:cNvSpPr txBox="1"/>
          <p:nvPr/>
        </p:nvSpPr>
        <p:spPr>
          <a:xfrm>
            <a:off x="11887200" y="-39489"/>
            <a:ext cx="7680960" cy="369332"/>
          </a:xfrm>
          <a:prstGeom prst="rect">
            <a:avLst/>
          </a:prstGeom>
          <a:noFill/>
        </p:spPr>
        <p:txBody>
          <a:bodyPr wrap="square">
            <a:spAutoFit/>
          </a:bodyPr>
          <a:lstStyle/>
          <a:p>
            <a:pPr eaLnBrk="1" fontAlgn="auto" hangingPunct="1"/>
            <a:r>
              <a:rPr lang="en-US" altLang="zh-TW"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rPr>
              <a:t>Department of Sports Technology &amp; Information Development</a:t>
            </a:r>
            <a:endParaRPr lang="zh-TW" altLang="en-US"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119485639"/>
      </p:ext>
    </p:extLst>
  </p:cSld>
  <p:clrMapOvr>
    <a:masterClrMapping/>
  </p:clrMapOvr>
  <p:timing>
    <p:tnLst>
      <p:par>
        <p:cTn id="1" dur="indefinite" restart="never" nodeType="tmRoot">
          <p:childTnLst>
            <p:video>
              <p:cMediaNode vol="80000">
                <p:cTn id="2" fill="hold" display="0">
                  <p:stCondLst>
                    <p:cond delay="indefinite"/>
                  </p:stCondLst>
                </p:cTn>
                <p:tgtEl>
                  <p:spTgt spid="61"/>
                </p:tgtEl>
              </p:cMediaNode>
            </p:video>
            <p:video>
              <p:cMediaNode vol="80000">
                <p:cTn id="3" fill="hold" display="0">
                  <p:stCondLst>
                    <p:cond delay="indefinite"/>
                  </p:stCondLst>
                </p:cTn>
                <p:tgtEl>
                  <p:spTgt spid="62"/>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363408" y="599237"/>
            <a:ext cx="1103243" cy="551059"/>
            <a:chOff x="0" y="0"/>
            <a:chExt cx="1470990" cy="734746"/>
          </a:xfrm>
        </p:grpSpPr>
        <p:sp>
          <p:nvSpPr>
            <p:cNvPr id="5" name="Freeform 5"/>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3"/>
              <a:stretch>
                <a:fillRect t="-221" r="3" b="-226"/>
              </a:stretch>
            </a:blipFill>
          </p:spPr>
        </p:sp>
      </p:grpSp>
      <p:sp>
        <p:nvSpPr>
          <p:cNvPr id="16" name="TextBox 4">
            <a:extLst>
              <a:ext uri="{FF2B5EF4-FFF2-40B4-BE49-F238E27FC236}">
                <a16:creationId xmlns:a16="http://schemas.microsoft.com/office/drawing/2014/main" id="{F63A9976-7FD5-3ED0-F6F3-A040EAF22755}"/>
              </a:ext>
            </a:extLst>
          </p:cNvPr>
          <p:cNvSpPr txBox="1"/>
          <p:nvPr/>
        </p:nvSpPr>
        <p:spPr>
          <a:xfrm>
            <a:off x="1427110" y="2904281"/>
            <a:ext cx="9088489" cy="400110"/>
          </a:xfrm>
          <a:prstGeom prst="rect">
            <a:avLst/>
          </a:prstGeom>
          <a:noFill/>
        </p:spPr>
        <p:txBody>
          <a:bodyPr wrap="square" anchor="ctr">
            <a:spAutoFit/>
          </a:bodyPr>
          <a:lstStyle/>
          <a:p>
            <a:pPr algn="l"/>
            <a:r>
              <a:rPr lang="en-US" altLang="zh-TW" sz="2000" b="0" dirty="0">
                <a:solidFill>
                  <a:srgbClr val="5A6870"/>
                </a:solidFill>
                <a:latin typeface="Times New Roman" panose="02020603050405020304" pitchFamily="18" charset="0"/>
                <a:cs typeface="Times New Roman" panose="02020603050405020304" pitchFamily="18" charset="0"/>
              </a:rPr>
              <a:t>From live records to video-linked, AI-assisted insight</a:t>
            </a:r>
          </a:p>
        </p:txBody>
      </p:sp>
      <p:sp>
        <p:nvSpPr>
          <p:cNvPr id="60" name="TextBox 59"/>
          <p:cNvSpPr txBox="1"/>
          <p:nvPr/>
        </p:nvSpPr>
        <p:spPr>
          <a:xfrm>
            <a:off x="1220724" y="3566160"/>
            <a:ext cx="7680959" cy="411479"/>
          </a:xfrm>
          <a:prstGeom prst="rect">
            <a:avLst/>
          </a:prstGeom>
          <a:noFill/>
        </p:spPr>
        <p:txBody>
          <a:bodyPr wrap="square" lIns="0" tIns="0" rIns="0" bIns="0" anchor="t">
            <a:spAutoFit/>
          </a:bodyPr>
          <a:lstStyle/>
          <a:p>
            <a:pPr algn="l"/>
            <a:r>
              <a:rPr sz="2400" b="1">
                <a:solidFill>
                  <a:srgbClr val="1F5C99"/>
                </a:solidFill>
                <a:latin typeface="Times New Roman"/>
              </a:rPr>
              <a:t>What We Learned</a:t>
            </a:r>
          </a:p>
        </p:txBody>
      </p:sp>
      <p:sp>
        <p:nvSpPr>
          <p:cNvPr id="61" name="Oval 60"/>
          <p:cNvSpPr/>
          <p:nvPr/>
        </p:nvSpPr>
        <p:spPr>
          <a:xfrm>
            <a:off x="1220724" y="4114800"/>
            <a:ext cx="918972" cy="918972"/>
          </a:xfrm>
          <a:prstGeom prst="ellipse">
            <a:avLst/>
          </a:prstGeom>
          <a:solidFill>
            <a:srgbClr val="146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2" name="Picture 61" descr="ic_bolt_w.png"/>
          <p:cNvPicPr>
            <a:picLocks noChangeAspect="1"/>
          </p:cNvPicPr>
          <p:nvPr/>
        </p:nvPicPr>
        <p:blipFill>
          <a:blip r:embed="rId4"/>
          <a:stretch>
            <a:fillRect/>
          </a:stretch>
        </p:blipFill>
        <p:spPr>
          <a:xfrm>
            <a:off x="1450467" y="4344543"/>
            <a:ext cx="459486" cy="459486"/>
          </a:xfrm>
          <a:prstGeom prst="rect">
            <a:avLst/>
          </a:prstGeom>
        </p:spPr>
      </p:pic>
      <p:sp>
        <p:nvSpPr>
          <p:cNvPr id="63" name="TextBox 62"/>
          <p:cNvSpPr txBox="1"/>
          <p:nvPr/>
        </p:nvSpPr>
        <p:spPr>
          <a:xfrm>
            <a:off x="2441448" y="4087368"/>
            <a:ext cx="6720840" cy="466344"/>
          </a:xfrm>
          <a:prstGeom prst="rect">
            <a:avLst/>
          </a:prstGeom>
          <a:noFill/>
        </p:spPr>
        <p:txBody>
          <a:bodyPr wrap="square" lIns="0" tIns="0" rIns="0" bIns="0" anchor="t">
            <a:spAutoFit/>
          </a:bodyPr>
          <a:lstStyle/>
          <a:p>
            <a:pPr algn="l"/>
            <a:r>
              <a:rPr sz="2550" b="1" dirty="0">
                <a:solidFill>
                  <a:srgbClr val="1F5C99"/>
                </a:solidFill>
                <a:latin typeface="Times New Roman"/>
              </a:rPr>
              <a:t>Speed beats depth on the bench</a:t>
            </a:r>
          </a:p>
        </p:txBody>
      </p:sp>
      <p:sp>
        <p:nvSpPr>
          <p:cNvPr id="64" name="TextBox 63"/>
          <p:cNvSpPr txBox="1"/>
          <p:nvPr/>
        </p:nvSpPr>
        <p:spPr>
          <a:xfrm>
            <a:off x="2441448" y="4608576"/>
            <a:ext cx="6720840" cy="1028700"/>
          </a:xfrm>
          <a:prstGeom prst="rect">
            <a:avLst/>
          </a:prstGeom>
          <a:noFill/>
        </p:spPr>
        <p:txBody>
          <a:bodyPr wrap="square" lIns="0" tIns="0" rIns="0" bIns="0" anchor="t">
            <a:spAutoFit/>
          </a:bodyPr>
          <a:lstStyle/>
          <a:p>
            <a:pPr algn="l"/>
            <a:r>
              <a:rPr sz="1800" b="0" dirty="0">
                <a:solidFill>
                  <a:srgbClr val="5A6470"/>
                </a:solidFill>
                <a:latin typeface="Times New Roman"/>
              </a:rPr>
              <a:t>A few key numbers in a timeout are worth more than a full report after the match</a:t>
            </a:r>
          </a:p>
        </p:txBody>
      </p:sp>
      <p:sp>
        <p:nvSpPr>
          <p:cNvPr id="65" name="Oval 64"/>
          <p:cNvSpPr/>
          <p:nvPr/>
        </p:nvSpPr>
        <p:spPr>
          <a:xfrm>
            <a:off x="1220724" y="5897879"/>
            <a:ext cx="918972" cy="918972"/>
          </a:xfrm>
          <a:prstGeom prst="ellipse">
            <a:avLst/>
          </a:prstGeom>
          <a:solidFill>
            <a:srgbClr val="1E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6" name="Picture 65" descr="ic_tablet_w.png"/>
          <p:cNvPicPr>
            <a:picLocks noChangeAspect="1"/>
          </p:cNvPicPr>
          <p:nvPr/>
        </p:nvPicPr>
        <p:blipFill>
          <a:blip r:embed="rId5"/>
          <a:stretch>
            <a:fillRect/>
          </a:stretch>
        </p:blipFill>
        <p:spPr>
          <a:xfrm>
            <a:off x="1450467" y="6127623"/>
            <a:ext cx="459486" cy="459486"/>
          </a:xfrm>
          <a:prstGeom prst="rect">
            <a:avLst/>
          </a:prstGeom>
        </p:spPr>
      </p:pic>
      <p:sp>
        <p:nvSpPr>
          <p:cNvPr id="67" name="TextBox 66"/>
          <p:cNvSpPr txBox="1"/>
          <p:nvPr/>
        </p:nvSpPr>
        <p:spPr>
          <a:xfrm>
            <a:off x="2441448" y="5870448"/>
            <a:ext cx="6720840" cy="466344"/>
          </a:xfrm>
          <a:prstGeom prst="rect">
            <a:avLst/>
          </a:prstGeom>
          <a:noFill/>
        </p:spPr>
        <p:txBody>
          <a:bodyPr wrap="square" lIns="0" tIns="0" rIns="0" bIns="0" anchor="t">
            <a:spAutoFit/>
          </a:bodyPr>
          <a:lstStyle/>
          <a:p>
            <a:pPr algn="l"/>
            <a:r>
              <a:rPr sz="2550" b="1">
                <a:solidFill>
                  <a:srgbClr val="1F5C99"/>
                </a:solidFill>
                <a:latin typeface="Times New Roman"/>
              </a:rPr>
              <a:t>Simple input keeps up with play</a:t>
            </a:r>
          </a:p>
        </p:txBody>
      </p:sp>
      <p:sp>
        <p:nvSpPr>
          <p:cNvPr id="68" name="TextBox 67"/>
          <p:cNvSpPr txBox="1"/>
          <p:nvPr/>
        </p:nvSpPr>
        <p:spPr>
          <a:xfrm>
            <a:off x="2441448" y="6391656"/>
            <a:ext cx="6720840" cy="1028700"/>
          </a:xfrm>
          <a:prstGeom prst="rect">
            <a:avLst/>
          </a:prstGeom>
          <a:noFill/>
        </p:spPr>
        <p:txBody>
          <a:bodyPr wrap="square" lIns="0" tIns="0" rIns="0" bIns="0" anchor="t">
            <a:spAutoFit/>
          </a:bodyPr>
          <a:lstStyle/>
          <a:p>
            <a:pPr algn="l"/>
            <a:r>
              <a:rPr sz="1800" b="0">
                <a:solidFill>
                  <a:srgbClr val="5A6470"/>
                </a:solidFill>
                <a:latin typeface="Times New Roman"/>
              </a:rPr>
              <a:t>A tap-based design lets non-specialist staff record every rally</a:t>
            </a:r>
          </a:p>
        </p:txBody>
      </p:sp>
      <p:sp>
        <p:nvSpPr>
          <p:cNvPr id="69" name="Oval 68"/>
          <p:cNvSpPr/>
          <p:nvPr/>
        </p:nvSpPr>
        <p:spPr>
          <a:xfrm>
            <a:off x="1220724" y="7680959"/>
            <a:ext cx="918972" cy="918972"/>
          </a:xfrm>
          <a:prstGeom prst="ellipse">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0" name="Picture 69" descr="ic_users_w.png"/>
          <p:cNvPicPr>
            <a:picLocks noChangeAspect="1"/>
          </p:cNvPicPr>
          <p:nvPr/>
        </p:nvPicPr>
        <p:blipFill>
          <a:blip r:embed="rId6"/>
          <a:stretch>
            <a:fillRect/>
          </a:stretch>
        </p:blipFill>
        <p:spPr>
          <a:xfrm>
            <a:off x="1450467" y="7910703"/>
            <a:ext cx="459486" cy="459486"/>
          </a:xfrm>
          <a:prstGeom prst="rect">
            <a:avLst/>
          </a:prstGeom>
        </p:spPr>
      </p:pic>
      <p:sp>
        <p:nvSpPr>
          <p:cNvPr id="71" name="TextBox 70"/>
          <p:cNvSpPr txBox="1"/>
          <p:nvPr/>
        </p:nvSpPr>
        <p:spPr>
          <a:xfrm>
            <a:off x="2441448" y="7653528"/>
            <a:ext cx="6720840" cy="466344"/>
          </a:xfrm>
          <a:prstGeom prst="rect">
            <a:avLst/>
          </a:prstGeom>
          <a:noFill/>
        </p:spPr>
        <p:txBody>
          <a:bodyPr wrap="square" lIns="0" tIns="0" rIns="0" bIns="0" anchor="t">
            <a:spAutoFit/>
          </a:bodyPr>
          <a:lstStyle/>
          <a:p>
            <a:pPr algn="l"/>
            <a:r>
              <a:rPr sz="2550" b="1">
                <a:solidFill>
                  <a:srgbClr val="1F5C99"/>
                </a:solidFill>
                <a:latin typeface="Times New Roman"/>
              </a:rPr>
              <a:t>Scouting is a workload problem</a:t>
            </a:r>
          </a:p>
        </p:txBody>
      </p:sp>
      <p:sp>
        <p:nvSpPr>
          <p:cNvPr id="72" name="TextBox 71"/>
          <p:cNvSpPr txBox="1"/>
          <p:nvPr/>
        </p:nvSpPr>
        <p:spPr>
          <a:xfrm>
            <a:off x="2441448" y="8174736"/>
            <a:ext cx="6720840" cy="1028700"/>
          </a:xfrm>
          <a:prstGeom prst="rect">
            <a:avLst/>
          </a:prstGeom>
          <a:noFill/>
        </p:spPr>
        <p:txBody>
          <a:bodyPr wrap="square" lIns="0" tIns="0" rIns="0" bIns="0" anchor="t">
            <a:spAutoFit/>
          </a:bodyPr>
          <a:lstStyle/>
          <a:p>
            <a:pPr algn="l"/>
            <a:r>
              <a:rPr sz="1800" b="0">
                <a:solidFill>
                  <a:srgbClr val="5A6470"/>
                </a:solidFill>
                <a:latin typeface="Times New Roman"/>
              </a:rPr>
              <a:t>Filming, live coding and video editing compete for the same few people; most other teams we observed at Asian level had 2+ dedicated scouts</a:t>
            </a:r>
          </a:p>
        </p:txBody>
      </p:sp>
      <p:sp>
        <p:nvSpPr>
          <p:cNvPr id="73" name="TextBox 72"/>
          <p:cNvSpPr txBox="1"/>
          <p:nvPr/>
        </p:nvSpPr>
        <p:spPr>
          <a:xfrm>
            <a:off x="10287000" y="3566160"/>
            <a:ext cx="6858000" cy="411479"/>
          </a:xfrm>
          <a:prstGeom prst="rect">
            <a:avLst/>
          </a:prstGeom>
          <a:noFill/>
        </p:spPr>
        <p:txBody>
          <a:bodyPr wrap="square" lIns="0" tIns="0" rIns="0" bIns="0" anchor="t">
            <a:spAutoFit/>
          </a:bodyPr>
          <a:lstStyle/>
          <a:p>
            <a:pPr algn="l"/>
            <a:r>
              <a:rPr sz="2400" b="1">
                <a:solidFill>
                  <a:srgbClr val="1F5C99"/>
                </a:solidFill>
                <a:latin typeface="Times New Roman"/>
              </a:rPr>
              <a:t>Where We Are Going</a:t>
            </a:r>
          </a:p>
        </p:txBody>
      </p:sp>
      <p:sp>
        <p:nvSpPr>
          <p:cNvPr id="74" name="Rounded Rectangle 73"/>
          <p:cNvSpPr/>
          <p:nvPr/>
        </p:nvSpPr>
        <p:spPr>
          <a:xfrm>
            <a:off x="10287000" y="3977639"/>
            <a:ext cx="6789420" cy="1604772"/>
          </a:xfrm>
          <a:prstGeom prst="roundRect">
            <a:avLst>
              <a:gd name="adj" fmla="val 8000"/>
            </a:avLst>
          </a:prstGeom>
          <a:solidFill>
            <a:srgbClr val="EEF4FA"/>
          </a:solidFill>
          <a:ln w="19050">
            <a:solidFill>
              <a:srgbClr val="D3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561320" y="4142232"/>
            <a:ext cx="822959" cy="617220"/>
          </a:xfrm>
          <a:prstGeom prst="rect">
            <a:avLst/>
          </a:prstGeom>
          <a:noFill/>
        </p:spPr>
        <p:txBody>
          <a:bodyPr wrap="square" lIns="0" tIns="0" rIns="0" bIns="0" anchor="t">
            <a:spAutoFit/>
          </a:bodyPr>
          <a:lstStyle/>
          <a:p>
            <a:pPr algn="l"/>
            <a:r>
              <a:rPr sz="3300" b="1">
                <a:solidFill>
                  <a:srgbClr val="1468B3"/>
                </a:solidFill>
                <a:latin typeface="Times New Roman"/>
              </a:rPr>
              <a:t>01</a:t>
            </a:r>
          </a:p>
        </p:txBody>
      </p:sp>
      <p:sp>
        <p:nvSpPr>
          <p:cNvPr id="76" name="TextBox 75"/>
          <p:cNvSpPr txBox="1"/>
          <p:nvPr/>
        </p:nvSpPr>
        <p:spPr>
          <a:xfrm>
            <a:off x="11452859" y="4114800"/>
            <a:ext cx="5417820" cy="438912"/>
          </a:xfrm>
          <a:prstGeom prst="rect">
            <a:avLst/>
          </a:prstGeom>
          <a:noFill/>
        </p:spPr>
        <p:txBody>
          <a:bodyPr wrap="square" lIns="0" tIns="0" rIns="0" bIns="0" anchor="t">
            <a:spAutoFit/>
          </a:bodyPr>
          <a:lstStyle/>
          <a:p>
            <a:pPr algn="l"/>
            <a:r>
              <a:rPr sz="2250" b="1">
                <a:solidFill>
                  <a:srgbClr val="0E3A66"/>
                </a:solidFill>
                <a:latin typeface="Times New Roman"/>
              </a:rPr>
              <a:t>Link Data to Video</a:t>
            </a:r>
          </a:p>
        </p:txBody>
      </p:sp>
      <p:sp>
        <p:nvSpPr>
          <p:cNvPr id="77" name="TextBox 76"/>
          <p:cNvSpPr txBox="1"/>
          <p:nvPr/>
        </p:nvSpPr>
        <p:spPr>
          <a:xfrm>
            <a:off x="11452859" y="4567428"/>
            <a:ext cx="5417820" cy="850392"/>
          </a:xfrm>
          <a:prstGeom prst="rect">
            <a:avLst/>
          </a:prstGeom>
          <a:noFill/>
        </p:spPr>
        <p:txBody>
          <a:bodyPr wrap="square" lIns="0" tIns="0" rIns="0" bIns="0" anchor="t">
            <a:spAutoFit/>
          </a:bodyPr>
          <a:lstStyle/>
          <a:p>
            <a:pPr algn="l"/>
            <a:r>
              <a:rPr sz="1725" b="0">
                <a:solidFill>
                  <a:srgbClr val="5A6470"/>
                </a:solidFill>
                <a:latin typeface="Times New Roman"/>
              </a:rPr>
              <a:t>Each recorded rally jumps straight to its clip for pre-match meetings</a:t>
            </a:r>
          </a:p>
        </p:txBody>
      </p:sp>
      <p:sp>
        <p:nvSpPr>
          <p:cNvPr id="78" name="Rounded Rectangle 77"/>
          <p:cNvSpPr/>
          <p:nvPr/>
        </p:nvSpPr>
        <p:spPr>
          <a:xfrm>
            <a:off x="10287000" y="5760720"/>
            <a:ext cx="6789420" cy="1604772"/>
          </a:xfrm>
          <a:prstGeom prst="roundRect">
            <a:avLst>
              <a:gd name="adj" fmla="val 8000"/>
            </a:avLst>
          </a:prstGeom>
          <a:solidFill>
            <a:srgbClr val="EEF4FA"/>
          </a:solidFill>
          <a:ln w="19050">
            <a:solidFill>
              <a:srgbClr val="D3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0561320" y="5925311"/>
            <a:ext cx="822959" cy="617220"/>
          </a:xfrm>
          <a:prstGeom prst="rect">
            <a:avLst/>
          </a:prstGeom>
          <a:noFill/>
        </p:spPr>
        <p:txBody>
          <a:bodyPr wrap="square" lIns="0" tIns="0" rIns="0" bIns="0" anchor="t">
            <a:spAutoFit/>
          </a:bodyPr>
          <a:lstStyle/>
          <a:p>
            <a:pPr algn="l"/>
            <a:r>
              <a:rPr sz="3300" b="1">
                <a:solidFill>
                  <a:srgbClr val="1468B3"/>
                </a:solidFill>
                <a:latin typeface="Times New Roman"/>
              </a:rPr>
              <a:t>02</a:t>
            </a:r>
          </a:p>
        </p:txBody>
      </p:sp>
      <p:sp>
        <p:nvSpPr>
          <p:cNvPr id="80" name="TextBox 79"/>
          <p:cNvSpPr txBox="1"/>
          <p:nvPr/>
        </p:nvSpPr>
        <p:spPr>
          <a:xfrm>
            <a:off x="11452859" y="5897879"/>
            <a:ext cx="5417820" cy="438912"/>
          </a:xfrm>
          <a:prstGeom prst="rect">
            <a:avLst/>
          </a:prstGeom>
          <a:noFill/>
        </p:spPr>
        <p:txBody>
          <a:bodyPr wrap="square" lIns="0" tIns="0" rIns="0" bIns="0" anchor="t">
            <a:spAutoFit/>
          </a:bodyPr>
          <a:lstStyle/>
          <a:p>
            <a:pPr algn="l"/>
            <a:r>
              <a:rPr sz="2250" b="1">
                <a:solidFill>
                  <a:srgbClr val="0E3A66"/>
                </a:solidFill>
                <a:latin typeface="Times New Roman"/>
              </a:rPr>
              <a:t>AI Video Analysis</a:t>
            </a:r>
          </a:p>
        </p:txBody>
      </p:sp>
      <p:sp>
        <p:nvSpPr>
          <p:cNvPr id="81" name="TextBox 80"/>
          <p:cNvSpPr txBox="1"/>
          <p:nvPr/>
        </p:nvSpPr>
        <p:spPr>
          <a:xfrm>
            <a:off x="11452859" y="6350508"/>
            <a:ext cx="5417820" cy="850392"/>
          </a:xfrm>
          <a:prstGeom prst="rect">
            <a:avLst/>
          </a:prstGeom>
          <a:noFill/>
        </p:spPr>
        <p:txBody>
          <a:bodyPr wrap="square" lIns="0" tIns="0" rIns="0" bIns="0" anchor="t">
            <a:spAutoFit/>
          </a:bodyPr>
          <a:lstStyle/>
          <a:p>
            <a:pPr algn="l"/>
            <a:r>
              <a:rPr sz="1725" b="0">
                <a:solidFill>
                  <a:srgbClr val="5A6470"/>
                </a:solidFill>
                <a:latin typeface="Times New Roman"/>
              </a:rPr>
              <a:t>In development: 2D court mapping, action classification, spike speed and jump height from match video</a:t>
            </a:r>
          </a:p>
        </p:txBody>
      </p:sp>
      <p:sp>
        <p:nvSpPr>
          <p:cNvPr id="82" name="Rounded Rectangle 81"/>
          <p:cNvSpPr/>
          <p:nvPr/>
        </p:nvSpPr>
        <p:spPr>
          <a:xfrm>
            <a:off x="10287000" y="7543800"/>
            <a:ext cx="6789420" cy="1604772"/>
          </a:xfrm>
          <a:prstGeom prst="roundRect">
            <a:avLst>
              <a:gd name="adj" fmla="val 8000"/>
            </a:avLst>
          </a:prstGeom>
          <a:solidFill>
            <a:srgbClr val="FFFFFF"/>
          </a:solidFill>
          <a:ln w="19050">
            <a:solidFill>
              <a:srgbClr val="D3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10561320" y="7708392"/>
            <a:ext cx="822959" cy="617220"/>
          </a:xfrm>
          <a:prstGeom prst="rect">
            <a:avLst/>
          </a:prstGeom>
          <a:noFill/>
        </p:spPr>
        <p:txBody>
          <a:bodyPr wrap="square" lIns="0" tIns="0" rIns="0" bIns="0" anchor="t">
            <a:spAutoFit/>
          </a:bodyPr>
          <a:lstStyle/>
          <a:p>
            <a:pPr algn="l"/>
            <a:r>
              <a:rPr sz="3300" b="1">
                <a:solidFill>
                  <a:srgbClr val="1468B3"/>
                </a:solidFill>
                <a:latin typeface="Times New Roman"/>
              </a:rPr>
              <a:t>03</a:t>
            </a:r>
          </a:p>
        </p:txBody>
      </p:sp>
      <p:sp>
        <p:nvSpPr>
          <p:cNvPr id="84" name="TextBox 83"/>
          <p:cNvSpPr txBox="1"/>
          <p:nvPr/>
        </p:nvSpPr>
        <p:spPr>
          <a:xfrm>
            <a:off x="11452859" y="7680959"/>
            <a:ext cx="5417820" cy="438912"/>
          </a:xfrm>
          <a:prstGeom prst="rect">
            <a:avLst/>
          </a:prstGeom>
          <a:noFill/>
        </p:spPr>
        <p:txBody>
          <a:bodyPr wrap="square" lIns="0" tIns="0" rIns="0" bIns="0" anchor="t">
            <a:spAutoFit/>
          </a:bodyPr>
          <a:lstStyle/>
          <a:p>
            <a:pPr algn="l"/>
            <a:r>
              <a:rPr sz="2250" b="1">
                <a:solidFill>
                  <a:srgbClr val="0E3A66"/>
                </a:solidFill>
                <a:latin typeface="Times New Roman"/>
              </a:rPr>
              <a:t>Exchange with Partners</a:t>
            </a:r>
          </a:p>
        </p:txBody>
      </p:sp>
      <p:sp>
        <p:nvSpPr>
          <p:cNvPr id="85" name="TextBox 84"/>
          <p:cNvSpPr txBox="1"/>
          <p:nvPr/>
        </p:nvSpPr>
        <p:spPr>
          <a:xfrm>
            <a:off x="11452859" y="8133588"/>
            <a:ext cx="5417820" cy="850392"/>
          </a:xfrm>
          <a:prstGeom prst="rect">
            <a:avLst/>
          </a:prstGeom>
          <a:noFill/>
        </p:spPr>
        <p:txBody>
          <a:bodyPr wrap="square" lIns="0" tIns="0" rIns="0" bIns="0" anchor="t">
            <a:spAutoFit/>
          </a:bodyPr>
          <a:lstStyle/>
          <a:p>
            <a:pPr algn="l"/>
            <a:r>
              <a:rPr sz="1725" b="0">
                <a:solidFill>
                  <a:srgbClr val="5A6470"/>
                </a:solidFill>
                <a:latin typeface="Times New Roman"/>
              </a:rPr>
              <a:t>We would welcome sharing scouting workflows and data standards with Korean colleagues</a:t>
            </a:r>
          </a:p>
        </p:txBody>
      </p:sp>
      <p:sp>
        <p:nvSpPr>
          <p:cNvPr id="10" name="TextBox 8">
            <a:extLst>
              <a:ext uri="{FF2B5EF4-FFF2-40B4-BE49-F238E27FC236}">
                <a16:creationId xmlns:a16="http://schemas.microsoft.com/office/drawing/2014/main" id="{BEE2E849-BE91-7E03-9C71-EB85CE97CD3F}"/>
              </a:ext>
            </a:extLst>
          </p:cNvPr>
          <p:cNvSpPr txBox="1"/>
          <p:nvPr/>
        </p:nvSpPr>
        <p:spPr>
          <a:xfrm>
            <a:off x="1513740" y="1844040"/>
            <a:ext cx="12828418" cy="1394460"/>
          </a:xfrm>
          <a:prstGeom prst="rect">
            <a:avLst/>
          </a:prstGeom>
        </p:spPr>
        <p:txBody>
          <a:bodyPr lIns="0" tIns="0" rIns="0" bIns="0" rtlCol="0" anchor="ctr"/>
          <a:lstStyle/>
          <a:p>
            <a:pPr algn="l">
              <a:lnSpc>
                <a:spcPts val="4284"/>
              </a:lnSpc>
            </a:pPr>
            <a:r>
              <a:rPr lang="en-US" sz="5400" b="1" dirty="0">
                <a:solidFill>
                  <a:srgbClr val="003366"/>
                </a:solidFill>
                <a:latin typeface="Times New Roman"/>
                <a:ea typeface="Times New Roman"/>
                <a:cs typeface="Times New Roman"/>
                <a:sym typeface="Times New Roman"/>
              </a:rPr>
              <a:t>Lessons &amp; Next Steps</a:t>
            </a:r>
          </a:p>
        </p:txBody>
      </p:sp>
      <p:sp>
        <p:nvSpPr>
          <p:cNvPr id="11" name="Freeform 27">
            <a:extLst>
              <a:ext uri="{FF2B5EF4-FFF2-40B4-BE49-F238E27FC236}">
                <a16:creationId xmlns:a16="http://schemas.microsoft.com/office/drawing/2014/main" id="{BD0C25DD-ADB8-72BC-63C1-002ABA58605B}"/>
              </a:ext>
            </a:extLst>
          </p:cNvPr>
          <p:cNvSpPr/>
          <p:nvPr/>
        </p:nvSpPr>
        <p:spPr>
          <a:xfrm>
            <a:off x="799154" y="2252616"/>
            <a:ext cx="455075" cy="455075"/>
          </a:xfrm>
          <a:custGeom>
            <a:avLst/>
            <a:gdLst/>
            <a:ahLst/>
            <a:cxnLst/>
            <a:rect l="l" t="t" r="r" b="b"/>
            <a:pathLst>
              <a:path w="455075" h="455075">
                <a:moveTo>
                  <a:pt x="0" y="0"/>
                </a:moveTo>
                <a:lnTo>
                  <a:pt x="455074" y="0"/>
                </a:lnTo>
                <a:lnTo>
                  <a:pt x="455074" y="455075"/>
                </a:lnTo>
                <a:lnTo>
                  <a:pt x="0" y="45507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14" name="Group 2">
            <a:extLst>
              <a:ext uri="{FF2B5EF4-FFF2-40B4-BE49-F238E27FC236}">
                <a16:creationId xmlns:a16="http://schemas.microsoft.com/office/drawing/2014/main" id="{3F196D27-F46E-7B5A-CC0B-71DEF740D24F}"/>
              </a:ext>
            </a:extLst>
          </p:cNvPr>
          <p:cNvGrpSpPr/>
          <p:nvPr/>
        </p:nvGrpSpPr>
        <p:grpSpPr>
          <a:xfrm>
            <a:off x="0" y="25405"/>
            <a:ext cx="18288000" cy="3744230"/>
            <a:chOff x="0" y="0"/>
            <a:chExt cx="24384000" cy="4992306"/>
          </a:xfrm>
        </p:grpSpPr>
        <p:sp>
          <p:nvSpPr>
            <p:cNvPr id="15" name="Freeform 3" descr="一張含有 黑暗, 黑色, 螢幕擷取畫面, 光線 的圖片  AI 產生的內容可能不正確。">
              <a:extLst>
                <a:ext uri="{FF2B5EF4-FFF2-40B4-BE49-F238E27FC236}">
                  <a16:creationId xmlns:a16="http://schemas.microsoft.com/office/drawing/2014/main" id="{E896630A-63E5-D318-0A20-C8D31DB66FBD}"/>
                </a:ext>
              </a:extLst>
            </p:cNvPr>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9"/>
              <a:stretch>
                <a:fillRect b="-1"/>
              </a:stretch>
            </a:blipFill>
          </p:spPr>
        </p:sp>
      </p:grpSp>
      <p:sp>
        <p:nvSpPr>
          <p:cNvPr id="17" name="文字方塊 16">
            <a:extLst>
              <a:ext uri="{FF2B5EF4-FFF2-40B4-BE49-F238E27FC236}">
                <a16:creationId xmlns:a16="http://schemas.microsoft.com/office/drawing/2014/main" id="{E0483FD4-4C10-4B84-4BBC-883AA851258C}"/>
              </a:ext>
            </a:extLst>
          </p:cNvPr>
          <p:cNvSpPr txBox="1"/>
          <p:nvPr/>
        </p:nvSpPr>
        <p:spPr>
          <a:xfrm>
            <a:off x="11887200" y="-39489"/>
            <a:ext cx="7680960" cy="369332"/>
          </a:xfrm>
          <a:prstGeom prst="rect">
            <a:avLst/>
          </a:prstGeom>
          <a:noFill/>
        </p:spPr>
        <p:txBody>
          <a:bodyPr wrap="square">
            <a:spAutoFit/>
          </a:bodyPr>
          <a:lstStyle/>
          <a:p>
            <a:pPr eaLnBrk="1" fontAlgn="auto" hangingPunct="1"/>
            <a:r>
              <a:rPr lang="en-US" altLang="zh-TW"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rPr>
              <a:t>Department of Sports Technology &amp; Information Development</a:t>
            </a:r>
            <a:endParaRPr lang="zh-TW" altLang="en-US"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119485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363408" y="599237"/>
            <a:ext cx="1103243" cy="551059"/>
            <a:chOff x="0" y="0"/>
            <a:chExt cx="1470990" cy="734746"/>
          </a:xfrm>
        </p:grpSpPr>
        <p:sp>
          <p:nvSpPr>
            <p:cNvPr id="5" name="Freeform 5"/>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3"/>
              <a:stretch>
                <a:fillRect t="-221" r="3" b="-226"/>
              </a:stretch>
            </a:blipFill>
          </p:spPr>
        </p:sp>
      </p:grpSp>
      <p:sp>
        <p:nvSpPr>
          <p:cNvPr id="10" name="TextBox 8">
            <a:extLst>
              <a:ext uri="{FF2B5EF4-FFF2-40B4-BE49-F238E27FC236}">
                <a16:creationId xmlns:a16="http://schemas.microsoft.com/office/drawing/2014/main" id="{BEE2E849-BE91-7E03-9C71-EB85CE97CD3F}"/>
              </a:ext>
            </a:extLst>
          </p:cNvPr>
          <p:cNvSpPr txBox="1"/>
          <p:nvPr/>
        </p:nvSpPr>
        <p:spPr>
          <a:xfrm>
            <a:off x="1513740" y="1844040"/>
            <a:ext cx="12828418" cy="1394460"/>
          </a:xfrm>
          <a:prstGeom prst="rect">
            <a:avLst/>
          </a:prstGeom>
        </p:spPr>
        <p:txBody>
          <a:bodyPr lIns="0" tIns="0" rIns="0" bIns="0" rtlCol="0" anchor="ctr"/>
          <a:lstStyle/>
          <a:p>
            <a:pPr algn="l">
              <a:lnSpc>
                <a:spcPts val="4284"/>
              </a:lnSpc>
            </a:pPr>
            <a:r>
              <a:rPr lang="en-US" sz="5400" b="1" dirty="0" err="1">
                <a:solidFill>
                  <a:srgbClr val="003366"/>
                </a:solidFill>
                <a:latin typeface="Times New Roman"/>
                <a:ea typeface="Times New Roman"/>
                <a:cs typeface="Times New Roman"/>
                <a:sym typeface="Times New Roman"/>
              </a:rPr>
              <a:t>Movemartix</a:t>
            </a:r>
            <a:endParaRPr lang="en-US" sz="5400" b="1" dirty="0">
              <a:solidFill>
                <a:srgbClr val="003366"/>
              </a:solidFill>
              <a:latin typeface="Times New Roman"/>
              <a:ea typeface="Times New Roman"/>
              <a:cs typeface="Times New Roman"/>
              <a:sym typeface="Times New Roman"/>
            </a:endParaRPr>
          </a:p>
        </p:txBody>
      </p:sp>
      <p:sp>
        <p:nvSpPr>
          <p:cNvPr id="11" name="Freeform 27">
            <a:extLst>
              <a:ext uri="{FF2B5EF4-FFF2-40B4-BE49-F238E27FC236}">
                <a16:creationId xmlns:a16="http://schemas.microsoft.com/office/drawing/2014/main" id="{BD0C25DD-ADB8-72BC-63C1-002ABA58605B}"/>
              </a:ext>
            </a:extLst>
          </p:cNvPr>
          <p:cNvSpPr/>
          <p:nvPr/>
        </p:nvSpPr>
        <p:spPr>
          <a:xfrm>
            <a:off x="799154" y="2252616"/>
            <a:ext cx="455075" cy="455075"/>
          </a:xfrm>
          <a:custGeom>
            <a:avLst/>
            <a:gdLst/>
            <a:ahLst/>
            <a:cxnLst/>
            <a:rect l="l" t="t" r="r" b="b"/>
            <a:pathLst>
              <a:path w="455075" h="455075">
                <a:moveTo>
                  <a:pt x="0" y="0"/>
                </a:moveTo>
                <a:lnTo>
                  <a:pt x="455074" y="0"/>
                </a:lnTo>
                <a:lnTo>
                  <a:pt x="455074" y="455075"/>
                </a:lnTo>
                <a:lnTo>
                  <a:pt x="0" y="4550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7" name="Text 4">
            <a:extLst>
              <a:ext uri="{FF2B5EF4-FFF2-40B4-BE49-F238E27FC236}">
                <a16:creationId xmlns:a16="http://schemas.microsoft.com/office/drawing/2014/main" id="{17EA56BA-0FC0-C4F9-C277-D91E1B5D933B}"/>
              </a:ext>
            </a:extLst>
          </p:cNvPr>
          <p:cNvSpPr/>
          <p:nvPr/>
        </p:nvSpPr>
        <p:spPr>
          <a:xfrm>
            <a:off x="1219200" y="3571875"/>
            <a:ext cx="7848600" cy="403770"/>
          </a:xfrm>
          <a:prstGeom prst="rect">
            <a:avLst/>
          </a:prstGeom>
          <a:noFill/>
          <a:ln/>
        </p:spPr>
        <p:txBody>
          <a:bodyPr wrap="square" lIns="0" tIns="0" rIns="0" bIns="0" rtlCol="0" anchor="t">
            <a:normAutofit/>
          </a:bodyPr>
          <a:lstStyle/>
          <a:p>
            <a:pPr>
              <a:lnSpc>
                <a:spcPts val="2880"/>
              </a:lnSpc>
            </a:pPr>
            <a:r>
              <a:rPr lang="en-US" sz="2400" b="1" dirty="0">
                <a:solidFill>
                  <a:srgbClr val="1F5C99"/>
                </a:solidFill>
                <a:latin typeface="Times New Roman"/>
                <a:ea typeface="Times New Roman"/>
                <a:cs typeface="Times New Roman"/>
              </a:rPr>
              <a:t>Built for Three Roles</a:t>
            </a:r>
            <a:endParaRPr lang="en-US" sz="2400" dirty="0"/>
          </a:p>
        </p:txBody>
      </p:sp>
      <p:sp>
        <p:nvSpPr>
          <p:cNvPr id="28" name="Text 5">
            <a:extLst>
              <a:ext uri="{FF2B5EF4-FFF2-40B4-BE49-F238E27FC236}">
                <a16:creationId xmlns:a16="http://schemas.microsoft.com/office/drawing/2014/main" id="{719F9BBA-87CB-7D3C-B6AF-109165146DF0}"/>
              </a:ext>
            </a:extLst>
          </p:cNvPr>
          <p:cNvSpPr/>
          <p:nvPr/>
        </p:nvSpPr>
        <p:spPr>
          <a:xfrm>
            <a:off x="10287000" y="3571875"/>
            <a:ext cx="6985254" cy="403770"/>
          </a:xfrm>
          <a:prstGeom prst="rect">
            <a:avLst/>
          </a:prstGeom>
          <a:noFill/>
          <a:ln/>
        </p:spPr>
        <p:txBody>
          <a:bodyPr wrap="square" lIns="0" tIns="0" rIns="0" bIns="0" rtlCol="0" anchor="t">
            <a:normAutofit/>
          </a:bodyPr>
          <a:lstStyle/>
          <a:p>
            <a:pPr>
              <a:lnSpc>
                <a:spcPts val="2880"/>
              </a:lnSpc>
            </a:pPr>
            <a:r>
              <a:rPr lang="en-US" sz="2400" b="1" dirty="0">
                <a:solidFill>
                  <a:srgbClr val="1F5C99"/>
                </a:solidFill>
                <a:latin typeface="Times New Roman"/>
                <a:ea typeface="Times New Roman"/>
                <a:cs typeface="Times New Roman"/>
              </a:rPr>
              <a:t>Inside the System</a:t>
            </a:r>
            <a:endParaRPr lang="en-US" sz="2400" dirty="0"/>
          </a:p>
        </p:txBody>
      </p:sp>
      <p:sp>
        <p:nvSpPr>
          <p:cNvPr id="29" name="Shape 6">
            <a:extLst>
              <a:ext uri="{FF2B5EF4-FFF2-40B4-BE49-F238E27FC236}">
                <a16:creationId xmlns:a16="http://schemas.microsoft.com/office/drawing/2014/main" id="{1264528C-8BA3-0D1A-BF43-12A84FF20518}"/>
              </a:ext>
            </a:extLst>
          </p:cNvPr>
          <p:cNvSpPr/>
          <p:nvPr/>
        </p:nvSpPr>
        <p:spPr>
          <a:xfrm>
            <a:off x="1228725" y="4124325"/>
            <a:ext cx="8172450" cy="1581150"/>
          </a:xfrm>
          <a:prstGeom prst="roundRect">
            <a:avLst>
              <a:gd name="adj" fmla="val 11446"/>
            </a:avLst>
          </a:prstGeom>
          <a:solidFill>
            <a:srgbClr val="FFFFFF"/>
          </a:solidFill>
          <a:ln w="12700">
            <a:solidFill>
              <a:srgbClr val="D3DEE8"/>
            </a:solidFill>
            <a:prstDash val="solid"/>
          </a:ln>
        </p:spPr>
      </p:sp>
      <p:sp>
        <p:nvSpPr>
          <p:cNvPr id="30" name="Shape 7">
            <a:extLst>
              <a:ext uri="{FF2B5EF4-FFF2-40B4-BE49-F238E27FC236}">
                <a16:creationId xmlns:a16="http://schemas.microsoft.com/office/drawing/2014/main" id="{24C673A2-F701-65C5-C18C-69D72BFE708D}"/>
              </a:ext>
            </a:extLst>
          </p:cNvPr>
          <p:cNvSpPr/>
          <p:nvPr/>
        </p:nvSpPr>
        <p:spPr>
          <a:xfrm>
            <a:off x="1619250" y="4419600"/>
            <a:ext cx="990600" cy="990600"/>
          </a:xfrm>
          <a:prstGeom prst="roundRect">
            <a:avLst>
              <a:gd name="adj" fmla="val 50000"/>
            </a:avLst>
          </a:prstGeom>
          <a:solidFill>
            <a:srgbClr val="1468B3"/>
          </a:solidFill>
          <a:ln/>
        </p:spPr>
      </p:sp>
      <p:pic>
        <p:nvPicPr>
          <p:cNvPr id="31" name="Image 3" descr="Lightning">
            <a:extLst>
              <a:ext uri="{FF2B5EF4-FFF2-40B4-BE49-F238E27FC236}">
                <a16:creationId xmlns:a16="http://schemas.microsoft.com/office/drawing/2014/main" id="{28E9E711-5AE3-39F6-99B7-9E7A5B4C1E86}"/>
              </a:ext>
            </a:extLst>
          </p:cNvPr>
          <p:cNvPicPr>
            <a:picLocks noChangeAspect="1"/>
          </p:cNvPicPr>
          <p:nvPr/>
        </p:nvPicPr>
        <p:blipFill>
          <a:blip r:embed="rId6"/>
          <a:srcRect/>
          <a:stretch/>
        </p:blipFill>
        <p:spPr>
          <a:xfrm>
            <a:off x="1866900" y="4667250"/>
            <a:ext cx="495300" cy="495300"/>
          </a:xfrm>
          <a:prstGeom prst="rect">
            <a:avLst/>
          </a:prstGeom>
        </p:spPr>
      </p:pic>
      <p:sp>
        <p:nvSpPr>
          <p:cNvPr id="32" name="Text 8">
            <a:extLst>
              <a:ext uri="{FF2B5EF4-FFF2-40B4-BE49-F238E27FC236}">
                <a16:creationId xmlns:a16="http://schemas.microsoft.com/office/drawing/2014/main" id="{437FEC73-B14C-2935-BB62-E9D023C0F0B6}"/>
              </a:ext>
            </a:extLst>
          </p:cNvPr>
          <p:cNvSpPr/>
          <p:nvPr/>
        </p:nvSpPr>
        <p:spPr>
          <a:xfrm>
            <a:off x="2952750" y="4477643"/>
            <a:ext cx="6239637" cy="495300"/>
          </a:xfrm>
          <a:prstGeom prst="rect">
            <a:avLst/>
          </a:prstGeom>
          <a:noFill/>
          <a:ln/>
        </p:spPr>
        <p:txBody>
          <a:bodyPr wrap="square" lIns="0" tIns="0" rIns="0" bIns="0" rtlCol="0" anchor="t">
            <a:normAutofit/>
          </a:bodyPr>
          <a:lstStyle/>
          <a:p>
            <a:pPr>
              <a:lnSpc>
                <a:spcPts val="3600"/>
              </a:lnSpc>
            </a:pPr>
            <a:r>
              <a:rPr lang="en-US" sz="3000" b="1" dirty="0">
                <a:solidFill>
                  <a:srgbClr val="1F5C99"/>
                </a:solidFill>
                <a:latin typeface="Times New Roman"/>
                <a:ea typeface="Times New Roman"/>
                <a:cs typeface="Times New Roman"/>
              </a:rPr>
              <a:t>Athletes</a:t>
            </a:r>
            <a:endParaRPr lang="en-US" sz="3000" dirty="0"/>
          </a:p>
        </p:txBody>
      </p:sp>
      <p:sp>
        <p:nvSpPr>
          <p:cNvPr id="33" name="Text 9">
            <a:extLst>
              <a:ext uri="{FF2B5EF4-FFF2-40B4-BE49-F238E27FC236}">
                <a16:creationId xmlns:a16="http://schemas.microsoft.com/office/drawing/2014/main" id="{2826EA1B-7AE2-3B1E-94D1-DE9B31E192E7}"/>
              </a:ext>
            </a:extLst>
          </p:cNvPr>
          <p:cNvSpPr/>
          <p:nvPr/>
        </p:nvSpPr>
        <p:spPr>
          <a:xfrm>
            <a:off x="2952750" y="4991993"/>
            <a:ext cx="6239637" cy="398115"/>
          </a:xfrm>
          <a:prstGeom prst="rect">
            <a:avLst/>
          </a:prstGeom>
          <a:noFill/>
          <a:ln/>
        </p:spPr>
        <p:txBody>
          <a:bodyPr wrap="square" lIns="0" tIns="0" rIns="0" bIns="0" rtlCol="0" anchor="t">
            <a:normAutofit/>
          </a:bodyPr>
          <a:lstStyle/>
          <a:p>
            <a:pPr>
              <a:lnSpc>
                <a:spcPts val="2835"/>
              </a:lnSpc>
            </a:pPr>
            <a:r>
              <a:rPr lang="en-US" sz="2100" dirty="0">
                <a:solidFill>
                  <a:srgbClr val="2B2F36"/>
                </a:solidFill>
                <a:latin typeface="Times New Roman"/>
                <a:ea typeface="Times New Roman"/>
                <a:cs typeface="Times New Roman"/>
              </a:rPr>
              <a:t>Organize their moves and plan each battle</a:t>
            </a:r>
            <a:endParaRPr lang="en-US" sz="2100" dirty="0"/>
          </a:p>
        </p:txBody>
      </p:sp>
      <p:sp>
        <p:nvSpPr>
          <p:cNvPr id="34" name="Shape 10">
            <a:extLst>
              <a:ext uri="{FF2B5EF4-FFF2-40B4-BE49-F238E27FC236}">
                <a16:creationId xmlns:a16="http://schemas.microsoft.com/office/drawing/2014/main" id="{61CD0553-7EF8-BFD2-4325-7356758075FA}"/>
              </a:ext>
            </a:extLst>
          </p:cNvPr>
          <p:cNvSpPr/>
          <p:nvPr/>
        </p:nvSpPr>
        <p:spPr>
          <a:xfrm>
            <a:off x="1228725" y="5991225"/>
            <a:ext cx="8172450" cy="1581150"/>
          </a:xfrm>
          <a:prstGeom prst="roundRect">
            <a:avLst>
              <a:gd name="adj" fmla="val 11446"/>
            </a:avLst>
          </a:prstGeom>
          <a:solidFill>
            <a:srgbClr val="FFFFFF"/>
          </a:solidFill>
          <a:ln w="12700">
            <a:solidFill>
              <a:srgbClr val="D3DEE8"/>
            </a:solidFill>
            <a:prstDash val="solid"/>
          </a:ln>
        </p:spPr>
      </p:sp>
      <p:sp>
        <p:nvSpPr>
          <p:cNvPr id="35" name="Shape 11">
            <a:extLst>
              <a:ext uri="{FF2B5EF4-FFF2-40B4-BE49-F238E27FC236}">
                <a16:creationId xmlns:a16="http://schemas.microsoft.com/office/drawing/2014/main" id="{C2B7ADAE-5E49-0F04-0C9A-7396201929A7}"/>
              </a:ext>
            </a:extLst>
          </p:cNvPr>
          <p:cNvSpPr/>
          <p:nvPr/>
        </p:nvSpPr>
        <p:spPr>
          <a:xfrm>
            <a:off x="1619250" y="6286500"/>
            <a:ext cx="990600" cy="990600"/>
          </a:xfrm>
          <a:prstGeom prst="roundRect">
            <a:avLst>
              <a:gd name="adj" fmla="val 50000"/>
            </a:avLst>
          </a:prstGeom>
          <a:solidFill>
            <a:srgbClr val="13897A"/>
          </a:solidFill>
          <a:ln/>
        </p:spPr>
      </p:sp>
      <p:pic>
        <p:nvPicPr>
          <p:cNvPr id="36" name="Image 4" descr="Activity">
            <a:extLst>
              <a:ext uri="{FF2B5EF4-FFF2-40B4-BE49-F238E27FC236}">
                <a16:creationId xmlns:a16="http://schemas.microsoft.com/office/drawing/2014/main" id="{FD54BF76-C5C2-67CB-B176-F281BD1C8877}"/>
              </a:ext>
            </a:extLst>
          </p:cNvPr>
          <p:cNvPicPr>
            <a:picLocks noChangeAspect="1"/>
          </p:cNvPicPr>
          <p:nvPr/>
        </p:nvPicPr>
        <p:blipFill>
          <a:blip r:embed="rId7"/>
          <a:srcRect/>
          <a:stretch/>
        </p:blipFill>
        <p:spPr>
          <a:xfrm>
            <a:off x="1866900" y="6534150"/>
            <a:ext cx="495300" cy="495300"/>
          </a:xfrm>
          <a:prstGeom prst="rect">
            <a:avLst/>
          </a:prstGeom>
        </p:spPr>
      </p:pic>
      <p:sp>
        <p:nvSpPr>
          <p:cNvPr id="37" name="Text 12">
            <a:extLst>
              <a:ext uri="{FF2B5EF4-FFF2-40B4-BE49-F238E27FC236}">
                <a16:creationId xmlns:a16="http://schemas.microsoft.com/office/drawing/2014/main" id="{614F79DD-8BE3-CEA4-4640-06AA3F725685}"/>
              </a:ext>
            </a:extLst>
          </p:cNvPr>
          <p:cNvSpPr/>
          <p:nvPr/>
        </p:nvSpPr>
        <p:spPr>
          <a:xfrm>
            <a:off x="2952750" y="6344543"/>
            <a:ext cx="6239637" cy="495300"/>
          </a:xfrm>
          <a:prstGeom prst="rect">
            <a:avLst/>
          </a:prstGeom>
          <a:noFill/>
          <a:ln/>
        </p:spPr>
        <p:txBody>
          <a:bodyPr wrap="square" lIns="0" tIns="0" rIns="0" bIns="0" rtlCol="0" anchor="t">
            <a:normAutofit/>
          </a:bodyPr>
          <a:lstStyle/>
          <a:p>
            <a:pPr>
              <a:lnSpc>
                <a:spcPts val="3600"/>
              </a:lnSpc>
            </a:pPr>
            <a:r>
              <a:rPr lang="en-US" sz="3000" b="1" dirty="0">
                <a:solidFill>
                  <a:srgbClr val="1F5C99"/>
                </a:solidFill>
                <a:latin typeface="Times New Roman"/>
                <a:ea typeface="Times New Roman"/>
                <a:cs typeface="Times New Roman"/>
              </a:rPr>
              <a:t>Coaches</a:t>
            </a:r>
            <a:endParaRPr lang="en-US" sz="3000" dirty="0"/>
          </a:p>
        </p:txBody>
      </p:sp>
      <p:sp>
        <p:nvSpPr>
          <p:cNvPr id="38" name="Text 13">
            <a:extLst>
              <a:ext uri="{FF2B5EF4-FFF2-40B4-BE49-F238E27FC236}">
                <a16:creationId xmlns:a16="http://schemas.microsoft.com/office/drawing/2014/main" id="{2D38C537-E76F-8725-5522-4F7BFAAD68E3}"/>
              </a:ext>
            </a:extLst>
          </p:cNvPr>
          <p:cNvSpPr/>
          <p:nvPr/>
        </p:nvSpPr>
        <p:spPr>
          <a:xfrm>
            <a:off x="2952750" y="6858893"/>
            <a:ext cx="6239637" cy="398115"/>
          </a:xfrm>
          <a:prstGeom prst="rect">
            <a:avLst/>
          </a:prstGeom>
          <a:noFill/>
          <a:ln/>
        </p:spPr>
        <p:txBody>
          <a:bodyPr wrap="square" lIns="0" tIns="0" rIns="0" bIns="0" rtlCol="0" anchor="t">
            <a:normAutofit/>
          </a:bodyPr>
          <a:lstStyle/>
          <a:p>
            <a:pPr>
              <a:lnSpc>
                <a:spcPts val="2835"/>
              </a:lnSpc>
            </a:pPr>
            <a:r>
              <a:rPr lang="en-US" sz="2100" dirty="0">
                <a:solidFill>
                  <a:srgbClr val="2B2F36"/>
                </a:solidFill>
                <a:latin typeface="Times New Roman"/>
                <a:ea typeface="Times New Roman"/>
                <a:cs typeface="Times New Roman"/>
              </a:rPr>
              <a:t>Record performance and shape tactics</a:t>
            </a:r>
            <a:endParaRPr lang="en-US" sz="2100" dirty="0"/>
          </a:p>
        </p:txBody>
      </p:sp>
      <p:pic>
        <p:nvPicPr>
          <p:cNvPr id="39" name="Image 6" descr="MoveMartix pre-plan screen showing moves arranged into three rounds">
            <a:extLst>
              <a:ext uri="{FF2B5EF4-FFF2-40B4-BE49-F238E27FC236}">
                <a16:creationId xmlns:a16="http://schemas.microsoft.com/office/drawing/2014/main" id="{5E610356-6A69-D79B-D8A2-3B7405DD085B}"/>
              </a:ext>
            </a:extLst>
          </p:cNvPr>
          <p:cNvPicPr>
            <a:picLocks noChangeAspect="1"/>
          </p:cNvPicPr>
          <p:nvPr/>
        </p:nvPicPr>
        <p:blipFill>
          <a:blip r:embed="rId8"/>
          <a:srcRect t="460" b="460"/>
          <a:stretch/>
        </p:blipFill>
        <p:spPr>
          <a:xfrm>
            <a:off x="10306050" y="4133850"/>
            <a:ext cx="6743700" cy="2238375"/>
          </a:xfrm>
          <a:prstGeom prst="roundRect">
            <a:avLst>
              <a:gd name="adj" fmla="val 4255"/>
            </a:avLst>
          </a:prstGeom>
        </p:spPr>
      </p:pic>
      <p:sp>
        <p:nvSpPr>
          <p:cNvPr id="40" name="Shape 18">
            <a:extLst>
              <a:ext uri="{FF2B5EF4-FFF2-40B4-BE49-F238E27FC236}">
                <a16:creationId xmlns:a16="http://schemas.microsoft.com/office/drawing/2014/main" id="{7CC47CBC-58EC-3F20-E235-F5FB2CA4B2C2}"/>
              </a:ext>
            </a:extLst>
          </p:cNvPr>
          <p:cNvSpPr/>
          <p:nvPr/>
        </p:nvSpPr>
        <p:spPr>
          <a:xfrm>
            <a:off x="10296525" y="4124325"/>
            <a:ext cx="6762750" cy="2257425"/>
          </a:xfrm>
          <a:prstGeom prst="roundRect">
            <a:avLst>
              <a:gd name="adj" fmla="val 4641"/>
            </a:avLst>
          </a:prstGeom>
          <a:noFill/>
          <a:ln w="12700">
            <a:solidFill>
              <a:srgbClr val="D3DEE8"/>
            </a:solidFill>
            <a:prstDash val="solid"/>
          </a:ln>
        </p:spPr>
      </p:sp>
      <p:sp>
        <p:nvSpPr>
          <p:cNvPr id="41" name="Text 19">
            <a:extLst>
              <a:ext uri="{FF2B5EF4-FFF2-40B4-BE49-F238E27FC236}">
                <a16:creationId xmlns:a16="http://schemas.microsoft.com/office/drawing/2014/main" id="{F465607D-449A-DDEA-5139-32A6088CA84D}"/>
              </a:ext>
            </a:extLst>
          </p:cNvPr>
          <p:cNvSpPr/>
          <p:nvPr/>
        </p:nvSpPr>
        <p:spPr>
          <a:xfrm>
            <a:off x="10287000" y="6515100"/>
            <a:ext cx="6985254" cy="358080"/>
          </a:xfrm>
          <a:prstGeom prst="rect">
            <a:avLst/>
          </a:prstGeom>
          <a:noFill/>
          <a:ln/>
        </p:spPr>
        <p:txBody>
          <a:bodyPr wrap="square" lIns="0" tIns="0" rIns="0" bIns="0" rtlCol="0" anchor="t">
            <a:normAutofit/>
          </a:bodyPr>
          <a:lstStyle/>
          <a:p>
            <a:pPr>
              <a:lnSpc>
                <a:spcPts val="2520"/>
              </a:lnSpc>
            </a:pPr>
            <a:r>
              <a:rPr lang="en-US" dirty="0">
                <a:solidFill>
                  <a:srgbClr val="5A6470"/>
                </a:solidFill>
                <a:latin typeface="Times New Roman"/>
                <a:ea typeface="Times New Roman"/>
                <a:cs typeface="Times New Roman"/>
              </a:rPr>
              <a:t>Pre-plan screen: moves arranged into rounds</a:t>
            </a:r>
            <a:endParaRPr lang="en-US" dirty="0"/>
          </a:p>
        </p:txBody>
      </p:sp>
      <p:sp>
        <p:nvSpPr>
          <p:cNvPr id="42" name="Shape 20">
            <a:extLst>
              <a:ext uri="{FF2B5EF4-FFF2-40B4-BE49-F238E27FC236}">
                <a16:creationId xmlns:a16="http://schemas.microsoft.com/office/drawing/2014/main" id="{2919EA05-975F-C8F7-86C0-925A796FA832}"/>
              </a:ext>
            </a:extLst>
          </p:cNvPr>
          <p:cNvSpPr/>
          <p:nvPr/>
        </p:nvSpPr>
        <p:spPr>
          <a:xfrm>
            <a:off x="10287000" y="7334251"/>
            <a:ext cx="1879551" cy="1097162"/>
          </a:xfrm>
          <a:prstGeom prst="roundRect">
            <a:avLst>
              <a:gd name="adj" fmla="val 13890"/>
            </a:avLst>
          </a:prstGeom>
          <a:solidFill>
            <a:srgbClr val="1468B3"/>
          </a:solidFill>
          <a:ln/>
        </p:spPr>
      </p:sp>
      <p:sp>
        <p:nvSpPr>
          <p:cNvPr id="43" name="Text 21">
            <a:extLst>
              <a:ext uri="{FF2B5EF4-FFF2-40B4-BE49-F238E27FC236}">
                <a16:creationId xmlns:a16="http://schemas.microsoft.com/office/drawing/2014/main" id="{A0820D05-2088-53CF-6CD2-D5A9D5FB2820}"/>
              </a:ext>
            </a:extLst>
          </p:cNvPr>
          <p:cNvSpPr/>
          <p:nvPr/>
        </p:nvSpPr>
        <p:spPr>
          <a:xfrm>
            <a:off x="10401300" y="7543800"/>
            <a:ext cx="1650951" cy="358080"/>
          </a:xfrm>
          <a:prstGeom prst="rect">
            <a:avLst/>
          </a:prstGeom>
          <a:noFill/>
          <a:ln/>
        </p:spPr>
        <p:txBody>
          <a:bodyPr wrap="square" lIns="0" tIns="0" rIns="0" bIns="0" rtlCol="0" anchor="t">
            <a:normAutofit/>
          </a:bodyPr>
          <a:lstStyle/>
          <a:p>
            <a:pPr algn="ctr">
              <a:lnSpc>
                <a:spcPts val="2520"/>
              </a:lnSpc>
            </a:pPr>
            <a:r>
              <a:rPr lang="en-US" sz="2100" b="1" dirty="0">
                <a:solidFill>
                  <a:srgbClr val="FFFFFF"/>
                </a:solidFill>
                <a:latin typeface="Times New Roman"/>
                <a:ea typeface="Times New Roman"/>
                <a:cs typeface="Times New Roman"/>
              </a:rPr>
              <a:t>INPUT</a:t>
            </a:r>
            <a:endParaRPr lang="en-US" sz="2100" dirty="0"/>
          </a:p>
        </p:txBody>
      </p:sp>
      <p:sp>
        <p:nvSpPr>
          <p:cNvPr id="44" name="Text 22">
            <a:extLst>
              <a:ext uri="{FF2B5EF4-FFF2-40B4-BE49-F238E27FC236}">
                <a16:creationId xmlns:a16="http://schemas.microsoft.com/office/drawing/2014/main" id="{BFE711A6-1E6B-2800-9D21-E743BEE8FFBE}"/>
              </a:ext>
            </a:extLst>
          </p:cNvPr>
          <p:cNvSpPr/>
          <p:nvPr/>
        </p:nvSpPr>
        <p:spPr>
          <a:xfrm>
            <a:off x="10401300" y="7901880"/>
            <a:ext cx="1650951" cy="358080"/>
          </a:xfrm>
          <a:prstGeom prst="rect">
            <a:avLst/>
          </a:prstGeom>
          <a:noFill/>
          <a:ln/>
        </p:spPr>
        <p:txBody>
          <a:bodyPr wrap="square" lIns="0" tIns="0" rIns="0" bIns="0" rtlCol="0" anchor="t">
            <a:normAutofit/>
          </a:bodyPr>
          <a:lstStyle/>
          <a:p>
            <a:pPr algn="ctr">
              <a:lnSpc>
                <a:spcPts val="2520"/>
              </a:lnSpc>
            </a:pPr>
            <a:r>
              <a:rPr lang="en-US" dirty="0">
                <a:solidFill>
                  <a:srgbClr val="E6F0FA"/>
                </a:solidFill>
                <a:latin typeface="Times New Roman"/>
                <a:ea typeface="Times New Roman"/>
                <a:cs typeface="Times New Roman"/>
              </a:rPr>
              <a:t>Define moves</a:t>
            </a:r>
            <a:endParaRPr lang="en-US" dirty="0"/>
          </a:p>
        </p:txBody>
      </p:sp>
      <p:pic>
        <p:nvPicPr>
          <p:cNvPr id="45" name="Image 7" descr="arrow-right">
            <a:extLst>
              <a:ext uri="{FF2B5EF4-FFF2-40B4-BE49-F238E27FC236}">
                <a16:creationId xmlns:a16="http://schemas.microsoft.com/office/drawing/2014/main" id="{AB9E5491-E536-CADA-0700-91CE2B453671}"/>
              </a:ext>
            </a:extLst>
          </p:cNvPr>
          <p:cNvPicPr>
            <a:picLocks noChangeAspect="1"/>
          </p:cNvPicPr>
          <p:nvPr/>
        </p:nvPicPr>
        <p:blipFill>
          <a:blip r:embed="rId9"/>
          <a:srcRect/>
          <a:stretch/>
        </p:blipFill>
        <p:spPr>
          <a:xfrm>
            <a:off x="12280851" y="7778055"/>
            <a:ext cx="342900" cy="209550"/>
          </a:xfrm>
          <a:prstGeom prst="rect">
            <a:avLst/>
          </a:prstGeom>
        </p:spPr>
      </p:pic>
      <p:sp>
        <p:nvSpPr>
          <p:cNvPr id="46" name="Shape 23">
            <a:extLst>
              <a:ext uri="{FF2B5EF4-FFF2-40B4-BE49-F238E27FC236}">
                <a16:creationId xmlns:a16="http://schemas.microsoft.com/office/drawing/2014/main" id="{DD5A59B7-1BA7-EE79-8612-813F331688B9}"/>
              </a:ext>
            </a:extLst>
          </p:cNvPr>
          <p:cNvSpPr/>
          <p:nvPr/>
        </p:nvSpPr>
        <p:spPr>
          <a:xfrm>
            <a:off x="12738052" y="7334251"/>
            <a:ext cx="1879700" cy="1097162"/>
          </a:xfrm>
          <a:prstGeom prst="roundRect">
            <a:avLst>
              <a:gd name="adj" fmla="val 13890"/>
            </a:avLst>
          </a:prstGeom>
          <a:solidFill>
            <a:srgbClr val="13897A"/>
          </a:solidFill>
          <a:ln/>
        </p:spPr>
      </p:sp>
      <p:sp>
        <p:nvSpPr>
          <p:cNvPr id="47" name="Text 24">
            <a:extLst>
              <a:ext uri="{FF2B5EF4-FFF2-40B4-BE49-F238E27FC236}">
                <a16:creationId xmlns:a16="http://schemas.microsoft.com/office/drawing/2014/main" id="{E9030297-26DD-F756-D422-593A12C0656C}"/>
              </a:ext>
            </a:extLst>
          </p:cNvPr>
          <p:cNvSpPr/>
          <p:nvPr/>
        </p:nvSpPr>
        <p:spPr>
          <a:xfrm>
            <a:off x="12852352" y="7543800"/>
            <a:ext cx="1651100" cy="358080"/>
          </a:xfrm>
          <a:prstGeom prst="rect">
            <a:avLst/>
          </a:prstGeom>
          <a:noFill/>
          <a:ln/>
        </p:spPr>
        <p:txBody>
          <a:bodyPr wrap="square" lIns="0" tIns="0" rIns="0" bIns="0" rtlCol="0" anchor="t">
            <a:normAutofit/>
          </a:bodyPr>
          <a:lstStyle/>
          <a:p>
            <a:pPr algn="ctr">
              <a:lnSpc>
                <a:spcPts val="2520"/>
              </a:lnSpc>
            </a:pPr>
            <a:r>
              <a:rPr lang="en-US" sz="2100" b="1" dirty="0">
                <a:solidFill>
                  <a:srgbClr val="FFFFFF"/>
                </a:solidFill>
                <a:latin typeface="Times New Roman"/>
                <a:ea typeface="Times New Roman"/>
                <a:cs typeface="Times New Roman"/>
              </a:rPr>
              <a:t>PROCESS</a:t>
            </a:r>
            <a:endParaRPr lang="en-US" sz="2100" dirty="0"/>
          </a:p>
        </p:txBody>
      </p:sp>
      <p:sp>
        <p:nvSpPr>
          <p:cNvPr id="48" name="Text 25">
            <a:extLst>
              <a:ext uri="{FF2B5EF4-FFF2-40B4-BE49-F238E27FC236}">
                <a16:creationId xmlns:a16="http://schemas.microsoft.com/office/drawing/2014/main" id="{62C5AFA9-2933-D2A1-127D-0EECF9A4CC4C}"/>
              </a:ext>
            </a:extLst>
          </p:cNvPr>
          <p:cNvSpPr/>
          <p:nvPr/>
        </p:nvSpPr>
        <p:spPr>
          <a:xfrm>
            <a:off x="12852352" y="7901880"/>
            <a:ext cx="1651100" cy="358080"/>
          </a:xfrm>
          <a:prstGeom prst="rect">
            <a:avLst/>
          </a:prstGeom>
          <a:noFill/>
          <a:ln/>
        </p:spPr>
        <p:txBody>
          <a:bodyPr wrap="square" lIns="0" tIns="0" rIns="0" bIns="0" rtlCol="0" anchor="t">
            <a:normAutofit/>
          </a:bodyPr>
          <a:lstStyle/>
          <a:p>
            <a:pPr algn="ctr">
              <a:lnSpc>
                <a:spcPts val="2520"/>
              </a:lnSpc>
            </a:pPr>
            <a:r>
              <a:rPr lang="en-US" dirty="0">
                <a:solidFill>
                  <a:srgbClr val="E3F4F1"/>
                </a:solidFill>
                <a:latin typeface="Times New Roman"/>
                <a:ea typeface="Times New Roman"/>
                <a:cs typeface="Times New Roman"/>
              </a:rPr>
              <a:t>Build strategy</a:t>
            </a:r>
            <a:endParaRPr lang="en-US" dirty="0"/>
          </a:p>
        </p:txBody>
      </p:sp>
      <p:pic>
        <p:nvPicPr>
          <p:cNvPr id="49" name="Image 8" descr="arrow-right">
            <a:extLst>
              <a:ext uri="{FF2B5EF4-FFF2-40B4-BE49-F238E27FC236}">
                <a16:creationId xmlns:a16="http://schemas.microsoft.com/office/drawing/2014/main" id="{86D80C9E-8D43-FF82-867B-9A2EC9ABE4D6}"/>
              </a:ext>
            </a:extLst>
          </p:cNvPr>
          <p:cNvPicPr>
            <a:picLocks noChangeAspect="1"/>
          </p:cNvPicPr>
          <p:nvPr/>
        </p:nvPicPr>
        <p:blipFill>
          <a:blip r:embed="rId9"/>
          <a:srcRect/>
          <a:stretch/>
        </p:blipFill>
        <p:spPr>
          <a:xfrm>
            <a:off x="14732049" y="7778055"/>
            <a:ext cx="342900" cy="209550"/>
          </a:xfrm>
          <a:prstGeom prst="rect">
            <a:avLst/>
          </a:prstGeom>
        </p:spPr>
      </p:pic>
      <p:sp>
        <p:nvSpPr>
          <p:cNvPr id="50" name="Shape 26">
            <a:extLst>
              <a:ext uri="{FF2B5EF4-FFF2-40B4-BE49-F238E27FC236}">
                <a16:creationId xmlns:a16="http://schemas.microsoft.com/office/drawing/2014/main" id="{3CDDA1B8-ACCE-301A-15DD-3692CD9C3D8B}"/>
              </a:ext>
            </a:extLst>
          </p:cNvPr>
          <p:cNvSpPr/>
          <p:nvPr/>
        </p:nvSpPr>
        <p:spPr>
          <a:xfrm>
            <a:off x="15189249" y="7334251"/>
            <a:ext cx="1879551" cy="1097162"/>
          </a:xfrm>
          <a:prstGeom prst="roundRect">
            <a:avLst>
              <a:gd name="adj" fmla="val 13890"/>
            </a:avLst>
          </a:prstGeom>
          <a:solidFill>
            <a:srgbClr val="0B3558"/>
          </a:solidFill>
          <a:ln/>
        </p:spPr>
      </p:sp>
      <p:sp>
        <p:nvSpPr>
          <p:cNvPr id="51" name="Text 27">
            <a:extLst>
              <a:ext uri="{FF2B5EF4-FFF2-40B4-BE49-F238E27FC236}">
                <a16:creationId xmlns:a16="http://schemas.microsoft.com/office/drawing/2014/main" id="{22C91A78-1362-1A2F-DF61-43D60E3B0A4C}"/>
              </a:ext>
            </a:extLst>
          </p:cNvPr>
          <p:cNvSpPr/>
          <p:nvPr/>
        </p:nvSpPr>
        <p:spPr>
          <a:xfrm>
            <a:off x="15303549" y="7543800"/>
            <a:ext cx="1650951" cy="358080"/>
          </a:xfrm>
          <a:prstGeom prst="rect">
            <a:avLst/>
          </a:prstGeom>
          <a:noFill/>
          <a:ln/>
        </p:spPr>
        <p:txBody>
          <a:bodyPr wrap="square" lIns="0" tIns="0" rIns="0" bIns="0" rtlCol="0" anchor="t">
            <a:normAutofit/>
          </a:bodyPr>
          <a:lstStyle/>
          <a:p>
            <a:pPr algn="ctr">
              <a:lnSpc>
                <a:spcPts val="2520"/>
              </a:lnSpc>
            </a:pPr>
            <a:r>
              <a:rPr lang="en-US" sz="2100" b="1" dirty="0">
                <a:solidFill>
                  <a:srgbClr val="FFFFFF"/>
                </a:solidFill>
                <a:latin typeface="Times New Roman"/>
                <a:ea typeface="Times New Roman"/>
                <a:cs typeface="Times New Roman"/>
              </a:rPr>
              <a:t>OUTPUT</a:t>
            </a:r>
            <a:endParaRPr lang="en-US" sz="2100" dirty="0"/>
          </a:p>
        </p:txBody>
      </p:sp>
      <p:sp>
        <p:nvSpPr>
          <p:cNvPr id="52" name="Text 28">
            <a:extLst>
              <a:ext uri="{FF2B5EF4-FFF2-40B4-BE49-F238E27FC236}">
                <a16:creationId xmlns:a16="http://schemas.microsoft.com/office/drawing/2014/main" id="{4AEBC475-B599-3166-668E-58F9B9ADDF03}"/>
              </a:ext>
            </a:extLst>
          </p:cNvPr>
          <p:cNvSpPr/>
          <p:nvPr/>
        </p:nvSpPr>
        <p:spPr>
          <a:xfrm>
            <a:off x="15303549" y="7901880"/>
            <a:ext cx="1650951" cy="358080"/>
          </a:xfrm>
          <a:prstGeom prst="rect">
            <a:avLst/>
          </a:prstGeom>
          <a:noFill/>
          <a:ln/>
        </p:spPr>
        <p:txBody>
          <a:bodyPr wrap="square" lIns="0" tIns="0" rIns="0" bIns="0" rtlCol="0" anchor="t">
            <a:normAutofit/>
          </a:bodyPr>
          <a:lstStyle/>
          <a:p>
            <a:pPr algn="ctr">
              <a:lnSpc>
                <a:spcPts val="2520"/>
              </a:lnSpc>
            </a:pPr>
            <a:r>
              <a:rPr lang="en-US" dirty="0">
                <a:solidFill>
                  <a:srgbClr val="DBE6F2"/>
                </a:solidFill>
                <a:latin typeface="Times New Roman"/>
                <a:ea typeface="Times New Roman"/>
                <a:cs typeface="Times New Roman"/>
              </a:rPr>
              <a:t>Record on site</a:t>
            </a:r>
            <a:endParaRPr lang="en-US" dirty="0"/>
          </a:p>
        </p:txBody>
      </p:sp>
      <p:sp>
        <p:nvSpPr>
          <p:cNvPr id="53" name="TextBox 4">
            <a:extLst>
              <a:ext uri="{FF2B5EF4-FFF2-40B4-BE49-F238E27FC236}">
                <a16:creationId xmlns:a16="http://schemas.microsoft.com/office/drawing/2014/main" id="{149E92D5-419B-94BF-1ACB-C49ECA2BB334}"/>
              </a:ext>
            </a:extLst>
          </p:cNvPr>
          <p:cNvSpPr txBox="1"/>
          <p:nvPr/>
        </p:nvSpPr>
        <p:spPr>
          <a:xfrm>
            <a:off x="1427110" y="2904281"/>
            <a:ext cx="9088489" cy="400110"/>
          </a:xfrm>
          <a:prstGeom prst="rect">
            <a:avLst/>
          </a:prstGeom>
          <a:noFill/>
        </p:spPr>
        <p:txBody>
          <a:bodyPr wrap="square" anchor="ctr">
            <a:spAutoFit/>
          </a:bodyPr>
          <a:lstStyle/>
          <a:p>
            <a:pPr algn="l"/>
            <a:r>
              <a:rPr lang="en-US" altLang="zh-TW" sz="2000" b="0" dirty="0">
                <a:solidFill>
                  <a:srgbClr val="5A6870"/>
                </a:solidFill>
                <a:latin typeface="Times New Roman" panose="02020603050405020304" pitchFamily="18" charset="0"/>
                <a:cs typeface="Times New Roman" panose="02020603050405020304" pitchFamily="18" charset="0"/>
              </a:rPr>
              <a:t>A Breaking Move Management System — each athlete’s own “digital arsenal”</a:t>
            </a:r>
          </a:p>
        </p:txBody>
      </p:sp>
      <p:grpSp>
        <p:nvGrpSpPr>
          <p:cNvPr id="56" name="Group 2">
            <a:extLst>
              <a:ext uri="{FF2B5EF4-FFF2-40B4-BE49-F238E27FC236}">
                <a16:creationId xmlns:a16="http://schemas.microsoft.com/office/drawing/2014/main" id="{2C69E53F-0D60-DDFE-C972-16B5AE81C895}"/>
              </a:ext>
            </a:extLst>
          </p:cNvPr>
          <p:cNvGrpSpPr/>
          <p:nvPr/>
        </p:nvGrpSpPr>
        <p:grpSpPr>
          <a:xfrm>
            <a:off x="0" y="25405"/>
            <a:ext cx="18288000" cy="3744230"/>
            <a:chOff x="0" y="0"/>
            <a:chExt cx="24384000" cy="4992306"/>
          </a:xfrm>
        </p:grpSpPr>
        <p:sp>
          <p:nvSpPr>
            <p:cNvPr id="57" name="Freeform 3" descr="一張含有 黑暗, 黑色, 螢幕擷取畫面, 光線 的圖片  AI 產生的內容可能不正確。">
              <a:extLst>
                <a:ext uri="{FF2B5EF4-FFF2-40B4-BE49-F238E27FC236}">
                  <a16:creationId xmlns:a16="http://schemas.microsoft.com/office/drawing/2014/main" id="{E02E74B7-8896-C99A-949B-E1C6F87D7A46}"/>
                </a:ext>
              </a:extLst>
            </p:cNvPr>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10"/>
              <a:stretch>
                <a:fillRect b="-1"/>
              </a:stretch>
            </a:blipFill>
          </p:spPr>
        </p:sp>
      </p:grpSp>
      <p:sp>
        <p:nvSpPr>
          <p:cNvPr id="58" name="文字方塊 57">
            <a:extLst>
              <a:ext uri="{FF2B5EF4-FFF2-40B4-BE49-F238E27FC236}">
                <a16:creationId xmlns:a16="http://schemas.microsoft.com/office/drawing/2014/main" id="{622843EF-B227-3529-E2C4-0BE4020AF048}"/>
              </a:ext>
            </a:extLst>
          </p:cNvPr>
          <p:cNvSpPr txBox="1"/>
          <p:nvPr/>
        </p:nvSpPr>
        <p:spPr>
          <a:xfrm>
            <a:off x="11887200" y="-39489"/>
            <a:ext cx="7680960" cy="369332"/>
          </a:xfrm>
          <a:prstGeom prst="rect">
            <a:avLst/>
          </a:prstGeom>
          <a:noFill/>
        </p:spPr>
        <p:txBody>
          <a:bodyPr wrap="square">
            <a:spAutoFit/>
          </a:bodyPr>
          <a:lstStyle/>
          <a:p>
            <a:pPr eaLnBrk="1" fontAlgn="auto" hangingPunct="1"/>
            <a:r>
              <a:rPr lang="en-US" altLang="zh-TW"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rPr>
              <a:t>Department of Sports Technology &amp; Information Development</a:t>
            </a:r>
            <a:endParaRPr lang="zh-TW" altLang="en-US"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1378736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363408" y="599237"/>
            <a:ext cx="1103243" cy="551059"/>
            <a:chOff x="0" y="0"/>
            <a:chExt cx="1470990" cy="734746"/>
          </a:xfrm>
        </p:grpSpPr>
        <p:sp>
          <p:nvSpPr>
            <p:cNvPr id="5" name="Freeform 5"/>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3"/>
              <a:stretch>
                <a:fillRect t="-221" r="3" b="-226"/>
              </a:stretch>
            </a:blipFill>
          </p:spPr>
        </p:sp>
      </p:grpSp>
      <p:sp>
        <p:nvSpPr>
          <p:cNvPr id="10" name="TextBox 8">
            <a:extLst>
              <a:ext uri="{FF2B5EF4-FFF2-40B4-BE49-F238E27FC236}">
                <a16:creationId xmlns:a16="http://schemas.microsoft.com/office/drawing/2014/main" id="{BEE2E849-BE91-7E03-9C71-EB85CE97CD3F}"/>
              </a:ext>
            </a:extLst>
          </p:cNvPr>
          <p:cNvSpPr txBox="1"/>
          <p:nvPr/>
        </p:nvSpPr>
        <p:spPr>
          <a:xfrm>
            <a:off x="1513740" y="1844040"/>
            <a:ext cx="12828418" cy="1394460"/>
          </a:xfrm>
          <a:prstGeom prst="rect">
            <a:avLst/>
          </a:prstGeom>
        </p:spPr>
        <p:txBody>
          <a:bodyPr lIns="0" tIns="0" rIns="0" bIns="0" rtlCol="0" anchor="ctr"/>
          <a:lstStyle/>
          <a:p>
            <a:pPr algn="l">
              <a:lnSpc>
                <a:spcPts val="4284"/>
              </a:lnSpc>
            </a:pPr>
            <a:r>
              <a:rPr lang="en-US" sz="5400" b="1" dirty="0">
                <a:solidFill>
                  <a:srgbClr val="003366"/>
                </a:solidFill>
                <a:latin typeface="Times New Roman"/>
                <a:ea typeface="Times New Roman"/>
                <a:cs typeface="Times New Roman"/>
                <a:sym typeface="Times New Roman"/>
              </a:rPr>
              <a:t>From Training to Competition</a:t>
            </a:r>
          </a:p>
        </p:txBody>
      </p:sp>
      <p:sp>
        <p:nvSpPr>
          <p:cNvPr id="11" name="Freeform 27">
            <a:extLst>
              <a:ext uri="{FF2B5EF4-FFF2-40B4-BE49-F238E27FC236}">
                <a16:creationId xmlns:a16="http://schemas.microsoft.com/office/drawing/2014/main" id="{BD0C25DD-ADB8-72BC-63C1-002ABA58605B}"/>
              </a:ext>
            </a:extLst>
          </p:cNvPr>
          <p:cNvSpPr/>
          <p:nvPr/>
        </p:nvSpPr>
        <p:spPr>
          <a:xfrm>
            <a:off x="799154" y="2252616"/>
            <a:ext cx="455075" cy="455075"/>
          </a:xfrm>
          <a:custGeom>
            <a:avLst/>
            <a:gdLst/>
            <a:ahLst/>
            <a:cxnLst/>
            <a:rect l="l" t="t" r="r" b="b"/>
            <a:pathLst>
              <a:path w="455075" h="455075">
                <a:moveTo>
                  <a:pt x="0" y="0"/>
                </a:moveTo>
                <a:lnTo>
                  <a:pt x="455074" y="0"/>
                </a:lnTo>
                <a:lnTo>
                  <a:pt x="455074" y="455075"/>
                </a:lnTo>
                <a:lnTo>
                  <a:pt x="0" y="4550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3" name="TextBox 4">
            <a:extLst>
              <a:ext uri="{FF2B5EF4-FFF2-40B4-BE49-F238E27FC236}">
                <a16:creationId xmlns:a16="http://schemas.microsoft.com/office/drawing/2014/main" id="{149E92D5-419B-94BF-1ACB-C49ECA2BB334}"/>
              </a:ext>
            </a:extLst>
          </p:cNvPr>
          <p:cNvSpPr txBox="1"/>
          <p:nvPr/>
        </p:nvSpPr>
        <p:spPr>
          <a:xfrm>
            <a:off x="1427110" y="2904281"/>
            <a:ext cx="9088489" cy="400110"/>
          </a:xfrm>
          <a:prstGeom prst="rect">
            <a:avLst/>
          </a:prstGeom>
          <a:noFill/>
        </p:spPr>
        <p:txBody>
          <a:bodyPr wrap="square" anchor="ctr">
            <a:spAutoFit/>
          </a:bodyPr>
          <a:lstStyle/>
          <a:p>
            <a:pPr algn="l"/>
            <a:r>
              <a:rPr lang="en-US" altLang="zh-TW" sz="2000" b="0" dirty="0">
                <a:solidFill>
                  <a:srgbClr val="5A6870"/>
                </a:solidFill>
                <a:latin typeface="Times New Roman" panose="02020603050405020304" pitchFamily="18" charset="0"/>
                <a:cs typeface="Times New Roman" panose="02020603050405020304" pitchFamily="18" charset="0"/>
              </a:rPr>
              <a:t>One System Across the Athlete’s Season</a:t>
            </a:r>
          </a:p>
        </p:txBody>
      </p:sp>
      <p:sp>
        <p:nvSpPr>
          <p:cNvPr id="6" name="Shape 0">
            <a:extLst>
              <a:ext uri="{FF2B5EF4-FFF2-40B4-BE49-F238E27FC236}">
                <a16:creationId xmlns:a16="http://schemas.microsoft.com/office/drawing/2014/main" id="{EE727720-24C4-8907-A76A-821CF8D7E87D}"/>
              </a:ext>
            </a:extLst>
          </p:cNvPr>
          <p:cNvSpPr/>
          <p:nvPr/>
        </p:nvSpPr>
        <p:spPr>
          <a:xfrm>
            <a:off x="1647825" y="4572000"/>
            <a:ext cx="57150" cy="3771900"/>
          </a:xfrm>
          <a:prstGeom prst="rect">
            <a:avLst/>
          </a:prstGeom>
          <a:solidFill>
            <a:srgbClr val="C8D5E2"/>
          </a:solidFill>
          <a:ln/>
        </p:spPr>
      </p:sp>
      <p:sp>
        <p:nvSpPr>
          <p:cNvPr id="7" name="Text 5">
            <a:extLst>
              <a:ext uri="{FF2B5EF4-FFF2-40B4-BE49-F238E27FC236}">
                <a16:creationId xmlns:a16="http://schemas.microsoft.com/office/drawing/2014/main" id="{EFCF4016-4CA0-5690-C26F-52977B05EF81}"/>
              </a:ext>
            </a:extLst>
          </p:cNvPr>
          <p:cNvSpPr/>
          <p:nvPr/>
        </p:nvSpPr>
        <p:spPr>
          <a:xfrm>
            <a:off x="1219200" y="3571875"/>
            <a:ext cx="7848600" cy="403770"/>
          </a:xfrm>
          <a:prstGeom prst="rect">
            <a:avLst/>
          </a:prstGeom>
          <a:noFill/>
          <a:ln/>
        </p:spPr>
        <p:txBody>
          <a:bodyPr wrap="square" lIns="0" tIns="0" rIns="0" bIns="0" rtlCol="0" anchor="t">
            <a:normAutofit/>
          </a:bodyPr>
          <a:lstStyle/>
          <a:p>
            <a:pPr>
              <a:lnSpc>
                <a:spcPts val="2880"/>
              </a:lnSpc>
            </a:pPr>
            <a:r>
              <a:rPr lang="en-US" sz="2400" b="1" dirty="0">
                <a:solidFill>
                  <a:srgbClr val="1F5C99"/>
                </a:solidFill>
                <a:latin typeface="Times New Roman"/>
                <a:ea typeface="Times New Roman"/>
                <a:cs typeface="Times New Roman"/>
              </a:rPr>
              <a:t>How It Works</a:t>
            </a:r>
            <a:endParaRPr lang="en-US" sz="2400" dirty="0"/>
          </a:p>
        </p:txBody>
      </p:sp>
      <p:sp>
        <p:nvSpPr>
          <p:cNvPr id="8" name="Text 6">
            <a:extLst>
              <a:ext uri="{FF2B5EF4-FFF2-40B4-BE49-F238E27FC236}">
                <a16:creationId xmlns:a16="http://schemas.microsoft.com/office/drawing/2014/main" id="{DE4FC81C-D4F2-B778-3D12-443653E80F01}"/>
              </a:ext>
            </a:extLst>
          </p:cNvPr>
          <p:cNvSpPr/>
          <p:nvPr/>
        </p:nvSpPr>
        <p:spPr>
          <a:xfrm>
            <a:off x="10287000" y="3571875"/>
            <a:ext cx="6985254" cy="403770"/>
          </a:xfrm>
          <a:prstGeom prst="rect">
            <a:avLst/>
          </a:prstGeom>
          <a:noFill/>
          <a:ln/>
        </p:spPr>
        <p:txBody>
          <a:bodyPr wrap="square" lIns="0" tIns="0" rIns="0" bIns="0" rtlCol="0" anchor="t">
            <a:normAutofit/>
          </a:bodyPr>
          <a:lstStyle/>
          <a:p>
            <a:pPr>
              <a:lnSpc>
                <a:spcPts val="2880"/>
              </a:lnSpc>
            </a:pPr>
            <a:r>
              <a:rPr lang="en-US" sz="2400" b="1" dirty="0">
                <a:solidFill>
                  <a:srgbClr val="1F5C99"/>
                </a:solidFill>
                <a:latin typeface="Times New Roman"/>
                <a:ea typeface="Times New Roman"/>
                <a:cs typeface="Times New Roman"/>
              </a:rPr>
              <a:t>Training in Action</a:t>
            </a:r>
            <a:endParaRPr lang="en-US" sz="2400" dirty="0"/>
          </a:p>
        </p:txBody>
      </p:sp>
      <p:sp>
        <p:nvSpPr>
          <p:cNvPr id="9" name="Shape 7">
            <a:extLst>
              <a:ext uri="{FF2B5EF4-FFF2-40B4-BE49-F238E27FC236}">
                <a16:creationId xmlns:a16="http://schemas.microsoft.com/office/drawing/2014/main" id="{3910B8F7-B9D4-6774-4017-BE61B5EA720F}"/>
              </a:ext>
            </a:extLst>
          </p:cNvPr>
          <p:cNvSpPr/>
          <p:nvPr/>
        </p:nvSpPr>
        <p:spPr>
          <a:xfrm>
            <a:off x="1219200" y="4114800"/>
            <a:ext cx="914400" cy="914400"/>
          </a:xfrm>
          <a:prstGeom prst="roundRect">
            <a:avLst>
              <a:gd name="adj" fmla="val 50000"/>
            </a:avLst>
          </a:prstGeom>
          <a:solidFill>
            <a:srgbClr val="1468B3"/>
          </a:solidFill>
          <a:ln/>
        </p:spPr>
      </p:sp>
      <p:pic>
        <p:nvPicPr>
          <p:cNvPr id="12" name="Image 3" descr="Book">
            <a:extLst>
              <a:ext uri="{FF2B5EF4-FFF2-40B4-BE49-F238E27FC236}">
                <a16:creationId xmlns:a16="http://schemas.microsoft.com/office/drawing/2014/main" id="{182FD96A-BC45-0EDF-E801-C07EC268431E}"/>
              </a:ext>
            </a:extLst>
          </p:cNvPr>
          <p:cNvPicPr>
            <a:picLocks noChangeAspect="1"/>
          </p:cNvPicPr>
          <p:nvPr/>
        </p:nvPicPr>
        <p:blipFill>
          <a:blip r:embed="rId6"/>
          <a:srcRect/>
          <a:stretch/>
        </p:blipFill>
        <p:spPr>
          <a:xfrm>
            <a:off x="1457325" y="4352925"/>
            <a:ext cx="438150" cy="438150"/>
          </a:xfrm>
          <a:prstGeom prst="rect">
            <a:avLst/>
          </a:prstGeom>
        </p:spPr>
      </p:pic>
      <p:sp>
        <p:nvSpPr>
          <p:cNvPr id="13" name="Text 8">
            <a:extLst>
              <a:ext uri="{FF2B5EF4-FFF2-40B4-BE49-F238E27FC236}">
                <a16:creationId xmlns:a16="http://schemas.microsoft.com/office/drawing/2014/main" id="{FF4AB662-78DD-240C-4811-F3D32CE1C5E3}"/>
              </a:ext>
            </a:extLst>
          </p:cNvPr>
          <p:cNvSpPr/>
          <p:nvPr/>
        </p:nvSpPr>
        <p:spPr>
          <a:xfrm>
            <a:off x="2438400" y="4139655"/>
            <a:ext cx="7573899" cy="518070"/>
          </a:xfrm>
          <a:prstGeom prst="rect">
            <a:avLst/>
          </a:prstGeom>
          <a:noFill/>
          <a:ln/>
        </p:spPr>
        <p:txBody>
          <a:bodyPr wrap="square" lIns="0" tIns="0" rIns="0" bIns="0" rtlCol="0" anchor="t">
            <a:normAutofit/>
          </a:bodyPr>
          <a:lstStyle/>
          <a:p>
            <a:pPr>
              <a:lnSpc>
                <a:spcPts val="3780"/>
              </a:lnSpc>
            </a:pPr>
            <a:r>
              <a:rPr lang="en-US" sz="3150" b="1" dirty="0">
                <a:solidFill>
                  <a:srgbClr val="13897A"/>
                </a:solidFill>
                <a:latin typeface="Times New Roman" pitchFamily="18" charset="0"/>
                <a:ea typeface="Times New Roman" pitchFamily="18" charset="-122"/>
                <a:cs typeface="Times New Roman" pitchFamily="18" charset="-120"/>
              </a:rPr>
              <a:t>01</a:t>
            </a:r>
            <a:r>
              <a:rPr lang="en-US" sz="3150" b="1" dirty="0">
                <a:solidFill>
                  <a:srgbClr val="0E3A66"/>
                </a:solidFill>
                <a:latin typeface="Times New Roman" pitchFamily="18" charset="0"/>
                <a:ea typeface="Times New Roman" pitchFamily="18" charset="-122"/>
                <a:cs typeface="Times New Roman" pitchFamily="18" charset="-120"/>
              </a:rPr>
              <a:t>  Build</a:t>
            </a:r>
            <a:endParaRPr lang="en-US" sz="3150" dirty="0"/>
          </a:p>
        </p:txBody>
      </p:sp>
      <p:sp>
        <p:nvSpPr>
          <p:cNvPr id="14" name="Text 9">
            <a:extLst>
              <a:ext uri="{FF2B5EF4-FFF2-40B4-BE49-F238E27FC236}">
                <a16:creationId xmlns:a16="http://schemas.microsoft.com/office/drawing/2014/main" id="{41C77176-7645-73AB-3FC4-2505F3D59BBB}"/>
              </a:ext>
            </a:extLst>
          </p:cNvPr>
          <p:cNvSpPr/>
          <p:nvPr/>
        </p:nvSpPr>
        <p:spPr>
          <a:xfrm>
            <a:off x="2438400" y="4657725"/>
            <a:ext cx="7573899" cy="384720"/>
          </a:xfrm>
          <a:prstGeom prst="rect">
            <a:avLst/>
          </a:prstGeom>
          <a:noFill/>
          <a:ln/>
        </p:spPr>
        <p:txBody>
          <a:bodyPr wrap="square" lIns="0" tIns="0" rIns="0" bIns="0" rtlCol="0" anchor="t">
            <a:normAutofit/>
          </a:bodyPr>
          <a:lstStyle/>
          <a:p>
            <a:pPr>
              <a:lnSpc>
                <a:spcPts val="2730"/>
              </a:lnSpc>
            </a:pPr>
            <a:r>
              <a:rPr lang="en-US" sz="2100" dirty="0">
                <a:solidFill>
                  <a:srgbClr val="2B2F36"/>
                </a:solidFill>
                <a:latin typeface="Times New Roman" pitchFamily="18" charset="0"/>
                <a:ea typeface="Times New Roman" pitchFamily="18" charset="-122"/>
                <a:cs typeface="Times New Roman" pitchFamily="18" charset="-120"/>
              </a:rPr>
              <a:t>Athletes record their moves in a personal library</a:t>
            </a:r>
            <a:endParaRPr lang="en-US" sz="2100" dirty="0"/>
          </a:p>
        </p:txBody>
      </p:sp>
      <p:sp>
        <p:nvSpPr>
          <p:cNvPr id="15" name="Shape 10">
            <a:extLst>
              <a:ext uri="{FF2B5EF4-FFF2-40B4-BE49-F238E27FC236}">
                <a16:creationId xmlns:a16="http://schemas.microsoft.com/office/drawing/2014/main" id="{BE561DFE-CD7A-E96D-150D-1580FA2CEAC5}"/>
              </a:ext>
            </a:extLst>
          </p:cNvPr>
          <p:cNvSpPr/>
          <p:nvPr/>
        </p:nvSpPr>
        <p:spPr>
          <a:xfrm>
            <a:off x="1219200" y="5372100"/>
            <a:ext cx="914400" cy="914400"/>
          </a:xfrm>
          <a:prstGeom prst="roundRect">
            <a:avLst>
              <a:gd name="adj" fmla="val 50000"/>
            </a:avLst>
          </a:prstGeom>
          <a:solidFill>
            <a:srgbClr val="13897A"/>
          </a:solidFill>
          <a:ln/>
        </p:spPr>
      </p:sp>
      <p:pic>
        <p:nvPicPr>
          <p:cNvPr id="16" name="Image 4" descr="Tool">
            <a:extLst>
              <a:ext uri="{FF2B5EF4-FFF2-40B4-BE49-F238E27FC236}">
                <a16:creationId xmlns:a16="http://schemas.microsoft.com/office/drawing/2014/main" id="{B395653D-D198-45D0-2175-035EFB6EB2B7}"/>
              </a:ext>
            </a:extLst>
          </p:cNvPr>
          <p:cNvPicPr>
            <a:picLocks noChangeAspect="1"/>
          </p:cNvPicPr>
          <p:nvPr/>
        </p:nvPicPr>
        <p:blipFill>
          <a:blip r:embed="rId7"/>
          <a:srcRect/>
          <a:stretch/>
        </p:blipFill>
        <p:spPr>
          <a:xfrm>
            <a:off x="1457325" y="5610225"/>
            <a:ext cx="438150" cy="438150"/>
          </a:xfrm>
          <a:prstGeom prst="rect">
            <a:avLst/>
          </a:prstGeom>
        </p:spPr>
      </p:pic>
      <p:sp>
        <p:nvSpPr>
          <p:cNvPr id="17" name="Text 11">
            <a:extLst>
              <a:ext uri="{FF2B5EF4-FFF2-40B4-BE49-F238E27FC236}">
                <a16:creationId xmlns:a16="http://schemas.microsoft.com/office/drawing/2014/main" id="{C1129505-2FFC-6BC0-935C-00A4B50C4752}"/>
              </a:ext>
            </a:extLst>
          </p:cNvPr>
          <p:cNvSpPr/>
          <p:nvPr/>
        </p:nvSpPr>
        <p:spPr>
          <a:xfrm>
            <a:off x="2438400" y="5396955"/>
            <a:ext cx="7573899" cy="518070"/>
          </a:xfrm>
          <a:prstGeom prst="rect">
            <a:avLst/>
          </a:prstGeom>
          <a:noFill/>
          <a:ln/>
        </p:spPr>
        <p:txBody>
          <a:bodyPr wrap="square" lIns="0" tIns="0" rIns="0" bIns="0" rtlCol="0" anchor="t">
            <a:normAutofit/>
          </a:bodyPr>
          <a:lstStyle/>
          <a:p>
            <a:pPr>
              <a:lnSpc>
                <a:spcPts val="3780"/>
              </a:lnSpc>
            </a:pPr>
            <a:r>
              <a:rPr lang="en-US" sz="3150" b="1" dirty="0">
                <a:solidFill>
                  <a:srgbClr val="13897A"/>
                </a:solidFill>
                <a:latin typeface="Times New Roman" pitchFamily="18" charset="0"/>
                <a:ea typeface="Times New Roman" pitchFamily="18" charset="-122"/>
                <a:cs typeface="Times New Roman" pitchFamily="18" charset="-120"/>
              </a:rPr>
              <a:t>02</a:t>
            </a:r>
            <a:r>
              <a:rPr lang="en-US" sz="3150" b="1" dirty="0">
                <a:solidFill>
                  <a:srgbClr val="0E3A66"/>
                </a:solidFill>
                <a:latin typeface="Times New Roman" pitchFamily="18" charset="0"/>
                <a:ea typeface="Times New Roman" pitchFamily="18" charset="-122"/>
                <a:cs typeface="Times New Roman" pitchFamily="18" charset="-120"/>
              </a:rPr>
              <a:t>  Plan</a:t>
            </a:r>
            <a:endParaRPr lang="en-US" sz="3150" dirty="0"/>
          </a:p>
        </p:txBody>
      </p:sp>
      <p:sp>
        <p:nvSpPr>
          <p:cNvPr id="18" name="Text 12">
            <a:extLst>
              <a:ext uri="{FF2B5EF4-FFF2-40B4-BE49-F238E27FC236}">
                <a16:creationId xmlns:a16="http://schemas.microsoft.com/office/drawing/2014/main" id="{37548494-5228-ECC0-B519-5E5BA217BD85}"/>
              </a:ext>
            </a:extLst>
          </p:cNvPr>
          <p:cNvSpPr/>
          <p:nvPr/>
        </p:nvSpPr>
        <p:spPr>
          <a:xfrm>
            <a:off x="2438400" y="5915025"/>
            <a:ext cx="7573899" cy="384720"/>
          </a:xfrm>
          <a:prstGeom prst="rect">
            <a:avLst/>
          </a:prstGeom>
          <a:noFill/>
          <a:ln/>
        </p:spPr>
        <p:txBody>
          <a:bodyPr wrap="square" lIns="0" tIns="0" rIns="0" bIns="0" rtlCol="0" anchor="t">
            <a:normAutofit/>
          </a:bodyPr>
          <a:lstStyle/>
          <a:p>
            <a:pPr>
              <a:lnSpc>
                <a:spcPts val="2730"/>
              </a:lnSpc>
            </a:pPr>
            <a:r>
              <a:rPr lang="en-US" sz="2100" dirty="0">
                <a:solidFill>
                  <a:srgbClr val="2B2F36"/>
                </a:solidFill>
                <a:latin typeface="Times New Roman" pitchFamily="18" charset="0"/>
                <a:ea typeface="Times New Roman" pitchFamily="18" charset="-122"/>
                <a:cs typeface="Times New Roman" pitchFamily="18" charset="-120"/>
              </a:rPr>
              <a:t>Moves are combined into round plans for each event</a:t>
            </a:r>
            <a:endParaRPr lang="en-US" sz="2100" dirty="0"/>
          </a:p>
        </p:txBody>
      </p:sp>
      <p:sp>
        <p:nvSpPr>
          <p:cNvPr id="19" name="Shape 13">
            <a:extLst>
              <a:ext uri="{FF2B5EF4-FFF2-40B4-BE49-F238E27FC236}">
                <a16:creationId xmlns:a16="http://schemas.microsoft.com/office/drawing/2014/main" id="{AB3B6F71-382A-376B-58EC-A2B3114A64B1}"/>
              </a:ext>
            </a:extLst>
          </p:cNvPr>
          <p:cNvSpPr/>
          <p:nvPr/>
        </p:nvSpPr>
        <p:spPr>
          <a:xfrm>
            <a:off x="1219200" y="6629400"/>
            <a:ext cx="914400" cy="914400"/>
          </a:xfrm>
          <a:prstGeom prst="roundRect">
            <a:avLst>
              <a:gd name="adj" fmla="val 50000"/>
            </a:avLst>
          </a:prstGeom>
          <a:solidFill>
            <a:srgbClr val="3FA7C9"/>
          </a:solidFill>
          <a:ln/>
        </p:spPr>
      </p:sp>
      <p:pic>
        <p:nvPicPr>
          <p:cNvPr id="20" name="Image 5" descr="Play">
            <a:extLst>
              <a:ext uri="{FF2B5EF4-FFF2-40B4-BE49-F238E27FC236}">
                <a16:creationId xmlns:a16="http://schemas.microsoft.com/office/drawing/2014/main" id="{6C9236FE-894B-16B2-6E7F-9507BF8F7F96}"/>
              </a:ext>
            </a:extLst>
          </p:cNvPr>
          <p:cNvPicPr>
            <a:picLocks noChangeAspect="1"/>
          </p:cNvPicPr>
          <p:nvPr/>
        </p:nvPicPr>
        <p:blipFill>
          <a:blip r:embed="rId8"/>
          <a:srcRect/>
          <a:stretch/>
        </p:blipFill>
        <p:spPr>
          <a:xfrm>
            <a:off x="1457325" y="6867525"/>
            <a:ext cx="438150" cy="438150"/>
          </a:xfrm>
          <a:prstGeom prst="rect">
            <a:avLst/>
          </a:prstGeom>
        </p:spPr>
      </p:pic>
      <p:sp>
        <p:nvSpPr>
          <p:cNvPr id="21" name="Text 14">
            <a:extLst>
              <a:ext uri="{FF2B5EF4-FFF2-40B4-BE49-F238E27FC236}">
                <a16:creationId xmlns:a16="http://schemas.microsoft.com/office/drawing/2014/main" id="{1E332565-93C2-FE64-6393-5B527114909E}"/>
              </a:ext>
            </a:extLst>
          </p:cNvPr>
          <p:cNvSpPr/>
          <p:nvPr/>
        </p:nvSpPr>
        <p:spPr>
          <a:xfrm>
            <a:off x="2438400" y="6654255"/>
            <a:ext cx="7573899" cy="518070"/>
          </a:xfrm>
          <a:prstGeom prst="rect">
            <a:avLst/>
          </a:prstGeom>
          <a:noFill/>
          <a:ln/>
        </p:spPr>
        <p:txBody>
          <a:bodyPr wrap="square" lIns="0" tIns="0" rIns="0" bIns="0" rtlCol="0" anchor="t">
            <a:normAutofit/>
          </a:bodyPr>
          <a:lstStyle/>
          <a:p>
            <a:pPr>
              <a:lnSpc>
                <a:spcPts val="3780"/>
              </a:lnSpc>
            </a:pPr>
            <a:r>
              <a:rPr lang="en-US" sz="3150" b="1" dirty="0">
                <a:solidFill>
                  <a:srgbClr val="13897A"/>
                </a:solidFill>
                <a:latin typeface="Times New Roman" pitchFamily="18" charset="0"/>
                <a:ea typeface="Times New Roman" pitchFamily="18" charset="-122"/>
                <a:cs typeface="Times New Roman" pitchFamily="18" charset="-120"/>
              </a:rPr>
              <a:t>03</a:t>
            </a:r>
            <a:r>
              <a:rPr lang="en-US" sz="3150" b="1" dirty="0">
                <a:solidFill>
                  <a:srgbClr val="0E3A66"/>
                </a:solidFill>
                <a:latin typeface="Times New Roman" pitchFamily="18" charset="0"/>
                <a:ea typeface="Times New Roman" pitchFamily="18" charset="-122"/>
                <a:cs typeface="Times New Roman" pitchFamily="18" charset="-120"/>
              </a:rPr>
              <a:t>  Train</a:t>
            </a:r>
            <a:endParaRPr lang="en-US" sz="3150" dirty="0"/>
          </a:p>
        </p:txBody>
      </p:sp>
      <p:sp>
        <p:nvSpPr>
          <p:cNvPr id="22" name="Text 15">
            <a:extLst>
              <a:ext uri="{FF2B5EF4-FFF2-40B4-BE49-F238E27FC236}">
                <a16:creationId xmlns:a16="http://schemas.microsoft.com/office/drawing/2014/main" id="{C27DD144-F2B5-9361-FD31-BE2A2A50CFA9}"/>
              </a:ext>
            </a:extLst>
          </p:cNvPr>
          <p:cNvSpPr/>
          <p:nvPr/>
        </p:nvSpPr>
        <p:spPr>
          <a:xfrm>
            <a:off x="2438400" y="7172325"/>
            <a:ext cx="7573899" cy="384720"/>
          </a:xfrm>
          <a:prstGeom prst="rect">
            <a:avLst/>
          </a:prstGeom>
          <a:noFill/>
          <a:ln/>
        </p:spPr>
        <p:txBody>
          <a:bodyPr wrap="square" lIns="0" tIns="0" rIns="0" bIns="0" rtlCol="0" anchor="t">
            <a:normAutofit/>
          </a:bodyPr>
          <a:lstStyle/>
          <a:p>
            <a:pPr>
              <a:lnSpc>
                <a:spcPts val="2730"/>
              </a:lnSpc>
            </a:pPr>
            <a:r>
              <a:rPr lang="en-US" sz="2100" dirty="0">
                <a:solidFill>
                  <a:srgbClr val="2B2F36"/>
                </a:solidFill>
                <a:latin typeface="Times New Roman" pitchFamily="18" charset="0"/>
                <a:ea typeface="Times New Roman" pitchFamily="18" charset="-122"/>
                <a:cs typeface="Times New Roman" pitchFamily="18" charset="-120"/>
              </a:rPr>
              <a:t>Plans are rehearsed before competition</a:t>
            </a:r>
            <a:endParaRPr lang="en-US" sz="2100" dirty="0"/>
          </a:p>
        </p:txBody>
      </p:sp>
      <p:sp>
        <p:nvSpPr>
          <p:cNvPr id="23" name="Shape 16">
            <a:extLst>
              <a:ext uri="{FF2B5EF4-FFF2-40B4-BE49-F238E27FC236}">
                <a16:creationId xmlns:a16="http://schemas.microsoft.com/office/drawing/2014/main" id="{802A4E75-0DB1-FAF9-79AA-A94BFB95735B}"/>
              </a:ext>
            </a:extLst>
          </p:cNvPr>
          <p:cNvSpPr/>
          <p:nvPr/>
        </p:nvSpPr>
        <p:spPr>
          <a:xfrm>
            <a:off x="1219200" y="7886700"/>
            <a:ext cx="914400" cy="914400"/>
          </a:xfrm>
          <a:prstGeom prst="roundRect">
            <a:avLst>
              <a:gd name="adj" fmla="val 50000"/>
            </a:avLst>
          </a:prstGeom>
          <a:solidFill>
            <a:srgbClr val="0B3558"/>
          </a:solidFill>
          <a:ln/>
        </p:spPr>
      </p:sp>
      <p:pic>
        <p:nvPicPr>
          <p:cNvPr id="24" name="Image 6" descr="Activity">
            <a:extLst>
              <a:ext uri="{FF2B5EF4-FFF2-40B4-BE49-F238E27FC236}">
                <a16:creationId xmlns:a16="http://schemas.microsoft.com/office/drawing/2014/main" id="{36972E71-3C8F-0BF6-2105-B6D7CF1B52E8}"/>
              </a:ext>
            </a:extLst>
          </p:cNvPr>
          <p:cNvPicPr>
            <a:picLocks noChangeAspect="1"/>
          </p:cNvPicPr>
          <p:nvPr/>
        </p:nvPicPr>
        <p:blipFill>
          <a:blip r:embed="rId9"/>
          <a:srcRect/>
          <a:stretch/>
        </p:blipFill>
        <p:spPr>
          <a:xfrm>
            <a:off x="1457325" y="8124825"/>
            <a:ext cx="438150" cy="438150"/>
          </a:xfrm>
          <a:prstGeom prst="rect">
            <a:avLst/>
          </a:prstGeom>
        </p:spPr>
      </p:pic>
      <p:sp>
        <p:nvSpPr>
          <p:cNvPr id="25" name="Text 17">
            <a:extLst>
              <a:ext uri="{FF2B5EF4-FFF2-40B4-BE49-F238E27FC236}">
                <a16:creationId xmlns:a16="http://schemas.microsoft.com/office/drawing/2014/main" id="{421A5617-5A89-9242-6809-BAC6CCE4C269}"/>
              </a:ext>
            </a:extLst>
          </p:cNvPr>
          <p:cNvSpPr/>
          <p:nvPr/>
        </p:nvSpPr>
        <p:spPr>
          <a:xfrm>
            <a:off x="2438400" y="7911555"/>
            <a:ext cx="7573899" cy="518070"/>
          </a:xfrm>
          <a:prstGeom prst="rect">
            <a:avLst/>
          </a:prstGeom>
          <a:noFill/>
          <a:ln/>
        </p:spPr>
        <p:txBody>
          <a:bodyPr wrap="square" lIns="0" tIns="0" rIns="0" bIns="0" rtlCol="0" anchor="t">
            <a:normAutofit/>
          </a:bodyPr>
          <a:lstStyle/>
          <a:p>
            <a:pPr>
              <a:lnSpc>
                <a:spcPts val="3780"/>
              </a:lnSpc>
            </a:pPr>
            <a:r>
              <a:rPr lang="en-US" sz="3150" b="1" dirty="0">
                <a:solidFill>
                  <a:srgbClr val="13897A"/>
                </a:solidFill>
                <a:latin typeface="Times New Roman" pitchFamily="18" charset="0"/>
                <a:ea typeface="Times New Roman" pitchFamily="18" charset="-122"/>
                <a:cs typeface="Times New Roman" pitchFamily="18" charset="-120"/>
              </a:rPr>
              <a:t>04</a:t>
            </a:r>
            <a:r>
              <a:rPr lang="en-US" sz="3150" b="1" dirty="0">
                <a:solidFill>
                  <a:srgbClr val="0E3A66"/>
                </a:solidFill>
                <a:latin typeface="Times New Roman" pitchFamily="18" charset="0"/>
                <a:ea typeface="Times New Roman" pitchFamily="18" charset="-122"/>
                <a:cs typeface="Times New Roman" pitchFamily="18" charset="-120"/>
              </a:rPr>
              <a:t>  Review</a:t>
            </a:r>
            <a:endParaRPr lang="en-US" sz="3150" dirty="0"/>
          </a:p>
        </p:txBody>
      </p:sp>
      <p:sp>
        <p:nvSpPr>
          <p:cNvPr id="26" name="Text 18">
            <a:extLst>
              <a:ext uri="{FF2B5EF4-FFF2-40B4-BE49-F238E27FC236}">
                <a16:creationId xmlns:a16="http://schemas.microsoft.com/office/drawing/2014/main" id="{854132BC-774D-3BB2-2D83-BF76B386EB35}"/>
              </a:ext>
            </a:extLst>
          </p:cNvPr>
          <p:cNvSpPr/>
          <p:nvPr/>
        </p:nvSpPr>
        <p:spPr>
          <a:xfrm>
            <a:off x="2438400" y="8429625"/>
            <a:ext cx="7573899" cy="384720"/>
          </a:xfrm>
          <a:prstGeom prst="rect">
            <a:avLst/>
          </a:prstGeom>
          <a:noFill/>
          <a:ln/>
        </p:spPr>
        <p:txBody>
          <a:bodyPr wrap="square" lIns="0" tIns="0" rIns="0" bIns="0" rtlCol="0" anchor="t">
            <a:normAutofit/>
          </a:bodyPr>
          <a:lstStyle/>
          <a:p>
            <a:pPr>
              <a:lnSpc>
                <a:spcPts val="2730"/>
              </a:lnSpc>
            </a:pPr>
            <a:r>
              <a:rPr lang="en-US" sz="2100" dirty="0">
                <a:solidFill>
                  <a:srgbClr val="2B2F36"/>
                </a:solidFill>
                <a:latin typeface="Times New Roman" pitchFamily="18" charset="0"/>
                <a:ea typeface="Times New Roman" pitchFamily="18" charset="-122"/>
                <a:cs typeface="Times New Roman" pitchFamily="18" charset="-120"/>
              </a:rPr>
              <a:t>Coaches record performance for post-match review</a:t>
            </a:r>
            <a:endParaRPr lang="en-US" sz="2100" dirty="0"/>
          </a:p>
        </p:txBody>
      </p:sp>
      <p:pic>
        <p:nvPicPr>
          <p:cNvPr id="54" name="Image 7" descr="MoveMartix training mode with a round timer and move cards revealed one by one">
            <a:extLst>
              <a:ext uri="{FF2B5EF4-FFF2-40B4-BE49-F238E27FC236}">
                <a16:creationId xmlns:a16="http://schemas.microsoft.com/office/drawing/2014/main" id="{837E2958-68B1-C278-102B-400903A5A2CC}"/>
              </a:ext>
            </a:extLst>
          </p:cNvPr>
          <p:cNvPicPr>
            <a:picLocks noChangeAspect="1"/>
          </p:cNvPicPr>
          <p:nvPr/>
        </p:nvPicPr>
        <p:blipFill>
          <a:blip r:embed="rId10"/>
          <a:srcRect t="476" b="476"/>
          <a:stretch/>
        </p:blipFill>
        <p:spPr>
          <a:xfrm>
            <a:off x="10306050" y="4133850"/>
            <a:ext cx="6743700" cy="2638425"/>
          </a:xfrm>
          <a:prstGeom prst="roundRect">
            <a:avLst>
              <a:gd name="adj" fmla="val 3610"/>
            </a:avLst>
          </a:prstGeom>
        </p:spPr>
      </p:pic>
      <p:sp>
        <p:nvSpPr>
          <p:cNvPr id="55" name="Shape 19">
            <a:extLst>
              <a:ext uri="{FF2B5EF4-FFF2-40B4-BE49-F238E27FC236}">
                <a16:creationId xmlns:a16="http://schemas.microsoft.com/office/drawing/2014/main" id="{DCB139E7-C6AA-920D-DC46-0CAF2D3B2FC7}"/>
              </a:ext>
            </a:extLst>
          </p:cNvPr>
          <p:cNvSpPr/>
          <p:nvPr/>
        </p:nvSpPr>
        <p:spPr>
          <a:xfrm>
            <a:off x="10296525" y="4124325"/>
            <a:ext cx="6762750" cy="2657475"/>
          </a:xfrm>
          <a:prstGeom prst="roundRect">
            <a:avLst>
              <a:gd name="adj" fmla="val 3943"/>
            </a:avLst>
          </a:prstGeom>
          <a:noFill/>
          <a:ln w="12700">
            <a:solidFill>
              <a:srgbClr val="D3DEE8"/>
            </a:solidFill>
            <a:prstDash val="solid"/>
          </a:ln>
        </p:spPr>
      </p:sp>
      <p:sp>
        <p:nvSpPr>
          <p:cNvPr id="56" name="Text 20">
            <a:extLst>
              <a:ext uri="{FF2B5EF4-FFF2-40B4-BE49-F238E27FC236}">
                <a16:creationId xmlns:a16="http://schemas.microsoft.com/office/drawing/2014/main" id="{929D7025-93F6-A106-A1D8-8305F4F9769A}"/>
              </a:ext>
            </a:extLst>
          </p:cNvPr>
          <p:cNvSpPr/>
          <p:nvPr/>
        </p:nvSpPr>
        <p:spPr>
          <a:xfrm>
            <a:off x="10287000" y="6915150"/>
            <a:ext cx="6985254" cy="358080"/>
          </a:xfrm>
          <a:prstGeom prst="rect">
            <a:avLst/>
          </a:prstGeom>
          <a:noFill/>
          <a:ln/>
        </p:spPr>
        <p:txBody>
          <a:bodyPr wrap="square" lIns="0" tIns="0" rIns="0" bIns="0" rtlCol="0" anchor="t">
            <a:normAutofit/>
          </a:bodyPr>
          <a:lstStyle/>
          <a:p>
            <a:pPr>
              <a:lnSpc>
                <a:spcPts val="2520"/>
              </a:lnSpc>
            </a:pPr>
            <a:r>
              <a:rPr lang="en-US" dirty="0">
                <a:solidFill>
                  <a:srgbClr val="5A6470"/>
                </a:solidFill>
                <a:latin typeface="Times New Roman"/>
                <a:ea typeface="Times New Roman"/>
                <a:cs typeface="Times New Roman"/>
              </a:rPr>
              <a:t>Training mode: rehearsing a round against the clock</a:t>
            </a:r>
            <a:endParaRPr lang="en-US" dirty="0"/>
          </a:p>
        </p:txBody>
      </p:sp>
      <p:sp>
        <p:nvSpPr>
          <p:cNvPr id="57" name="Shape 21">
            <a:extLst>
              <a:ext uri="{FF2B5EF4-FFF2-40B4-BE49-F238E27FC236}">
                <a16:creationId xmlns:a16="http://schemas.microsoft.com/office/drawing/2014/main" id="{42D71449-EF06-8543-B50B-79F9E1893CD3}"/>
              </a:ext>
            </a:extLst>
          </p:cNvPr>
          <p:cNvSpPr/>
          <p:nvPr/>
        </p:nvSpPr>
        <p:spPr>
          <a:xfrm>
            <a:off x="10296526" y="7629525"/>
            <a:ext cx="2139851" cy="1581150"/>
          </a:xfrm>
          <a:prstGeom prst="roundRect">
            <a:avLst>
              <a:gd name="adj" fmla="val 9036"/>
            </a:avLst>
          </a:prstGeom>
          <a:solidFill>
            <a:srgbClr val="F3F6F9"/>
          </a:solidFill>
          <a:ln w="12700">
            <a:solidFill>
              <a:srgbClr val="D3DEE8"/>
            </a:solidFill>
            <a:prstDash val="solid"/>
          </a:ln>
        </p:spPr>
      </p:sp>
      <p:pic>
        <p:nvPicPr>
          <p:cNvPr id="58" name="Image 8" descr="Lightbulb">
            <a:extLst>
              <a:ext uri="{FF2B5EF4-FFF2-40B4-BE49-F238E27FC236}">
                <a16:creationId xmlns:a16="http://schemas.microsoft.com/office/drawing/2014/main" id="{EF47D8AB-A94A-26D9-A9D8-5D87E420B5E0}"/>
              </a:ext>
            </a:extLst>
          </p:cNvPr>
          <p:cNvPicPr>
            <a:picLocks noChangeAspect="1"/>
          </p:cNvPicPr>
          <p:nvPr/>
        </p:nvPicPr>
        <p:blipFill>
          <a:blip r:embed="rId11"/>
          <a:srcRect/>
          <a:stretch/>
        </p:blipFill>
        <p:spPr>
          <a:xfrm>
            <a:off x="11175951" y="7848600"/>
            <a:ext cx="381000" cy="381000"/>
          </a:xfrm>
          <a:prstGeom prst="rect">
            <a:avLst/>
          </a:prstGeom>
        </p:spPr>
      </p:pic>
      <p:sp>
        <p:nvSpPr>
          <p:cNvPr id="60" name="Text 22">
            <a:extLst>
              <a:ext uri="{FF2B5EF4-FFF2-40B4-BE49-F238E27FC236}">
                <a16:creationId xmlns:a16="http://schemas.microsoft.com/office/drawing/2014/main" id="{DD5DC15A-7F2C-0610-7546-42820842220A}"/>
              </a:ext>
            </a:extLst>
          </p:cNvPr>
          <p:cNvSpPr/>
          <p:nvPr/>
        </p:nvSpPr>
        <p:spPr>
          <a:xfrm>
            <a:off x="10412403" y="8305800"/>
            <a:ext cx="1908096" cy="381000"/>
          </a:xfrm>
          <a:prstGeom prst="rect">
            <a:avLst/>
          </a:prstGeom>
          <a:noFill/>
          <a:ln/>
        </p:spPr>
        <p:txBody>
          <a:bodyPr wrap="square" lIns="0" tIns="0" rIns="0" bIns="0" rtlCol="0" anchor="t">
            <a:normAutofit/>
          </a:bodyPr>
          <a:lstStyle/>
          <a:p>
            <a:pPr algn="ctr">
              <a:lnSpc>
                <a:spcPts val="2700"/>
              </a:lnSpc>
            </a:pPr>
            <a:r>
              <a:rPr lang="en-US" sz="2250" b="1" dirty="0">
                <a:solidFill>
                  <a:srgbClr val="0E3A66"/>
                </a:solidFill>
                <a:latin typeface="Times New Roman" pitchFamily="18" charset="0"/>
                <a:ea typeface="Times New Roman" pitchFamily="18" charset="-122"/>
                <a:cs typeface="Times New Roman" pitchFamily="18" charset="-120"/>
              </a:rPr>
              <a:t>Clear Tactics</a:t>
            </a:r>
            <a:endParaRPr lang="en-US" sz="2250" dirty="0"/>
          </a:p>
        </p:txBody>
      </p:sp>
      <p:sp>
        <p:nvSpPr>
          <p:cNvPr id="61" name="Shape 23">
            <a:extLst>
              <a:ext uri="{FF2B5EF4-FFF2-40B4-BE49-F238E27FC236}">
                <a16:creationId xmlns:a16="http://schemas.microsoft.com/office/drawing/2014/main" id="{DCF67980-8747-E54B-4DE9-458077BCAE11}"/>
              </a:ext>
            </a:extLst>
          </p:cNvPr>
          <p:cNvSpPr/>
          <p:nvPr/>
        </p:nvSpPr>
        <p:spPr>
          <a:xfrm>
            <a:off x="12607826" y="7629525"/>
            <a:ext cx="2139999" cy="1581150"/>
          </a:xfrm>
          <a:prstGeom prst="roundRect">
            <a:avLst>
              <a:gd name="adj" fmla="val 9036"/>
            </a:avLst>
          </a:prstGeom>
          <a:solidFill>
            <a:srgbClr val="F3F6F9"/>
          </a:solidFill>
          <a:ln w="12700">
            <a:solidFill>
              <a:srgbClr val="D3DEE8"/>
            </a:solidFill>
            <a:prstDash val="solid"/>
          </a:ln>
        </p:spPr>
      </p:sp>
      <p:pic>
        <p:nvPicPr>
          <p:cNvPr id="62" name="Image 9" descr="CheckCircle">
            <a:extLst>
              <a:ext uri="{FF2B5EF4-FFF2-40B4-BE49-F238E27FC236}">
                <a16:creationId xmlns:a16="http://schemas.microsoft.com/office/drawing/2014/main" id="{3108459F-DEAA-60A8-DB6D-44D91F0451D9}"/>
              </a:ext>
            </a:extLst>
          </p:cNvPr>
          <p:cNvPicPr>
            <a:picLocks noChangeAspect="1"/>
          </p:cNvPicPr>
          <p:nvPr/>
        </p:nvPicPr>
        <p:blipFill>
          <a:blip r:embed="rId12"/>
          <a:srcRect/>
          <a:stretch/>
        </p:blipFill>
        <p:spPr>
          <a:xfrm>
            <a:off x="13487252" y="7848600"/>
            <a:ext cx="381000" cy="381000"/>
          </a:xfrm>
          <a:prstGeom prst="rect">
            <a:avLst/>
          </a:prstGeom>
        </p:spPr>
      </p:pic>
      <p:sp>
        <p:nvSpPr>
          <p:cNvPr id="63" name="Text 24">
            <a:extLst>
              <a:ext uri="{FF2B5EF4-FFF2-40B4-BE49-F238E27FC236}">
                <a16:creationId xmlns:a16="http://schemas.microsoft.com/office/drawing/2014/main" id="{73F79103-1B6D-7544-B578-7108A86A4B4E}"/>
              </a:ext>
            </a:extLst>
          </p:cNvPr>
          <p:cNvSpPr/>
          <p:nvPr/>
        </p:nvSpPr>
        <p:spPr>
          <a:xfrm>
            <a:off x="12712601" y="8305800"/>
            <a:ext cx="1930449" cy="723900"/>
          </a:xfrm>
          <a:prstGeom prst="rect">
            <a:avLst/>
          </a:prstGeom>
          <a:noFill/>
          <a:ln/>
        </p:spPr>
        <p:txBody>
          <a:bodyPr wrap="square" lIns="0" tIns="0" rIns="0" bIns="0" rtlCol="0" anchor="t">
            <a:normAutofit/>
          </a:bodyPr>
          <a:lstStyle/>
          <a:p>
            <a:pPr algn="ctr">
              <a:lnSpc>
                <a:spcPts val="2700"/>
              </a:lnSpc>
            </a:pPr>
            <a:r>
              <a:rPr lang="en-US" sz="2250" b="1" dirty="0">
                <a:solidFill>
                  <a:srgbClr val="0E3A66"/>
                </a:solidFill>
                <a:latin typeface="Times New Roman" pitchFamily="18" charset="0"/>
                <a:ea typeface="Times New Roman" pitchFamily="18" charset="-122"/>
                <a:cs typeface="Times New Roman" pitchFamily="18" charset="-120"/>
              </a:rPr>
              <a:t>Reliable Records</a:t>
            </a:r>
            <a:endParaRPr lang="en-US" sz="2250" dirty="0"/>
          </a:p>
        </p:txBody>
      </p:sp>
      <p:sp>
        <p:nvSpPr>
          <p:cNvPr id="64" name="Shape 25">
            <a:extLst>
              <a:ext uri="{FF2B5EF4-FFF2-40B4-BE49-F238E27FC236}">
                <a16:creationId xmlns:a16="http://schemas.microsoft.com/office/drawing/2014/main" id="{4C13FF08-F84C-5459-D784-22C78BD96779}"/>
              </a:ext>
            </a:extLst>
          </p:cNvPr>
          <p:cNvSpPr/>
          <p:nvPr/>
        </p:nvSpPr>
        <p:spPr>
          <a:xfrm>
            <a:off x="14919276" y="7629525"/>
            <a:ext cx="2139999" cy="1581150"/>
          </a:xfrm>
          <a:prstGeom prst="roundRect">
            <a:avLst>
              <a:gd name="adj" fmla="val 9036"/>
            </a:avLst>
          </a:prstGeom>
          <a:solidFill>
            <a:srgbClr val="F3F6F9"/>
          </a:solidFill>
          <a:ln w="12700">
            <a:solidFill>
              <a:srgbClr val="D3DEE8"/>
            </a:solidFill>
            <a:prstDash val="solid"/>
          </a:ln>
        </p:spPr>
      </p:sp>
      <p:pic>
        <p:nvPicPr>
          <p:cNvPr id="65" name="Image 10" descr="Chart">
            <a:extLst>
              <a:ext uri="{FF2B5EF4-FFF2-40B4-BE49-F238E27FC236}">
                <a16:creationId xmlns:a16="http://schemas.microsoft.com/office/drawing/2014/main" id="{F09442DF-9410-FF00-BB4F-6DBC7C0CE994}"/>
              </a:ext>
            </a:extLst>
          </p:cNvPr>
          <p:cNvPicPr>
            <a:picLocks noChangeAspect="1"/>
          </p:cNvPicPr>
          <p:nvPr/>
        </p:nvPicPr>
        <p:blipFill>
          <a:blip r:embed="rId13"/>
          <a:srcRect/>
          <a:stretch/>
        </p:blipFill>
        <p:spPr>
          <a:xfrm>
            <a:off x="15798701" y="7848600"/>
            <a:ext cx="381000" cy="381000"/>
          </a:xfrm>
          <a:prstGeom prst="rect">
            <a:avLst/>
          </a:prstGeom>
        </p:spPr>
      </p:pic>
      <p:sp>
        <p:nvSpPr>
          <p:cNvPr id="66" name="Text 26">
            <a:extLst>
              <a:ext uri="{FF2B5EF4-FFF2-40B4-BE49-F238E27FC236}">
                <a16:creationId xmlns:a16="http://schemas.microsoft.com/office/drawing/2014/main" id="{7331C50C-983B-41B3-B1DC-40D3253A8B13}"/>
              </a:ext>
            </a:extLst>
          </p:cNvPr>
          <p:cNvSpPr/>
          <p:nvPr/>
        </p:nvSpPr>
        <p:spPr>
          <a:xfrm>
            <a:off x="15024051" y="8305800"/>
            <a:ext cx="1930449" cy="723900"/>
          </a:xfrm>
          <a:prstGeom prst="rect">
            <a:avLst/>
          </a:prstGeom>
          <a:noFill/>
          <a:ln/>
        </p:spPr>
        <p:txBody>
          <a:bodyPr wrap="square" lIns="0" tIns="0" rIns="0" bIns="0" rtlCol="0" anchor="t">
            <a:normAutofit/>
          </a:bodyPr>
          <a:lstStyle/>
          <a:p>
            <a:pPr algn="ctr">
              <a:lnSpc>
                <a:spcPts val="2700"/>
              </a:lnSpc>
            </a:pPr>
            <a:r>
              <a:rPr lang="en-US" sz="2250" b="1" dirty="0">
                <a:solidFill>
                  <a:srgbClr val="0E3A66"/>
                </a:solidFill>
                <a:latin typeface="Times New Roman" pitchFamily="18" charset="0"/>
                <a:ea typeface="Times New Roman" pitchFamily="18" charset="-122"/>
                <a:cs typeface="Times New Roman" pitchFamily="18" charset="-120"/>
              </a:rPr>
              <a:t>Long-Term Insight</a:t>
            </a:r>
            <a:endParaRPr lang="en-US" sz="2250" dirty="0"/>
          </a:p>
        </p:txBody>
      </p:sp>
      <p:grpSp>
        <p:nvGrpSpPr>
          <p:cNvPr id="73" name="Group 2">
            <a:extLst>
              <a:ext uri="{FF2B5EF4-FFF2-40B4-BE49-F238E27FC236}">
                <a16:creationId xmlns:a16="http://schemas.microsoft.com/office/drawing/2014/main" id="{0330DF31-4880-5329-9AA2-4A43C4C1DC72}"/>
              </a:ext>
            </a:extLst>
          </p:cNvPr>
          <p:cNvGrpSpPr/>
          <p:nvPr/>
        </p:nvGrpSpPr>
        <p:grpSpPr>
          <a:xfrm>
            <a:off x="0" y="25405"/>
            <a:ext cx="18288000" cy="3744230"/>
            <a:chOff x="0" y="0"/>
            <a:chExt cx="24384000" cy="4992306"/>
          </a:xfrm>
        </p:grpSpPr>
        <p:sp>
          <p:nvSpPr>
            <p:cNvPr id="74" name="Freeform 3" descr="一張含有 黑暗, 黑色, 螢幕擷取畫面, 光線 的圖片  AI 產生的內容可能不正確。">
              <a:extLst>
                <a:ext uri="{FF2B5EF4-FFF2-40B4-BE49-F238E27FC236}">
                  <a16:creationId xmlns:a16="http://schemas.microsoft.com/office/drawing/2014/main" id="{8DDE56B8-C1AD-E1C3-BDE6-8734BF8E4A11}"/>
                </a:ext>
              </a:extLst>
            </p:cNvPr>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14"/>
              <a:stretch>
                <a:fillRect b="-1"/>
              </a:stretch>
            </a:blipFill>
          </p:spPr>
        </p:sp>
      </p:grpSp>
      <p:sp>
        <p:nvSpPr>
          <p:cNvPr id="75" name="文字方塊 74">
            <a:extLst>
              <a:ext uri="{FF2B5EF4-FFF2-40B4-BE49-F238E27FC236}">
                <a16:creationId xmlns:a16="http://schemas.microsoft.com/office/drawing/2014/main" id="{BD2BB7FE-C0B0-0F74-4659-893BE37047AC}"/>
              </a:ext>
            </a:extLst>
          </p:cNvPr>
          <p:cNvSpPr txBox="1"/>
          <p:nvPr/>
        </p:nvSpPr>
        <p:spPr>
          <a:xfrm>
            <a:off x="11887200" y="-39489"/>
            <a:ext cx="7680960" cy="369332"/>
          </a:xfrm>
          <a:prstGeom prst="rect">
            <a:avLst/>
          </a:prstGeom>
          <a:noFill/>
        </p:spPr>
        <p:txBody>
          <a:bodyPr wrap="square">
            <a:spAutoFit/>
          </a:bodyPr>
          <a:lstStyle/>
          <a:p>
            <a:pPr eaLnBrk="1" fontAlgn="auto" hangingPunct="1"/>
            <a:r>
              <a:rPr lang="en-US" altLang="zh-TW"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rPr>
              <a:t>Department of Sports Technology &amp; Information Development</a:t>
            </a:r>
            <a:endParaRPr lang="zh-TW" altLang="en-US"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534476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363409" y="599239"/>
            <a:ext cx="1103243" cy="551060"/>
            <a:chOff x="0" y="0"/>
            <a:chExt cx="1470990" cy="734746"/>
          </a:xfrm>
        </p:grpSpPr>
        <p:sp>
          <p:nvSpPr>
            <p:cNvPr id="5" name="Freeform 5"/>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3"/>
              <a:stretch>
                <a:fillRect t="-221" r="3" b="-226"/>
              </a:stretch>
            </a:blipFill>
          </p:spPr>
        </p:sp>
      </p:grpSp>
      <p:sp>
        <p:nvSpPr>
          <p:cNvPr id="16" name="TextBox 4">
            <a:extLst>
              <a:ext uri="{FF2B5EF4-FFF2-40B4-BE49-F238E27FC236}">
                <a16:creationId xmlns:a16="http://schemas.microsoft.com/office/drawing/2014/main" id="{F63A9976-7FD5-3ED0-F6F3-A040EAF22755}"/>
              </a:ext>
            </a:extLst>
          </p:cNvPr>
          <p:cNvSpPr txBox="1"/>
          <p:nvPr/>
        </p:nvSpPr>
        <p:spPr>
          <a:xfrm>
            <a:off x="1427111" y="2904282"/>
            <a:ext cx="9088490" cy="400110"/>
          </a:xfrm>
          <a:prstGeom prst="rect">
            <a:avLst/>
          </a:prstGeom>
          <a:noFill/>
        </p:spPr>
        <p:txBody>
          <a:bodyPr wrap="square" anchor="ctr">
            <a:spAutoFit/>
          </a:bodyPr>
          <a:lstStyle/>
          <a:p>
            <a:pPr algn="l"/>
            <a:r>
              <a:rPr lang="en-US" altLang="zh-TW" sz="2000" dirty="0">
                <a:solidFill>
                  <a:srgbClr val="5A6870"/>
                </a:solidFill>
                <a:latin typeface="Times New Roman" panose="02020603050405020304" pitchFamily="18" charset="0"/>
                <a:cs typeface="Times New Roman" panose="02020603050405020304" pitchFamily="18" charset="0"/>
              </a:rPr>
              <a:t>From Training Needs to Field-Validated Technology</a:t>
            </a:r>
          </a:p>
        </p:txBody>
      </p:sp>
      <p:sp>
        <p:nvSpPr>
          <p:cNvPr id="60" name="HW title"/>
          <p:cNvSpPr txBox="1"/>
          <p:nvPr/>
        </p:nvSpPr>
        <p:spPr>
          <a:xfrm>
            <a:off x="1463040" y="3520441"/>
            <a:ext cx="6400800" cy="431015"/>
          </a:xfrm>
          <a:prstGeom prst="rect">
            <a:avLst/>
          </a:prstGeom>
          <a:noFill/>
        </p:spPr>
        <p:txBody>
          <a:bodyPr wrap="square" lIns="45720" rIns="45720" anchor="t">
            <a:spAutoFit/>
          </a:bodyPr>
          <a:lstStyle/>
          <a:p>
            <a:r>
              <a:rPr sz="2201" b="1">
                <a:solidFill>
                  <a:srgbClr val="1F5C8C"/>
                </a:solidFill>
                <a:latin typeface="Times New Roman"/>
                <a:ea typeface="Times New Roman"/>
                <a:cs typeface="Times New Roman"/>
              </a:rPr>
              <a:t>How We Work</a:t>
            </a:r>
          </a:p>
        </p:txBody>
      </p:sp>
      <p:cxnSp>
        <p:nvCxnSpPr>
          <p:cNvPr id="61" name="Step line"/>
          <p:cNvCxnSpPr/>
          <p:nvPr/>
        </p:nvCxnSpPr>
        <p:spPr>
          <a:xfrm>
            <a:off x="2034540" y="4640581"/>
            <a:ext cx="0" cy="4114802"/>
          </a:xfrm>
          <a:prstGeom prst="line">
            <a:avLst/>
          </a:prstGeom>
          <a:ln w="38100">
            <a:solidFill>
              <a:srgbClr val="C9D8E6"/>
            </a:solidFill>
          </a:ln>
        </p:spPr>
        <p:style>
          <a:lnRef idx="2">
            <a:schemeClr val="accent1"/>
          </a:lnRef>
          <a:fillRef idx="0">
            <a:schemeClr val="accent1"/>
          </a:fillRef>
          <a:effectRef idx="1">
            <a:schemeClr val="accent1"/>
          </a:effectRef>
          <a:fontRef idx="minor">
            <a:schemeClr val="tx1"/>
          </a:fontRef>
        </p:style>
      </p:cxnSp>
      <p:sp>
        <p:nvSpPr>
          <p:cNvPr id="62" name="Step icon 1"/>
          <p:cNvSpPr/>
          <p:nvPr/>
        </p:nvSpPr>
        <p:spPr>
          <a:xfrm>
            <a:off x="1600200" y="4206240"/>
            <a:ext cx="868680" cy="868680"/>
          </a:xfrm>
          <a:prstGeom prst="ellipse">
            <a:avLst/>
          </a:prstGeom>
          <a:solidFill>
            <a:srgbClr val="0B6B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3" name="Step icon 1 icon" descr="needs.png"/>
          <p:cNvPicPr>
            <a:picLocks noChangeAspect="1"/>
          </p:cNvPicPr>
          <p:nvPr/>
        </p:nvPicPr>
        <p:blipFill>
          <a:blip r:embed="rId4"/>
          <a:stretch>
            <a:fillRect/>
          </a:stretch>
        </p:blipFill>
        <p:spPr>
          <a:xfrm>
            <a:off x="1791310" y="4397350"/>
            <a:ext cx="486461" cy="486461"/>
          </a:xfrm>
          <a:prstGeom prst="rect">
            <a:avLst/>
          </a:prstGeom>
        </p:spPr>
      </p:pic>
      <p:sp>
        <p:nvSpPr>
          <p:cNvPr id="64" name="Step text 1"/>
          <p:cNvSpPr txBox="1"/>
          <p:nvPr/>
        </p:nvSpPr>
        <p:spPr>
          <a:xfrm>
            <a:off x="2743200" y="4096513"/>
            <a:ext cx="6035040" cy="1174617"/>
          </a:xfrm>
          <a:prstGeom prst="rect">
            <a:avLst/>
          </a:prstGeom>
          <a:noFill/>
        </p:spPr>
        <p:txBody>
          <a:bodyPr wrap="square" lIns="45720" rIns="45720" anchor="t">
            <a:spAutoFit/>
          </a:bodyPr>
          <a:lstStyle/>
          <a:p>
            <a:pPr>
              <a:spcAft>
                <a:spcPts val="200"/>
              </a:spcAft>
            </a:pPr>
            <a:r>
              <a:rPr sz="2801" b="1" dirty="0">
                <a:solidFill>
                  <a:srgbClr val="1A9E8F"/>
                </a:solidFill>
                <a:latin typeface="Times New Roman"/>
                <a:ea typeface="Times New Roman"/>
                <a:cs typeface="Times New Roman"/>
              </a:rPr>
              <a:t>01  </a:t>
            </a:r>
            <a:r>
              <a:rPr sz="2801" b="1" dirty="0">
                <a:solidFill>
                  <a:srgbClr val="093E68"/>
                </a:solidFill>
                <a:latin typeface="Times New Roman"/>
                <a:ea typeface="Times New Roman"/>
                <a:cs typeface="Times New Roman"/>
              </a:rPr>
              <a:t>Identify Needs</a:t>
            </a:r>
          </a:p>
          <a:p>
            <a:pPr>
              <a:lnSpc>
                <a:spcPct val="105000"/>
              </a:lnSpc>
            </a:pPr>
            <a:r>
              <a:rPr sz="2000" dirty="0">
                <a:solidFill>
                  <a:srgbClr val="333333"/>
                </a:solidFill>
                <a:latin typeface="Times New Roman"/>
                <a:ea typeface="Times New Roman"/>
                <a:cs typeface="Times New Roman"/>
              </a:rPr>
              <a:t>Listen to coaches, athletes and sports scientists to define practical problems</a:t>
            </a:r>
          </a:p>
        </p:txBody>
      </p:sp>
      <p:sp>
        <p:nvSpPr>
          <p:cNvPr id="65" name="Step icon 2"/>
          <p:cNvSpPr/>
          <p:nvPr/>
        </p:nvSpPr>
        <p:spPr>
          <a:xfrm>
            <a:off x="1600200" y="5577840"/>
            <a:ext cx="868680" cy="868680"/>
          </a:xfrm>
          <a:prstGeom prst="ellipse">
            <a:avLst/>
          </a:prstGeom>
          <a:solidFill>
            <a:srgbClr val="128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6" name="Step icon 2 icon" descr="dev.png"/>
          <p:cNvPicPr>
            <a:picLocks noChangeAspect="1"/>
          </p:cNvPicPr>
          <p:nvPr/>
        </p:nvPicPr>
        <p:blipFill>
          <a:blip r:embed="rId5"/>
          <a:stretch>
            <a:fillRect/>
          </a:stretch>
        </p:blipFill>
        <p:spPr>
          <a:xfrm>
            <a:off x="1791310" y="5768950"/>
            <a:ext cx="486461" cy="486461"/>
          </a:xfrm>
          <a:prstGeom prst="rect">
            <a:avLst/>
          </a:prstGeom>
        </p:spPr>
      </p:pic>
      <p:sp>
        <p:nvSpPr>
          <p:cNvPr id="67" name="Step text 2"/>
          <p:cNvSpPr txBox="1"/>
          <p:nvPr/>
        </p:nvSpPr>
        <p:spPr>
          <a:xfrm>
            <a:off x="2743200" y="5468114"/>
            <a:ext cx="6035040" cy="1174617"/>
          </a:xfrm>
          <a:prstGeom prst="rect">
            <a:avLst/>
          </a:prstGeom>
          <a:noFill/>
        </p:spPr>
        <p:txBody>
          <a:bodyPr wrap="square" lIns="45720" rIns="45720" anchor="t">
            <a:spAutoFit/>
          </a:bodyPr>
          <a:lstStyle/>
          <a:p>
            <a:pPr>
              <a:spcAft>
                <a:spcPts val="200"/>
              </a:spcAft>
            </a:pPr>
            <a:r>
              <a:rPr sz="2801" b="1">
                <a:solidFill>
                  <a:srgbClr val="1A9E8F"/>
                </a:solidFill>
                <a:latin typeface="Times New Roman"/>
                <a:ea typeface="Times New Roman"/>
                <a:cs typeface="Times New Roman"/>
              </a:rPr>
              <a:t>02  </a:t>
            </a:r>
            <a:r>
              <a:rPr sz="2801" b="1">
                <a:solidFill>
                  <a:srgbClr val="093E68"/>
                </a:solidFill>
                <a:latin typeface="Times New Roman"/>
                <a:ea typeface="Times New Roman"/>
                <a:cs typeface="Times New Roman"/>
              </a:rPr>
              <a:t>Develop &amp; Integrate</a:t>
            </a:r>
          </a:p>
          <a:p>
            <a:pPr>
              <a:lnSpc>
                <a:spcPct val="105000"/>
              </a:lnSpc>
            </a:pPr>
            <a:r>
              <a:rPr sz="2000">
                <a:solidFill>
                  <a:srgbClr val="333333"/>
                </a:solidFill>
                <a:latin typeface="Times New Roman"/>
                <a:ea typeface="Times New Roman"/>
                <a:cs typeface="Times New Roman"/>
              </a:rPr>
              <a:t>Combine in-house R&amp;D with university and industry expertise</a:t>
            </a:r>
          </a:p>
        </p:txBody>
      </p:sp>
      <p:sp>
        <p:nvSpPr>
          <p:cNvPr id="68" name="Step icon 3"/>
          <p:cNvSpPr/>
          <p:nvPr/>
        </p:nvSpPr>
        <p:spPr>
          <a:xfrm>
            <a:off x="1600200" y="6949440"/>
            <a:ext cx="868680" cy="868680"/>
          </a:xfrm>
          <a:prstGeom prst="ellipse">
            <a:avLst/>
          </a:prstGeom>
          <a:solidFill>
            <a:srgbClr val="3FA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9" name="Step icon 3 icon" descr="field.png"/>
          <p:cNvPicPr>
            <a:picLocks noChangeAspect="1"/>
          </p:cNvPicPr>
          <p:nvPr/>
        </p:nvPicPr>
        <p:blipFill>
          <a:blip r:embed="rId6"/>
          <a:stretch>
            <a:fillRect/>
          </a:stretch>
        </p:blipFill>
        <p:spPr>
          <a:xfrm>
            <a:off x="1791310" y="7140550"/>
            <a:ext cx="486461" cy="486461"/>
          </a:xfrm>
          <a:prstGeom prst="rect">
            <a:avLst/>
          </a:prstGeom>
        </p:spPr>
      </p:pic>
      <p:sp>
        <p:nvSpPr>
          <p:cNvPr id="70" name="Step text 3"/>
          <p:cNvSpPr txBox="1"/>
          <p:nvPr/>
        </p:nvSpPr>
        <p:spPr>
          <a:xfrm>
            <a:off x="2743200" y="6839714"/>
            <a:ext cx="6035040" cy="1174617"/>
          </a:xfrm>
          <a:prstGeom prst="rect">
            <a:avLst/>
          </a:prstGeom>
          <a:noFill/>
        </p:spPr>
        <p:txBody>
          <a:bodyPr wrap="square" lIns="45720" rIns="45720" anchor="t">
            <a:spAutoFit/>
          </a:bodyPr>
          <a:lstStyle/>
          <a:p>
            <a:pPr>
              <a:spcAft>
                <a:spcPts val="200"/>
              </a:spcAft>
            </a:pPr>
            <a:r>
              <a:rPr sz="2801" b="1" dirty="0">
                <a:solidFill>
                  <a:srgbClr val="1A9E8F"/>
                </a:solidFill>
                <a:latin typeface="Times New Roman"/>
                <a:ea typeface="Times New Roman"/>
                <a:cs typeface="Times New Roman"/>
              </a:rPr>
              <a:t>03  </a:t>
            </a:r>
            <a:r>
              <a:rPr sz="2801" b="1" dirty="0">
                <a:solidFill>
                  <a:srgbClr val="093E68"/>
                </a:solidFill>
                <a:latin typeface="Times New Roman"/>
                <a:ea typeface="Times New Roman"/>
                <a:cs typeface="Times New Roman"/>
              </a:rPr>
              <a:t>Validate in the Field</a:t>
            </a:r>
          </a:p>
          <a:p>
            <a:pPr>
              <a:lnSpc>
                <a:spcPct val="105000"/>
              </a:lnSpc>
            </a:pPr>
            <a:r>
              <a:rPr sz="2000" dirty="0">
                <a:solidFill>
                  <a:srgbClr val="333333"/>
                </a:solidFill>
                <a:latin typeface="Times New Roman"/>
                <a:ea typeface="Times New Roman"/>
                <a:cs typeface="Times New Roman"/>
              </a:rPr>
              <a:t>Test and refine in national training venues and competitions</a:t>
            </a:r>
          </a:p>
        </p:txBody>
      </p:sp>
      <p:sp>
        <p:nvSpPr>
          <p:cNvPr id="71" name="Step icon 4"/>
          <p:cNvSpPr/>
          <p:nvPr/>
        </p:nvSpPr>
        <p:spPr>
          <a:xfrm>
            <a:off x="1600200" y="8321040"/>
            <a:ext cx="868680" cy="868680"/>
          </a:xfrm>
          <a:prstGeom prst="ellipse">
            <a:avLst/>
          </a:prstGeom>
          <a:solidFill>
            <a:srgbClr val="093E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2" name="Step icon 4 icon" descr="fb.png"/>
          <p:cNvPicPr>
            <a:picLocks noChangeAspect="1"/>
          </p:cNvPicPr>
          <p:nvPr/>
        </p:nvPicPr>
        <p:blipFill>
          <a:blip r:embed="rId7"/>
          <a:stretch>
            <a:fillRect/>
          </a:stretch>
        </p:blipFill>
        <p:spPr>
          <a:xfrm>
            <a:off x="1791310" y="8512150"/>
            <a:ext cx="486461" cy="486461"/>
          </a:xfrm>
          <a:prstGeom prst="rect">
            <a:avLst/>
          </a:prstGeom>
        </p:spPr>
      </p:pic>
      <p:sp>
        <p:nvSpPr>
          <p:cNvPr id="73" name="Step text 4"/>
          <p:cNvSpPr txBox="1"/>
          <p:nvPr/>
        </p:nvSpPr>
        <p:spPr>
          <a:xfrm>
            <a:off x="2743200" y="8211314"/>
            <a:ext cx="6035040" cy="1174617"/>
          </a:xfrm>
          <a:prstGeom prst="rect">
            <a:avLst/>
          </a:prstGeom>
          <a:noFill/>
        </p:spPr>
        <p:txBody>
          <a:bodyPr wrap="square" lIns="45720" rIns="45720" anchor="t">
            <a:spAutoFit/>
          </a:bodyPr>
          <a:lstStyle/>
          <a:p>
            <a:pPr>
              <a:spcAft>
                <a:spcPts val="200"/>
              </a:spcAft>
            </a:pPr>
            <a:r>
              <a:rPr sz="2801" b="1">
                <a:solidFill>
                  <a:srgbClr val="1A9E8F"/>
                </a:solidFill>
                <a:latin typeface="Times New Roman"/>
                <a:ea typeface="Times New Roman"/>
                <a:cs typeface="Times New Roman"/>
              </a:rPr>
              <a:t>04  </a:t>
            </a:r>
            <a:r>
              <a:rPr sz="2801" b="1">
                <a:solidFill>
                  <a:srgbClr val="093E68"/>
                </a:solidFill>
                <a:latin typeface="Times New Roman"/>
                <a:ea typeface="Times New Roman"/>
                <a:cs typeface="Times New Roman"/>
              </a:rPr>
              <a:t>Feed Back &amp; Transfer</a:t>
            </a:r>
          </a:p>
          <a:p>
            <a:pPr>
              <a:lnSpc>
                <a:spcPct val="105000"/>
              </a:lnSpc>
            </a:pPr>
            <a:r>
              <a:rPr sz="2000">
                <a:solidFill>
                  <a:srgbClr val="333333"/>
                </a:solidFill>
                <a:latin typeface="Times New Roman"/>
                <a:ea typeface="Times New Roman"/>
                <a:cs typeface="Times New Roman"/>
              </a:rPr>
              <a:t>Deliver data feedback to users and transfer technology to industry</a:t>
            </a:r>
          </a:p>
        </p:txBody>
      </p:sp>
      <p:sp>
        <p:nvSpPr>
          <p:cNvPr id="74" name="CN title"/>
          <p:cNvSpPr txBox="1"/>
          <p:nvPr/>
        </p:nvSpPr>
        <p:spPr>
          <a:xfrm>
            <a:off x="9509760" y="3520441"/>
            <a:ext cx="7315200" cy="431015"/>
          </a:xfrm>
          <a:prstGeom prst="rect">
            <a:avLst/>
          </a:prstGeom>
          <a:noFill/>
        </p:spPr>
        <p:txBody>
          <a:bodyPr wrap="square" lIns="45720" rIns="45720" anchor="t">
            <a:spAutoFit/>
          </a:bodyPr>
          <a:lstStyle/>
          <a:p>
            <a:r>
              <a:rPr sz="2201" b="1">
                <a:solidFill>
                  <a:srgbClr val="1F5C8C"/>
                </a:solidFill>
                <a:latin typeface="Times New Roman"/>
                <a:ea typeface="Times New Roman"/>
                <a:cs typeface="Times New Roman"/>
              </a:rPr>
              <a:t>Collaboration Network</a:t>
            </a:r>
          </a:p>
        </p:txBody>
      </p:sp>
      <p:cxnSp>
        <p:nvCxnSpPr>
          <p:cNvPr id="75" name="Link Universities"/>
          <p:cNvCxnSpPr/>
          <p:nvPr/>
        </p:nvCxnSpPr>
        <p:spPr>
          <a:xfrm flipH="1" flipV="1">
            <a:off x="12710161" y="5623561"/>
            <a:ext cx="868682" cy="1188722"/>
          </a:xfrm>
          <a:prstGeom prst="line">
            <a:avLst/>
          </a:prstGeom>
          <a:ln w="31750">
            <a:solidFill>
              <a:srgbClr val="C9D8E6"/>
            </a:solidFill>
          </a:ln>
        </p:spPr>
        <p:style>
          <a:lnRef idx="2">
            <a:schemeClr val="accent1"/>
          </a:lnRef>
          <a:fillRef idx="0">
            <a:schemeClr val="accent1"/>
          </a:fillRef>
          <a:effectRef idx="1">
            <a:schemeClr val="accent1"/>
          </a:effectRef>
          <a:fontRef idx="minor">
            <a:schemeClr val="tx1"/>
          </a:fontRef>
        </p:style>
      </p:cxnSp>
      <p:cxnSp>
        <p:nvCxnSpPr>
          <p:cNvPr id="76" name="Link Research Institutes"/>
          <p:cNvCxnSpPr/>
          <p:nvPr/>
        </p:nvCxnSpPr>
        <p:spPr>
          <a:xfrm flipV="1">
            <a:off x="13578840" y="5623561"/>
            <a:ext cx="914400" cy="1188722"/>
          </a:xfrm>
          <a:prstGeom prst="line">
            <a:avLst/>
          </a:prstGeom>
          <a:ln w="31750">
            <a:solidFill>
              <a:srgbClr val="C9D8E6"/>
            </a:solidFill>
          </a:ln>
        </p:spPr>
        <p:style>
          <a:lnRef idx="2">
            <a:schemeClr val="accent1"/>
          </a:lnRef>
          <a:fillRef idx="0">
            <a:schemeClr val="accent1"/>
          </a:fillRef>
          <a:effectRef idx="1">
            <a:schemeClr val="accent1"/>
          </a:effectRef>
          <a:fontRef idx="minor">
            <a:schemeClr val="tx1"/>
          </a:fontRef>
        </p:style>
      </p:cxnSp>
      <p:cxnSp>
        <p:nvCxnSpPr>
          <p:cNvPr id="77" name="Link Sports Tech Industry"/>
          <p:cNvCxnSpPr/>
          <p:nvPr/>
        </p:nvCxnSpPr>
        <p:spPr>
          <a:xfrm flipH="1">
            <a:off x="12710161" y="6812280"/>
            <a:ext cx="868682" cy="1280160"/>
          </a:xfrm>
          <a:prstGeom prst="line">
            <a:avLst/>
          </a:prstGeom>
          <a:ln w="31750">
            <a:solidFill>
              <a:srgbClr val="C9D8E6"/>
            </a:solidFill>
          </a:ln>
        </p:spPr>
        <p:style>
          <a:lnRef idx="2">
            <a:schemeClr val="accent1"/>
          </a:lnRef>
          <a:fillRef idx="0">
            <a:schemeClr val="accent1"/>
          </a:fillRef>
          <a:effectRef idx="1">
            <a:schemeClr val="accent1"/>
          </a:effectRef>
          <a:fontRef idx="minor">
            <a:schemeClr val="tx1"/>
          </a:fontRef>
        </p:style>
      </p:cxnSp>
      <p:cxnSp>
        <p:nvCxnSpPr>
          <p:cNvPr id="78" name="Link International Partners"/>
          <p:cNvCxnSpPr/>
          <p:nvPr/>
        </p:nvCxnSpPr>
        <p:spPr>
          <a:xfrm>
            <a:off x="13578840" y="6812280"/>
            <a:ext cx="914400" cy="1280160"/>
          </a:xfrm>
          <a:prstGeom prst="line">
            <a:avLst/>
          </a:prstGeom>
          <a:ln w="31750">
            <a:solidFill>
              <a:srgbClr val="C9D8E6"/>
            </a:solidFill>
          </a:ln>
        </p:spPr>
        <p:style>
          <a:lnRef idx="2">
            <a:schemeClr val="accent1"/>
          </a:lnRef>
          <a:fillRef idx="0">
            <a:schemeClr val="accent1"/>
          </a:fillRef>
          <a:effectRef idx="1">
            <a:schemeClr val="accent1"/>
          </a:effectRef>
          <a:fontRef idx="minor">
            <a:schemeClr val="tx1"/>
          </a:fontRef>
        </p:style>
      </p:cxnSp>
      <p:sp>
        <p:nvSpPr>
          <p:cNvPr id="79" name="Hub"/>
          <p:cNvSpPr/>
          <p:nvPr/>
        </p:nvSpPr>
        <p:spPr>
          <a:xfrm>
            <a:off x="12504419" y="5737860"/>
            <a:ext cx="2148840" cy="2148840"/>
          </a:xfrm>
          <a:prstGeom prst="ellipse">
            <a:avLst/>
          </a:prstGeom>
          <a:solidFill>
            <a:srgbClr val="093E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b="1" dirty="0">
                <a:solidFill>
                  <a:srgbClr val="FFFFFF"/>
                </a:solidFill>
                <a:latin typeface="Times New Roman"/>
                <a:ea typeface="Times New Roman"/>
                <a:cs typeface="Times New Roman"/>
              </a:rPr>
              <a:t>Sports Technology &amp;</a:t>
            </a:r>
          </a:p>
          <a:p>
            <a:pPr algn="ctr"/>
            <a:r>
              <a:rPr b="1" dirty="0">
                <a:solidFill>
                  <a:srgbClr val="FFFFFF"/>
                </a:solidFill>
                <a:latin typeface="Times New Roman"/>
                <a:ea typeface="Times New Roman"/>
                <a:cs typeface="Times New Roman"/>
              </a:rPr>
              <a:t>Information</a:t>
            </a:r>
          </a:p>
          <a:p>
            <a:pPr algn="ctr"/>
            <a:r>
              <a:rPr b="1" dirty="0">
                <a:solidFill>
                  <a:srgbClr val="FFFFFF"/>
                </a:solidFill>
                <a:latin typeface="Times New Roman"/>
                <a:ea typeface="Times New Roman"/>
                <a:cs typeface="Times New Roman"/>
              </a:rPr>
              <a:t>Development</a:t>
            </a:r>
          </a:p>
        </p:txBody>
      </p:sp>
      <p:sp>
        <p:nvSpPr>
          <p:cNvPr id="80" name="Node Universities"/>
          <p:cNvSpPr/>
          <p:nvPr/>
        </p:nvSpPr>
        <p:spPr>
          <a:xfrm>
            <a:off x="9555480" y="4206240"/>
            <a:ext cx="3154680" cy="1417320"/>
          </a:xfrm>
          <a:prstGeom prst="roundRect">
            <a:avLst>
              <a:gd name="adj" fmla="val 12000"/>
            </a:avLst>
          </a:prstGeom>
          <a:solidFill>
            <a:srgbClr val="F3F7FA"/>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Node icon Universities"/>
          <p:cNvSpPr/>
          <p:nvPr/>
        </p:nvSpPr>
        <p:spPr>
          <a:xfrm>
            <a:off x="9738359" y="4594859"/>
            <a:ext cx="640080" cy="640080"/>
          </a:xfrm>
          <a:prstGeom prst="ellipse">
            <a:avLst/>
          </a:prstGeom>
          <a:solidFill>
            <a:srgbClr val="128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2" name="Node icon Universities icon" descr="uni.png"/>
          <p:cNvPicPr>
            <a:picLocks noChangeAspect="1"/>
          </p:cNvPicPr>
          <p:nvPr/>
        </p:nvPicPr>
        <p:blipFill>
          <a:blip r:embed="rId8"/>
          <a:stretch>
            <a:fillRect/>
          </a:stretch>
        </p:blipFill>
        <p:spPr>
          <a:xfrm>
            <a:off x="9879178" y="4735678"/>
            <a:ext cx="358445" cy="358445"/>
          </a:xfrm>
          <a:prstGeom prst="rect">
            <a:avLst/>
          </a:prstGeom>
        </p:spPr>
      </p:pic>
      <p:sp>
        <p:nvSpPr>
          <p:cNvPr id="83" name="Node text Universities"/>
          <p:cNvSpPr txBox="1"/>
          <p:nvPr/>
        </p:nvSpPr>
        <p:spPr>
          <a:xfrm>
            <a:off x="10469880" y="4425024"/>
            <a:ext cx="2148840" cy="979755"/>
          </a:xfrm>
          <a:prstGeom prst="rect">
            <a:avLst/>
          </a:prstGeom>
          <a:noFill/>
        </p:spPr>
        <p:txBody>
          <a:bodyPr wrap="square" lIns="45720" rIns="45720" anchor="ctr">
            <a:spAutoFit/>
          </a:bodyPr>
          <a:lstStyle/>
          <a:p>
            <a:pPr>
              <a:spcAft>
                <a:spcPts val="200"/>
              </a:spcAft>
            </a:pPr>
            <a:r>
              <a:rPr sz="2000" b="1" dirty="0">
                <a:solidFill>
                  <a:srgbClr val="093E68"/>
                </a:solidFill>
                <a:latin typeface="Times New Roman"/>
                <a:ea typeface="Times New Roman"/>
                <a:cs typeface="Times New Roman"/>
              </a:rPr>
              <a:t>Universities</a:t>
            </a:r>
          </a:p>
          <a:p>
            <a:r>
              <a:rPr dirty="0">
                <a:solidFill>
                  <a:srgbClr val="333333"/>
                </a:solidFill>
                <a:latin typeface="Times New Roman"/>
                <a:ea typeface="Times New Roman"/>
                <a:cs typeface="Times New Roman"/>
              </a:rPr>
              <a:t>Joint research and student internships</a:t>
            </a:r>
          </a:p>
        </p:txBody>
      </p:sp>
      <p:sp>
        <p:nvSpPr>
          <p:cNvPr id="84" name="Node Research Institutes"/>
          <p:cNvSpPr/>
          <p:nvPr/>
        </p:nvSpPr>
        <p:spPr>
          <a:xfrm>
            <a:off x="14493240" y="4206240"/>
            <a:ext cx="3154680" cy="1417320"/>
          </a:xfrm>
          <a:prstGeom prst="roundRect">
            <a:avLst>
              <a:gd name="adj" fmla="val 12000"/>
            </a:avLst>
          </a:prstGeom>
          <a:solidFill>
            <a:srgbClr val="F3F7FA"/>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Node icon Research Institutes"/>
          <p:cNvSpPr/>
          <p:nvPr/>
        </p:nvSpPr>
        <p:spPr>
          <a:xfrm>
            <a:off x="14676120" y="4594859"/>
            <a:ext cx="640080" cy="640080"/>
          </a:xfrm>
          <a:prstGeom prst="ellipse">
            <a:avLst/>
          </a:prstGeom>
          <a:solidFill>
            <a:srgbClr val="128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6" name="Node icon Research Institutes icon" descr="inst.png"/>
          <p:cNvPicPr>
            <a:picLocks noChangeAspect="1"/>
          </p:cNvPicPr>
          <p:nvPr/>
        </p:nvPicPr>
        <p:blipFill>
          <a:blip r:embed="rId9"/>
          <a:stretch>
            <a:fillRect/>
          </a:stretch>
        </p:blipFill>
        <p:spPr>
          <a:xfrm>
            <a:off x="14816938" y="4735678"/>
            <a:ext cx="358445" cy="358445"/>
          </a:xfrm>
          <a:prstGeom prst="rect">
            <a:avLst/>
          </a:prstGeom>
        </p:spPr>
      </p:pic>
      <p:sp>
        <p:nvSpPr>
          <p:cNvPr id="87" name="Node text Research Institutes"/>
          <p:cNvSpPr txBox="1"/>
          <p:nvPr/>
        </p:nvSpPr>
        <p:spPr>
          <a:xfrm>
            <a:off x="15407640" y="4271135"/>
            <a:ext cx="2148840" cy="1287532"/>
          </a:xfrm>
          <a:prstGeom prst="rect">
            <a:avLst/>
          </a:prstGeom>
          <a:noFill/>
        </p:spPr>
        <p:txBody>
          <a:bodyPr wrap="square" lIns="45720" rIns="45720" anchor="ctr">
            <a:spAutoFit/>
          </a:bodyPr>
          <a:lstStyle/>
          <a:p>
            <a:pPr>
              <a:spcAft>
                <a:spcPts val="200"/>
              </a:spcAft>
            </a:pPr>
            <a:r>
              <a:rPr sz="2000" b="1">
                <a:solidFill>
                  <a:srgbClr val="093E68"/>
                </a:solidFill>
                <a:latin typeface="Times New Roman"/>
                <a:ea typeface="Times New Roman"/>
                <a:cs typeface="Times New Roman"/>
              </a:rPr>
              <a:t>Research Institutes</a:t>
            </a:r>
          </a:p>
          <a:p>
            <a:r>
              <a:rPr>
                <a:solidFill>
                  <a:srgbClr val="333333"/>
                </a:solidFill>
                <a:latin typeface="Times New Roman"/>
                <a:ea typeface="Times New Roman"/>
                <a:cs typeface="Times New Roman"/>
              </a:rPr>
              <a:t>Co-development of sports technology</a:t>
            </a:r>
          </a:p>
        </p:txBody>
      </p:sp>
      <p:sp>
        <p:nvSpPr>
          <p:cNvPr id="88" name="Node Sports Tech Industry"/>
          <p:cNvSpPr/>
          <p:nvPr/>
        </p:nvSpPr>
        <p:spPr>
          <a:xfrm>
            <a:off x="9555480" y="8092440"/>
            <a:ext cx="3154680" cy="1417320"/>
          </a:xfrm>
          <a:prstGeom prst="roundRect">
            <a:avLst>
              <a:gd name="adj" fmla="val 12000"/>
            </a:avLst>
          </a:prstGeom>
          <a:solidFill>
            <a:srgbClr val="F3F7FA"/>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Node icon Sports Tech Industry"/>
          <p:cNvSpPr/>
          <p:nvPr/>
        </p:nvSpPr>
        <p:spPr>
          <a:xfrm>
            <a:off x="9738359" y="8481060"/>
            <a:ext cx="640080" cy="640080"/>
          </a:xfrm>
          <a:prstGeom prst="ellipse">
            <a:avLst/>
          </a:prstGeom>
          <a:solidFill>
            <a:srgbClr val="128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0" name="Node icon Sports Tech Industry icon" descr="ind.png"/>
          <p:cNvPicPr>
            <a:picLocks noChangeAspect="1"/>
          </p:cNvPicPr>
          <p:nvPr/>
        </p:nvPicPr>
        <p:blipFill>
          <a:blip r:embed="rId10"/>
          <a:stretch>
            <a:fillRect/>
          </a:stretch>
        </p:blipFill>
        <p:spPr>
          <a:xfrm>
            <a:off x="9879178" y="8621878"/>
            <a:ext cx="358445" cy="358445"/>
          </a:xfrm>
          <a:prstGeom prst="rect">
            <a:avLst/>
          </a:prstGeom>
        </p:spPr>
      </p:pic>
      <p:sp>
        <p:nvSpPr>
          <p:cNvPr id="91" name="Node text Sports Tech Industry"/>
          <p:cNvSpPr txBox="1"/>
          <p:nvPr/>
        </p:nvSpPr>
        <p:spPr>
          <a:xfrm>
            <a:off x="10469880" y="8157335"/>
            <a:ext cx="2148840" cy="1287532"/>
          </a:xfrm>
          <a:prstGeom prst="rect">
            <a:avLst/>
          </a:prstGeom>
          <a:noFill/>
        </p:spPr>
        <p:txBody>
          <a:bodyPr wrap="square" lIns="45720" rIns="45720" anchor="ctr">
            <a:spAutoFit/>
          </a:bodyPr>
          <a:lstStyle/>
          <a:p>
            <a:pPr>
              <a:spcAft>
                <a:spcPts val="200"/>
              </a:spcAft>
            </a:pPr>
            <a:r>
              <a:rPr sz="2000" b="1">
                <a:solidFill>
                  <a:srgbClr val="093E68"/>
                </a:solidFill>
                <a:latin typeface="Times New Roman"/>
                <a:ea typeface="Times New Roman"/>
                <a:cs typeface="Times New Roman"/>
              </a:rPr>
              <a:t>Sports Tech Industry</a:t>
            </a:r>
          </a:p>
          <a:p>
            <a:r>
              <a:rPr>
                <a:solidFill>
                  <a:srgbClr val="333333"/>
                </a:solidFill>
                <a:latin typeface="Times New Roman"/>
                <a:ea typeface="Times New Roman"/>
                <a:cs typeface="Times New Roman"/>
              </a:rPr>
              <a:t>Field testing and technology transfer</a:t>
            </a:r>
          </a:p>
        </p:txBody>
      </p:sp>
      <p:sp>
        <p:nvSpPr>
          <p:cNvPr id="92" name="Node International Partners"/>
          <p:cNvSpPr/>
          <p:nvPr/>
        </p:nvSpPr>
        <p:spPr>
          <a:xfrm>
            <a:off x="14493240" y="8092440"/>
            <a:ext cx="3154680" cy="1417320"/>
          </a:xfrm>
          <a:prstGeom prst="roundRect">
            <a:avLst>
              <a:gd name="adj" fmla="val 12000"/>
            </a:avLst>
          </a:prstGeom>
          <a:solidFill>
            <a:srgbClr val="F3F7FA"/>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Node icon International Partners"/>
          <p:cNvSpPr/>
          <p:nvPr/>
        </p:nvSpPr>
        <p:spPr>
          <a:xfrm>
            <a:off x="14676120" y="8481060"/>
            <a:ext cx="640080" cy="640080"/>
          </a:xfrm>
          <a:prstGeom prst="ellipse">
            <a:avLst/>
          </a:prstGeom>
          <a:solidFill>
            <a:srgbClr val="128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4" name="Node icon International Partners icon" descr="intl.png"/>
          <p:cNvPicPr>
            <a:picLocks noChangeAspect="1"/>
          </p:cNvPicPr>
          <p:nvPr/>
        </p:nvPicPr>
        <p:blipFill>
          <a:blip r:embed="rId11"/>
          <a:stretch>
            <a:fillRect/>
          </a:stretch>
        </p:blipFill>
        <p:spPr>
          <a:xfrm>
            <a:off x="14816938" y="8621878"/>
            <a:ext cx="358445" cy="358445"/>
          </a:xfrm>
          <a:prstGeom prst="rect">
            <a:avLst/>
          </a:prstGeom>
        </p:spPr>
      </p:pic>
      <p:sp>
        <p:nvSpPr>
          <p:cNvPr id="95" name="Node text International Partners"/>
          <p:cNvSpPr txBox="1"/>
          <p:nvPr/>
        </p:nvSpPr>
        <p:spPr>
          <a:xfrm>
            <a:off x="15407640" y="8157335"/>
            <a:ext cx="2148840" cy="1287532"/>
          </a:xfrm>
          <a:prstGeom prst="rect">
            <a:avLst/>
          </a:prstGeom>
          <a:noFill/>
        </p:spPr>
        <p:txBody>
          <a:bodyPr wrap="square" lIns="45720" rIns="45720" anchor="ctr">
            <a:spAutoFit/>
          </a:bodyPr>
          <a:lstStyle/>
          <a:p>
            <a:pPr>
              <a:spcAft>
                <a:spcPts val="200"/>
              </a:spcAft>
            </a:pPr>
            <a:r>
              <a:rPr sz="2000" b="1">
                <a:solidFill>
                  <a:srgbClr val="093E68"/>
                </a:solidFill>
                <a:latin typeface="Times New Roman"/>
                <a:ea typeface="Times New Roman"/>
                <a:cs typeface="Times New Roman"/>
              </a:rPr>
              <a:t>International Partners</a:t>
            </a:r>
          </a:p>
          <a:p>
            <a:r>
              <a:rPr>
                <a:solidFill>
                  <a:srgbClr val="333333"/>
                </a:solidFill>
                <a:latin typeface="Times New Roman"/>
                <a:ea typeface="Times New Roman"/>
                <a:cs typeface="Times New Roman"/>
              </a:rPr>
              <a:t>Academic and technical exchange</a:t>
            </a:r>
          </a:p>
        </p:txBody>
      </p:sp>
      <p:sp>
        <p:nvSpPr>
          <p:cNvPr id="10" name="TextBox 8">
            <a:extLst>
              <a:ext uri="{FF2B5EF4-FFF2-40B4-BE49-F238E27FC236}">
                <a16:creationId xmlns:a16="http://schemas.microsoft.com/office/drawing/2014/main" id="{C081CD5C-8ACE-7559-8F4D-C3666A623E98}"/>
              </a:ext>
            </a:extLst>
          </p:cNvPr>
          <p:cNvSpPr txBox="1"/>
          <p:nvPr/>
        </p:nvSpPr>
        <p:spPr>
          <a:xfrm>
            <a:off x="1513740" y="1844040"/>
            <a:ext cx="12828418" cy="1394460"/>
          </a:xfrm>
          <a:prstGeom prst="rect">
            <a:avLst/>
          </a:prstGeom>
        </p:spPr>
        <p:txBody>
          <a:bodyPr lIns="0" tIns="0" rIns="0" bIns="0" rtlCol="0" anchor="ctr"/>
          <a:lstStyle/>
          <a:p>
            <a:pPr algn="l">
              <a:lnSpc>
                <a:spcPts val="4284"/>
              </a:lnSpc>
            </a:pPr>
            <a:r>
              <a:rPr lang="en-US" sz="5400" b="1" dirty="0">
                <a:solidFill>
                  <a:srgbClr val="003366"/>
                </a:solidFill>
                <a:latin typeface="Times New Roman"/>
                <a:ea typeface="Times New Roman"/>
                <a:cs typeface="Times New Roman"/>
                <a:sym typeface="Times New Roman"/>
              </a:rPr>
              <a:t>Our Approach</a:t>
            </a:r>
          </a:p>
        </p:txBody>
      </p:sp>
      <p:sp>
        <p:nvSpPr>
          <p:cNvPr id="11" name="Freeform 27">
            <a:extLst>
              <a:ext uri="{FF2B5EF4-FFF2-40B4-BE49-F238E27FC236}">
                <a16:creationId xmlns:a16="http://schemas.microsoft.com/office/drawing/2014/main" id="{C78915BD-3ADC-FB75-C284-ECF2820AEC54}"/>
              </a:ext>
            </a:extLst>
          </p:cNvPr>
          <p:cNvSpPr/>
          <p:nvPr/>
        </p:nvSpPr>
        <p:spPr>
          <a:xfrm>
            <a:off x="799154" y="2252616"/>
            <a:ext cx="455075" cy="455075"/>
          </a:xfrm>
          <a:custGeom>
            <a:avLst/>
            <a:gdLst/>
            <a:ahLst/>
            <a:cxnLst/>
            <a:rect l="l" t="t" r="r" b="b"/>
            <a:pathLst>
              <a:path w="455075" h="455075">
                <a:moveTo>
                  <a:pt x="0" y="0"/>
                </a:moveTo>
                <a:lnTo>
                  <a:pt x="455074" y="0"/>
                </a:lnTo>
                <a:lnTo>
                  <a:pt x="455074" y="455075"/>
                </a:lnTo>
                <a:lnTo>
                  <a:pt x="0" y="45507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grpSp>
        <p:nvGrpSpPr>
          <p:cNvPr id="12" name="Group 2">
            <a:extLst>
              <a:ext uri="{FF2B5EF4-FFF2-40B4-BE49-F238E27FC236}">
                <a16:creationId xmlns:a16="http://schemas.microsoft.com/office/drawing/2014/main" id="{C9C9D2C0-2709-60E1-4103-21EDFC141288}"/>
              </a:ext>
            </a:extLst>
          </p:cNvPr>
          <p:cNvGrpSpPr/>
          <p:nvPr/>
        </p:nvGrpSpPr>
        <p:grpSpPr>
          <a:xfrm>
            <a:off x="0" y="25405"/>
            <a:ext cx="18288000" cy="3744230"/>
            <a:chOff x="0" y="0"/>
            <a:chExt cx="24384000" cy="4992306"/>
          </a:xfrm>
        </p:grpSpPr>
        <p:sp>
          <p:nvSpPr>
            <p:cNvPr id="13" name="Freeform 3" descr="一張含有 黑暗, 黑色, 螢幕擷取畫面, 光線 的圖片  AI 產生的內容可能不正確。">
              <a:extLst>
                <a:ext uri="{FF2B5EF4-FFF2-40B4-BE49-F238E27FC236}">
                  <a16:creationId xmlns:a16="http://schemas.microsoft.com/office/drawing/2014/main" id="{4B2D9463-3544-1677-B7A5-2FE436C0081E}"/>
                </a:ext>
              </a:extLst>
            </p:cNvPr>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14"/>
              <a:stretch>
                <a:fillRect b="-1"/>
              </a:stretch>
            </a:blipFill>
          </p:spPr>
        </p:sp>
      </p:grpSp>
      <p:sp>
        <p:nvSpPr>
          <p:cNvPr id="14" name="文字方塊 13">
            <a:extLst>
              <a:ext uri="{FF2B5EF4-FFF2-40B4-BE49-F238E27FC236}">
                <a16:creationId xmlns:a16="http://schemas.microsoft.com/office/drawing/2014/main" id="{63384B52-CF36-874E-CEAC-9AD0B20CC784}"/>
              </a:ext>
            </a:extLst>
          </p:cNvPr>
          <p:cNvSpPr txBox="1"/>
          <p:nvPr/>
        </p:nvSpPr>
        <p:spPr>
          <a:xfrm>
            <a:off x="11887200" y="-39489"/>
            <a:ext cx="7680960" cy="369332"/>
          </a:xfrm>
          <a:prstGeom prst="rect">
            <a:avLst/>
          </a:prstGeom>
          <a:noFill/>
        </p:spPr>
        <p:txBody>
          <a:bodyPr wrap="square">
            <a:spAutoFit/>
          </a:bodyPr>
          <a:lstStyle/>
          <a:p>
            <a:pPr eaLnBrk="1" fontAlgn="auto" hangingPunct="1"/>
            <a:r>
              <a:rPr lang="en-US" altLang="zh-TW"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rPr>
              <a:t>Department of Sports Technology &amp; Information Development</a:t>
            </a:r>
            <a:endParaRPr lang="zh-TW" altLang="en-US"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3107754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363409" y="599239"/>
            <a:ext cx="1103243" cy="551060"/>
            <a:chOff x="0" y="0"/>
            <a:chExt cx="1470990" cy="734746"/>
          </a:xfrm>
        </p:grpSpPr>
        <p:sp>
          <p:nvSpPr>
            <p:cNvPr id="5" name="Freeform 5"/>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3"/>
              <a:stretch>
                <a:fillRect t="-221" r="3" b="-226"/>
              </a:stretch>
            </a:blipFill>
          </p:spPr>
        </p:sp>
      </p:grpSp>
      <p:sp>
        <p:nvSpPr>
          <p:cNvPr id="16" name="TextBox 4">
            <a:extLst>
              <a:ext uri="{FF2B5EF4-FFF2-40B4-BE49-F238E27FC236}">
                <a16:creationId xmlns:a16="http://schemas.microsoft.com/office/drawing/2014/main" id="{F63A9976-7FD5-3ED0-F6F3-A040EAF22755}"/>
              </a:ext>
            </a:extLst>
          </p:cNvPr>
          <p:cNvSpPr txBox="1"/>
          <p:nvPr/>
        </p:nvSpPr>
        <p:spPr>
          <a:xfrm>
            <a:off x="1427111" y="2904282"/>
            <a:ext cx="9088490" cy="400110"/>
          </a:xfrm>
          <a:prstGeom prst="rect">
            <a:avLst/>
          </a:prstGeom>
          <a:noFill/>
        </p:spPr>
        <p:txBody>
          <a:bodyPr wrap="square" anchor="ctr">
            <a:spAutoFit/>
          </a:bodyPr>
          <a:lstStyle/>
          <a:p>
            <a:pPr algn="l"/>
            <a:r>
              <a:rPr lang="en-US" altLang="zh-TW" sz="2000" dirty="0">
                <a:solidFill>
                  <a:srgbClr val="5A6870"/>
                </a:solidFill>
                <a:latin typeface="Times New Roman" panose="02020603050405020304" pitchFamily="18" charset="0"/>
                <a:cs typeface="Times New Roman" panose="02020603050405020304" pitchFamily="18" charset="0"/>
              </a:rPr>
              <a:t>Developed with coaches and athletes, validated in real competition</a:t>
            </a:r>
          </a:p>
        </p:txBody>
      </p:sp>
      <p:sp>
        <p:nvSpPr>
          <p:cNvPr id="10" name="TextBox 8">
            <a:extLst>
              <a:ext uri="{FF2B5EF4-FFF2-40B4-BE49-F238E27FC236}">
                <a16:creationId xmlns:a16="http://schemas.microsoft.com/office/drawing/2014/main" id="{C081CD5C-8ACE-7559-8F4D-C3666A623E98}"/>
              </a:ext>
            </a:extLst>
          </p:cNvPr>
          <p:cNvSpPr txBox="1"/>
          <p:nvPr/>
        </p:nvSpPr>
        <p:spPr>
          <a:xfrm>
            <a:off x="1513740" y="1844040"/>
            <a:ext cx="12828418" cy="1394460"/>
          </a:xfrm>
          <a:prstGeom prst="rect">
            <a:avLst/>
          </a:prstGeom>
        </p:spPr>
        <p:txBody>
          <a:bodyPr lIns="0" tIns="0" rIns="0" bIns="0" rtlCol="0" anchor="ctr"/>
          <a:lstStyle/>
          <a:p>
            <a:pPr algn="l">
              <a:lnSpc>
                <a:spcPts val="4284"/>
              </a:lnSpc>
            </a:pPr>
            <a:r>
              <a:rPr lang="en-US" sz="5400" b="1" dirty="0">
                <a:solidFill>
                  <a:srgbClr val="003366"/>
                </a:solidFill>
                <a:latin typeface="Times New Roman"/>
                <a:ea typeface="Times New Roman"/>
                <a:cs typeface="Times New Roman"/>
                <a:sym typeface="Times New Roman"/>
              </a:rPr>
              <a:t>From Design to The Field</a:t>
            </a:r>
          </a:p>
        </p:txBody>
      </p:sp>
      <p:sp>
        <p:nvSpPr>
          <p:cNvPr id="11" name="Freeform 27">
            <a:extLst>
              <a:ext uri="{FF2B5EF4-FFF2-40B4-BE49-F238E27FC236}">
                <a16:creationId xmlns:a16="http://schemas.microsoft.com/office/drawing/2014/main" id="{C78915BD-3ADC-FB75-C284-ECF2820AEC54}"/>
              </a:ext>
            </a:extLst>
          </p:cNvPr>
          <p:cNvSpPr/>
          <p:nvPr/>
        </p:nvSpPr>
        <p:spPr>
          <a:xfrm>
            <a:off x="799154" y="2252616"/>
            <a:ext cx="455075" cy="455075"/>
          </a:xfrm>
          <a:custGeom>
            <a:avLst/>
            <a:gdLst/>
            <a:ahLst/>
            <a:cxnLst/>
            <a:rect l="l" t="t" r="r" b="b"/>
            <a:pathLst>
              <a:path w="455075" h="455075">
                <a:moveTo>
                  <a:pt x="0" y="0"/>
                </a:moveTo>
                <a:lnTo>
                  <a:pt x="455074" y="0"/>
                </a:lnTo>
                <a:lnTo>
                  <a:pt x="455074" y="455075"/>
                </a:lnTo>
                <a:lnTo>
                  <a:pt x="0" y="4550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 4">
            <a:extLst>
              <a:ext uri="{FF2B5EF4-FFF2-40B4-BE49-F238E27FC236}">
                <a16:creationId xmlns:a16="http://schemas.microsoft.com/office/drawing/2014/main" id="{75CB2409-1844-A0A7-51FF-20A195FA333D}"/>
              </a:ext>
            </a:extLst>
          </p:cNvPr>
          <p:cNvSpPr/>
          <p:nvPr/>
        </p:nvSpPr>
        <p:spPr>
          <a:xfrm>
            <a:off x="1219200" y="3571875"/>
            <a:ext cx="15697200" cy="403770"/>
          </a:xfrm>
          <a:prstGeom prst="rect">
            <a:avLst/>
          </a:prstGeom>
          <a:noFill/>
          <a:ln/>
        </p:spPr>
        <p:txBody>
          <a:bodyPr wrap="square" lIns="0" tIns="0" rIns="0" bIns="0" rtlCol="0" anchor="t">
            <a:normAutofit/>
          </a:bodyPr>
          <a:lstStyle/>
          <a:p>
            <a:pPr>
              <a:lnSpc>
                <a:spcPts val="2880"/>
              </a:lnSpc>
            </a:pPr>
            <a:r>
              <a:rPr lang="en-US" sz="2400" b="1" dirty="0">
                <a:solidFill>
                  <a:srgbClr val="1F5C99"/>
                </a:solidFill>
                <a:latin typeface="Times New Roman"/>
                <a:ea typeface="Times New Roman"/>
                <a:cs typeface="Times New Roman"/>
              </a:rPr>
              <a:t>Our Approach in Practice</a:t>
            </a:r>
            <a:endParaRPr lang="en-US" sz="2400" dirty="0"/>
          </a:p>
        </p:txBody>
      </p:sp>
      <p:sp>
        <p:nvSpPr>
          <p:cNvPr id="7" name="Shape 5">
            <a:extLst>
              <a:ext uri="{FF2B5EF4-FFF2-40B4-BE49-F238E27FC236}">
                <a16:creationId xmlns:a16="http://schemas.microsoft.com/office/drawing/2014/main" id="{C5C6FA41-3109-6D4A-7E48-2B1BC494E632}"/>
              </a:ext>
            </a:extLst>
          </p:cNvPr>
          <p:cNvSpPr/>
          <p:nvPr/>
        </p:nvSpPr>
        <p:spPr>
          <a:xfrm>
            <a:off x="1228725" y="4124325"/>
            <a:ext cx="3771900" cy="4788843"/>
          </a:xfrm>
          <a:prstGeom prst="roundRect">
            <a:avLst>
              <a:gd name="adj" fmla="val 4798"/>
            </a:avLst>
          </a:prstGeom>
          <a:solidFill>
            <a:srgbClr val="FFFFFF"/>
          </a:solidFill>
          <a:ln w="12700">
            <a:solidFill>
              <a:srgbClr val="D3DEE8"/>
            </a:solidFill>
            <a:prstDash val="solid"/>
          </a:ln>
        </p:spPr>
      </p:sp>
      <p:sp>
        <p:nvSpPr>
          <p:cNvPr id="8" name="Text 6">
            <a:extLst>
              <a:ext uri="{FF2B5EF4-FFF2-40B4-BE49-F238E27FC236}">
                <a16:creationId xmlns:a16="http://schemas.microsoft.com/office/drawing/2014/main" id="{3761F4EA-C5BF-F15B-75DA-1CE3FAD40AC4}"/>
              </a:ext>
            </a:extLst>
          </p:cNvPr>
          <p:cNvSpPr/>
          <p:nvPr/>
        </p:nvSpPr>
        <p:spPr>
          <a:xfrm>
            <a:off x="1238250" y="4133850"/>
            <a:ext cx="3752850" cy="2857500"/>
          </a:xfrm>
          <a:custGeom>
            <a:avLst/>
            <a:gdLst/>
            <a:ahLst/>
            <a:cxnLst/>
            <a:rect l="l" t="t" r="r" b="b"/>
            <a:pathLst>
              <a:path w="2501900" h="1905000">
                <a:moveTo>
                  <a:pt x="0" y="114300"/>
                </a:moveTo>
                <a:arcTo wR="114300" hR="114300" stAng="10800000" swAng="5400000"/>
                <a:lnTo>
                  <a:pt x="2387600" y="0"/>
                </a:lnTo>
                <a:arcTo wR="114300" hR="114300" stAng="16200000" swAng="5400000"/>
                <a:lnTo>
                  <a:pt x="2501900" y="1905000"/>
                </a:lnTo>
                <a:lnTo>
                  <a:pt x="0" y="1905000"/>
                </a:lnTo>
                <a:close/>
              </a:path>
            </a:pathLst>
          </a:custGeom>
          <a:solidFill>
            <a:srgbClr val="E9EEF3"/>
          </a:solidFill>
          <a:ln/>
        </p:spPr>
        <p:txBody>
          <a:bodyPr wrap="square" lIns="0" tIns="0" rIns="0" bIns="0" rtlCol="0" anchor="ctr">
            <a:normAutofit/>
          </a:bodyPr>
          <a:lstStyle/>
          <a:p>
            <a:pPr algn="ctr">
              <a:lnSpc>
                <a:spcPts val="2520"/>
              </a:lnSpc>
            </a:pPr>
            <a:r>
              <a:rPr lang="en-US" dirty="0">
                <a:solidFill>
                  <a:srgbClr val="8A96A3"/>
                </a:solidFill>
                <a:latin typeface="Times New Roman"/>
                <a:ea typeface="Times New Roman"/>
                <a:cs typeface="Times New Roman"/>
              </a:rPr>
              <a:t>Photo 1</a:t>
            </a:r>
            <a:endParaRPr lang="en-US" dirty="0"/>
          </a:p>
        </p:txBody>
      </p:sp>
      <p:sp>
        <p:nvSpPr>
          <p:cNvPr id="9" name="Text 7">
            <a:extLst>
              <a:ext uri="{FF2B5EF4-FFF2-40B4-BE49-F238E27FC236}">
                <a16:creationId xmlns:a16="http://schemas.microsoft.com/office/drawing/2014/main" id="{D7EB717F-979C-085F-235F-C2C239545C1B}"/>
              </a:ext>
            </a:extLst>
          </p:cNvPr>
          <p:cNvSpPr/>
          <p:nvPr/>
        </p:nvSpPr>
        <p:spPr>
          <a:xfrm>
            <a:off x="1466851" y="7200900"/>
            <a:ext cx="3394520" cy="358080"/>
          </a:xfrm>
          <a:prstGeom prst="rect">
            <a:avLst/>
          </a:prstGeom>
          <a:noFill/>
          <a:ln/>
        </p:spPr>
        <p:txBody>
          <a:bodyPr wrap="square" lIns="0" tIns="0" rIns="0" bIns="0" rtlCol="0" anchor="t">
            <a:normAutofit/>
          </a:bodyPr>
          <a:lstStyle/>
          <a:p>
            <a:pPr>
              <a:lnSpc>
                <a:spcPts val="2520"/>
              </a:lnSpc>
            </a:pPr>
            <a:r>
              <a:rPr lang="en-US" b="1" kern="0" spc="150" dirty="0">
                <a:solidFill>
                  <a:srgbClr val="13897A"/>
                </a:solidFill>
                <a:latin typeface="Times New Roman"/>
                <a:ea typeface="Times New Roman"/>
                <a:cs typeface="Times New Roman"/>
              </a:rPr>
              <a:t>01 · DESIGN</a:t>
            </a:r>
            <a:endParaRPr lang="en-US" dirty="0"/>
          </a:p>
        </p:txBody>
      </p:sp>
      <p:sp>
        <p:nvSpPr>
          <p:cNvPr id="12" name="Text 8">
            <a:extLst>
              <a:ext uri="{FF2B5EF4-FFF2-40B4-BE49-F238E27FC236}">
                <a16:creationId xmlns:a16="http://schemas.microsoft.com/office/drawing/2014/main" id="{90DBDFDB-4BE8-78DB-EFF0-C353CFF7573A}"/>
              </a:ext>
            </a:extLst>
          </p:cNvPr>
          <p:cNvSpPr/>
          <p:nvPr/>
        </p:nvSpPr>
        <p:spPr>
          <a:xfrm>
            <a:off x="1466851" y="7597080"/>
            <a:ext cx="3394520" cy="403770"/>
          </a:xfrm>
          <a:prstGeom prst="rect">
            <a:avLst/>
          </a:prstGeom>
          <a:noFill/>
          <a:ln/>
        </p:spPr>
        <p:txBody>
          <a:bodyPr wrap="square" lIns="0" tIns="0" rIns="0" bIns="0" rtlCol="0" anchor="t">
            <a:normAutofit/>
          </a:bodyPr>
          <a:lstStyle/>
          <a:p>
            <a:pPr>
              <a:lnSpc>
                <a:spcPts val="2880"/>
              </a:lnSpc>
            </a:pPr>
            <a:r>
              <a:rPr lang="en-US" sz="2400" b="1" dirty="0">
                <a:solidFill>
                  <a:srgbClr val="0E3A66"/>
                </a:solidFill>
                <a:latin typeface="Times New Roman" pitchFamily="18" charset="0"/>
                <a:ea typeface="Times New Roman" pitchFamily="18" charset="-122"/>
                <a:cs typeface="Times New Roman" pitchFamily="18" charset="-120"/>
              </a:rPr>
              <a:t>Co-Design Sessions</a:t>
            </a:r>
            <a:endParaRPr lang="en-US" sz="2400" dirty="0"/>
          </a:p>
        </p:txBody>
      </p:sp>
      <p:sp>
        <p:nvSpPr>
          <p:cNvPr id="13" name="Text 9">
            <a:extLst>
              <a:ext uri="{FF2B5EF4-FFF2-40B4-BE49-F238E27FC236}">
                <a16:creationId xmlns:a16="http://schemas.microsoft.com/office/drawing/2014/main" id="{1BC0DEF7-0A1F-435C-B126-CB25FCFA3F1F}"/>
              </a:ext>
            </a:extLst>
          </p:cNvPr>
          <p:cNvSpPr/>
          <p:nvPr/>
        </p:nvSpPr>
        <p:spPr>
          <a:xfrm>
            <a:off x="1466851" y="8038952"/>
            <a:ext cx="3394520" cy="655142"/>
          </a:xfrm>
          <a:prstGeom prst="rect">
            <a:avLst/>
          </a:prstGeom>
          <a:noFill/>
          <a:ln/>
        </p:spPr>
        <p:txBody>
          <a:bodyPr wrap="square" lIns="0" tIns="0" rIns="0" bIns="0" rtlCol="0" anchor="t">
            <a:normAutofit/>
          </a:bodyPr>
          <a:lstStyle/>
          <a:p>
            <a:pPr>
              <a:lnSpc>
                <a:spcPts val="2430"/>
              </a:lnSpc>
            </a:pPr>
            <a:r>
              <a:rPr lang="en-US" dirty="0">
                <a:solidFill>
                  <a:srgbClr val="2B2F36"/>
                </a:solidFill>
                <a:latin typeface="Times New Roman"/>
                <a:ea typeface="Times New Roman"/>
                <a:cs typeface="Times New Roman"/>
              </a:rPr>
              <a:t>Long working sessions refining workflows and interface</a:t>
            </a:r>
            <a:endParaRPr lang="en-US" dirty="0"/>
          </a:p>
        </p:txBody>
      </p:sp>
      <p:sp>
        <p:nvSpPr>
          <p:cNvPr id="14" name="Shape 10">
            <a:extLst>
              <a:ext uri="{FF2B5EF4-FFF2-40B4-BE49-F238E27FC236}">
                <a16:creationId xmlns:a16="http://schemas.microsoft.com/office/drawing/2014/main" id="{7893ACEF-570E-6398-2ED7-647F95ED8814}"/>
              </a:ext>
            </a:extLst>
          </p:cNvPr>
          <p:cNvSpPr/>
          <p:nvPr/>
        </p:nvSpPr>
        <p:spPr>
          <a:xfrm>
            <a:off x="5248275" y="4124325"/>
            <a:ext cx="3771900" cy="4788843"/>
          </a:xfrm>
          <a:prstGeom prst="roundRect">
            <a:avLst>
              <a:gd name="adj" fmla="val 4798"/>
            </a:avLst>
          </a:prstGeom>
          <a:solidFill>
            <a:srgbClr val="FFFFFF"/>
          </a:solidFill>
          <a:ln w="12700">
            <a:solidFill>
              <a:srgbClr val="D3DEE8"/>
            </a:solidFill>
            <a:prstDash val="solid"/>
          </a:ln>
        </p:spPr>
      </p:sp>
      <p:sp>
        <p:nvSpPr>
          <p:cNvPr id="15" name="Text 11">
            <a:extLst>
              <a:ext uri="{FF2B5EF4-FFF2-40B4-BE49-F238E27FC236}">
                <a16:creationId xmlns:a16="http://schemas.microsoft.com/office/drawing/2014/main" id="{992B368C-41B3-212E-643A-03636416D2F5}"/>
              </a:ext>
            </a:extLst>
          </p:cNvPr>
          <p:cNvSpPr/>
          <p:nvPr/>
        </p:nvSpPr>
        <p:spPr>
          <a:xfrm>
            <a:off x="5257800" y="4133850"/>
            <a:ext cx="3752850" cy="2857500"/>
          </a:xfrm>
          <a:custGeom>
            <a:avLst/>
            <a:gdLst/>
            <a:ahLst/>
            <a:cxnLst/>
            <a:rect l="l" t="t" r="r" b="b"/>
            <a:pathLst>
              <a:path w="2501900" h="1905000">
                <a:moveTo>
                  <a:pt x="0" y="114300"/>
                </a:moveTo>
                <a:arcTo wR="114300" hR="114300" stAng="10800000" swAng="5400000"/>
                <a:lnTo>
                  <a:pt x="2387600" y="0"/>
                </a:lnTo>
                <a:arcTo wR="114300" hR="114300" stAng="16200000" swAng="5400000"/>
                <a:lnTo>
                  <a:pt x="2501900" y="1905000"/>
                </a:lnTo>
                <a:lnTo>
                  <a:pt x="0" y="1905000"/>
                </a:lnTo>
                <a:close/>
              </a:path>
            </a:pathLst>
          </a:custGeom>
          <a:solidFill>
            <a:srgbClr val="E9EEF3"/>
          </a:solidFill>
          <a:ln/>
        </p:spPr>
        <p:txBody>
          <a:bodyPr wrap="square" lIns="0" tIns="0" rIns="0" bIns="0" rtlCol="0" anchor="ctr">
            <a:normAutofit/>
          </a:bodyPr>
          <a:lstStyle/>
          <a:p>
            <a:pPr algn="ctr">
              <a:lnSpc>
                <a:spcPts val="2520"/>
              </a:lnSpc>
            </a:pPr>
            <a:r>
              <a:rPr lang="en-US" dirty="0">
                <a:solidFill>
                  <a:srgbClr val="8A96A3"/>
                </a:solidFill>
                <a:latin typeface="Times New Roman"/>
                <a:ea typeface="Times New Roman"/>
                <a:cs typeface="Times New Roman"/>
              </a:rPr>
              <a:t>Photo 2</a:t>
            </a:r>
            <a:endParaRPr lang="en-US" dirty="0"/>
          </a:p>
        </p:txBody>
      </p:sp>
      <p:sp>
        <p:nvSpPr>
          <p:cNvPr id="17" name="Text 12">
            <a:extLst>
              <a:ext uri="{FF2B5EF4-FFF2-40B4-BE49-F238E27FC236}">
                <a16:creationId xmlns:a16="http://schemas.microsoft.com/office/drawing/2014/main" id="{EE795D52-9BE9-DCAD-EA34-FA2A5057C076}"/>
              </a:ext>
            </a:extLst>
          </p:cNvPr>
          <p:cNvSpPr/>
          <p:nvPr/>
        </p:nvSpPr>
        <p:spPr>
          <a:xfrm>
            <a:off x="5486401" y="7200900"/>
            <a:ext cx="3394520" cy="358080"/>
          </a:xfrm>
          <a:prstGeom prst="rect">
            <a:avLst/>
          </a:prstGeom>
          <a:noFill/>
          <a:ln/>
        </p:spPr>
        <p:txBody>
          <a:bodyPr wrap="square" lIns="0" tIns="0" rIns="0" bIns="0" rtlCol="0" anchor="t">
            <a:normAutofit/>
          </a:bodyPr>
          <a:lstStyle/>
          <a:p>
            <a:pPr>
              <a:lnSpc>
                <a:spcPts val="2520"/>
              </a:lnSpc>
            </a:pPr>
            <a:r>
              <a:rPr lang="en-US" b="1" kern="0" spc="150" dirty="0">
                <a:solidFill>
                  <a:srgbClr val="13897A"/>
                </a:solidFill>
                <a:latin typeface="Times New Roman"/>
                <a:ea typeface="Times New Roman"/>
                <a:cs typeface="Times New Roman"/>
              </a:rPr>
              <a:t>02 · VALIDATE</a:t>
            </a:r>
            <a:endParaRPr lang="en-US" dirty="0"/>
          </a:p>
        </p:txBody>
      </p:sp>
      <p:sp>
        <p:nvSpPr>
          <p:cNvPr id="18" name="Text 13">
            <a:extLst>
              <a:ext uri="{FF2B5EF4-FFF2-40B4-BE49-F238E27FC236}">
                <a16:creationId xmlns:a16="http://schemas.microsoft.com/office/drawing/2014/main" id="{8422D48A-5252-F25D-3995-0AF600088A61}"/>
              </a:ext>
            </a:extLst>
          </p:cNvPr>
          <p:cNvSpPr/>
          <p:nvPr/>
        </p:nvSpPr>
        <p:spPr>
          <a:xfrm>
            <a:off x="5486401" y="7597080"/>
            <a:ext cx="3394520" cy="403770"/>
          </a:xfrm>
          <a:prstGeom prst="rect">
            <a:avLst/>
          </a:prstGeom>
          <a:noFill/>
          <a:ln/>
        </p:spPr>
        <p:txBody>
          <a:bodyPr wrap="square" lIns="0" tIns="0" rIns="0" bIns="0" rtlCol="0" anchor="t">
            <a:normAutofit/>
          </a:bodyPr>
          <a:lstStyle/>
          <a:p>
            <a:pPr>
              <a:lnSpc>
                <a:spcPts val="2880"/>
              </a:lnSpc>
            </a:pPr>
            <a:r>
              <a:rPr lang="en-US" sz="2400" b="1" dirty="0">
                <a:solidFill>
                  <a:srgbClr val="0E3A66"/>
                </a:solidFill>
                <a:latin typeface="Times New Roman" pitchFamily="18" charset="0"/>
                <a:ea typeface="Times New Roman" pitchFamily="18" charset="-122"/>
                <a:cs typeface="Times New Roman" pitchFamily="18" charset="-120"/>
              </a:rPr>
              <a:t>Live Competition Use</a:t>
            </a:r>
            <a:endParaRPr lang="en-US" sz="2400" dirty="0"/>
          </a:p>
        </p:txBody>
      </p:sp>
      <p:sp>
        <p:nvSpPr>
          <p:cNvPr id="19" name="Text 14">
            <a:extLst>
              <a:ext uri="{FF2B5EF4-FFF2-40B4-BE49-F238E27FC236}">
                <a16:creationId xmlns:a16="http://schemas.microsoft.com/office/drawing/2014/main" id="{2CC320A7-CC29-EE1A-8928-D2555387F943}"/>
              </a:ext>
            </a:extLst>
          </p:cNvPr>
          <p:cNvSpPr/>
          <p:nvPr/>
        </p:nvSpPr>
        <p:spPr>
          <a:xfrm>
            <a:off x="5486401" y="8038952"/>
            <a:ext cx="3394520" cy="655142"/>
          </a:xfrm>
          <a:prstGeom prst="rect">
            <a:avLst/>
          </a:prstGeom>
          <a:noFill/>
          <a:ln/>
        </p:spPr>
        <p:txBody>
          <a:bodyPr wrap="square" lIns="0" tIns="0" rIns="0" bIns="0" rtlCol="0" anchor="t">
            <a:normAutofit/>
          </a:bodyPr>
          <a:lstStyle/>
          <a:p>
            <a:pPr>
              <a:lnSpc>
                <a:spcPts val="2430"/>
              </a:lnSpc>
            </a:pPr>
            <a:r>
              <a:rPr lang="en-US" dirty="0">
                <a:solidFill>
                  <a:srgbClr val="2B2F36"/>
                </a:solidFill>
                <a:latin typeface="Times New Roman"/>
                <a:ea typeface="Times New Roman"/>
                <a:cs typeface="Times New Roman"/>
              </a:rPr>
              <a:t>Recording performance in real time at venues</a:t>
            </a:r>
            <a:endParaRPr lang="en-US" dirty="0"/>
          </a:p>
        </p:txBody>
      </p:sp>
      <p:sp>
        <p:nvSpPr>
          <p:cNvPr id="20" name="Shape 15">
            <a:extLst>
              <a:ext uri="{FF2B5EF4-FFF2-40B4-BE49-F238E27FC236}">
                <a16:creationId xmlns:a16="http://schemas.microsoft.com/office/drawing/2014/main" id="{A5D54C48-3DF8-0093-11A0-393FE0B0724D}"/>
              </a:ext>
            </a:extLst>
          </p:cNvPr>
          <p:cNvSpPr/>
          <p:nvPr/>
        </p:nvSpPr>
        <p:spPr>
          <a:xfrm>
            <a:off x="9267825" y="4124325"/>
            <a:ext cx="3771900" cy="4788843"/>
          </a:xfrm>
          <a:prstGeom prst="roundRect">
            <a:avLst>
              <a:gd name="adj" fmla="val 4798"/>
            </a:avLst>
          </a:prstGeom>
          <a:solidFill>
            <a:srgbClr val="FFFFFF"/>
          </a:solidFill>
          <a:ln w="12700">
            <a:solidFill>
              <a:srgbClr val="D3DEE8"/>
            </a:solidFill>
            <a:prstDash val="solid"/>
          </a:ln>
        </p:spPr>
      </p:sp>
      <p:sp>
        <p:nvSpPr>
          <p:cNvPr id="21" name="Text 16">
            <a:extLst>
              <a:ext uri="{FF2B5EF4-FFF2-40B4-BE49-F238E27FC236}">
                <a16:creationId xmlns:a16="http://schemas.microsoft.com/office/drawing/2014/main" id="{A3F9E088-6DA6-C4A7-E16B-A2E1561AB925}"/>
              </a:ext>
            </a:extLst>
          </p:cNvPr>
          <p:cNvSpPr/>
          <p:nvPr/>
        </p:nvSpPr>
        <p:spPr>
          <a:xfrm>
            <a:off x="9277350" y="4133850"/>
            <a:ext cx="3752850" cy="2857500"/>
          </a:xfrm>
          <a:custGeom>
            <a:avLst/>
            <a:gdLst/>
            <a:ahLst/>
            <a:cxnLst/>
            <a:rect l="l" t="t" r="r" b="b"/>
            <a:pathLst>
              <a:path w="2501900" h="1905000">
                <a:moveTo>
                  <a:pt x="0" y="114300"/>
                </a:moveTo>
                <a:arcTo wR="114300" hR="114300" stAng="10800000" swAng="5400000"/>
                <a:lnTo>
                  <a:pt x="2387600" y="0"/>
                </a:lnTo>
                <a:arcTo wR="114300" hR="114300" stAng="16200000" swAng="5400000"/>
                <a:lnTo>
                  <a:pt x="2501900" y="1905000"/>
                </a:lnTo>
                <a:lnTo>
                  <a:pt x="0" y="1905000"/>
                </a:lnTo>
                <a:close/>
              </a:path>
            </a:pathLst>
          </a:custGeom>
          <a:solidFill>
            <a:srgbClr val="E9EEF3"/>
          </a:solidFill>
          <a:ln/>
        </p:spPr>
        <p:txBody>
          <a:bodyPr wrap="square" lIns="0" tIns="0" rIns="0" bIns="0" rtlCol="0" anchor="ctr">
            <a:normAutofit/>
          </a:bodyPr>
          <a:lstStyle/>
          <a:p>
            <a:pPr algn="ctr">
              <a:lnSpc>
                <a:spcPts val="2520"/>
              </a:lnSpc>
            </a:pPr>
            <a:r>
              <a:rPr lang="en-US" dirty="0">
                <a:solidFill>
                  <a:srgbClr val="8A96A3"/>
                </a:solidFill>
                <a:latin typeface="Times New Roman"/>
                <a:ea typeface="Times New Roman"/>
                <a:cs typeface="Times New Roman"/>
              </a:rPr>
              <a:t>Photo 3</a:t>
            </a:r>
            <a:endParaRPr lang="en-US" dirty="0"/>
          </a:p>
        </p:txBody>
      </p:sp>
      <p:sp>
        <p:nvSpPr>
          <p:cNvPr id="22" name="Text 17">
            <a:extLst>
              <a:ext uri="{FF2B5EF4-FFF2-40B4-BE49-F238E27FC236}">
                <a16:creationId xmlns:a16="http://schemas.microsoft.com/office/drawing/2014/main" id="{2BC48DFE-4286-3529-6BAF-8B8D5BC23DE5}"/>
              </a:ext>
            </a:extLst>
          </p:cNvPr>
          <p:cNvSpPr/>
          <p:nvPr/>
        </p:nvSpPr>
        <p:spPr>
          <a:xfrm>
            <a:off x="9505951" y="7200900"/>
            <a:ext cx="3394520" cy="358080"/>
          </a:xfrm>
          <a:prstGeom prst="rect">
            <a:avLst/>
          </a:prstGeom>
          <a:noFill/>
          <a:ln/>
        </p:spPr>
        <p:txBody>
          <a:bodyPr wrap="square" lIns="0" tIns="0" rIns="0" bIns="0" rtlCol="0" anchor="t">
            <a:normAutofit/>
          </a:bodyPr>
          <a:lstStyle/>
          <a:p>
            <a:pPr>
              <a:lnSpc>
                <a:spcPts val="2520"/>
              </a:lnSpc>
            </a:pPr>
            <a:r>
              <a:rPr lang="en-US" b="1" kern="0" spc="150" dirty="0">
                <a:solidFill>
                  <a:srgbClr val="13897A"/>
                </a:solidFill>
                <a:latin typeface="Times New Roman"/>
                <a:ea typeface="Times New Roman"/>
                <a:cs typeface="Times New Roman"/>
              </a:rPr>
              <a:t>03 · TRAIN</a:t>
            </a:r>
            <a:endParaRPr lang="en-US" dirty="0"/>
          </a:p>
        </p:txBody>
      </p:sp>
      <p:sp>
        <p:nvSpPr>
          <p:cNvPr id="23" name="Text 18">
            <a:extLst>
              <a:ext uri="{FF2B5EF4-FFF2-40B4-BE49-F238E27FC236}">
                <a16:creationId xmlns:a16="http://schemas.microsoft.com/office/drawing/2014/main" id="{B8C2188B-5593-E3F1-423B-79E579DBE6B8}"/>
              </a:ext>
            </a:extLst>
          </p:cNvPr>
          <p:cNvSpPr/>
          <p:nvPr/>
        </p:nvSpPr>
        <p:spPr>
          <a:xfrm>
            <a:off x="9505950" y="7597080"/>
            <a:ext cx="3524250" cy="403770"/>
          </a:xfrm>
          <a:prstGeom prst="rect">
            <a:avLst/>
          </a:prstGeom>
          <a:noFill/>
          <a:ln/>
        </p:spPr>
        <p:txBody>
          <a:bodyPr wrap="square" lIns="0" tIns="0" rIns="0" bIns="0" rtlCol="0" anchor="t">
            <a:normAutofit/>
          </a:bodyPr>
          <a:lstStyle/>
          <a:p>
            <a:pPr>
              <a:lnSpc>
                <a:spcPts val="2880"/>
              </a:lnSpc>
            </a:pPr>
            <a:r>
              <a:rPr lang="en-US" sz="2400" b="1" dirty="0">
                <a:solidFill>
                  <a:srgbClr val="0E3A66"/>
                </a:solidFill>
                <a:latin typeface="Times New Roman" pitchFamily="18" charset="0"/>
                <a:ea typeface="Times New Roman" pitchFamily="18" charset="-122"/>
                <a:cs typeface="Times New Roman" pitchFamily="18" charset="-120"/>
              </a:rPr>
              <a:t>User Training Workshop</a:t>
            </a:r>
            <a:endParaRPr lang="en-US" sz="2400" dirty="0"/>
          </a:p>
        </p:txBody>
      </p:sp>
      <p:sp>
        <p:nvSpPr>
          <p:cNvPr id="24" name="Text 19">
            <a:extLst>
              <a:ext uri="{FF2B5EF4-FFF2-40B4-BE49-F238E27FC236}">
                <a16:creationId xmlns:a16="http://schemas.microsoft.com/office/drawing/2014/main" id="{1DFAA270-EB88-AED8-0FB6-01EBE5122016}"/>
              </a:ext>
            </a:extLst>
          </p:cNvPr>
          <p:cNvSpPr/>
          <p:nvPr/>
        </p:nvSpPr>
        <p:spPr>
          <a:xfrm>
            <a:off x="9505951" y="8038952"/>
            <a:ext cx="3394520" cy="655142"/>
          </a:xfrm>
          <a:prstGeom prst="rect">
            <a:avLst/>
          </a:prstGeom>
          <a:noFill/>
          <a:ln/>
        </p:spPr>
        <p:txBody>
          <a:bodyPr wrap="square" lIns="0" tIns="0" rIns="0" bIns="0" rtlCol="0" anchor="t">
            <a:normAutofit/>
          </a:bodyPr>
          <a:lstStyle/>
          <a:p>
            <a:pPr>
              <a:lnSpc>
                <a:spcPts val="2430"/>
              </a:lnSpc>
            </a:pPr>
            <a:r>
              <a:rPr lang="en-US" dirty="0">
                <a:solidFill>
                  <a:srgbClr val="2B2F36"/>
                </a:solidFill>
                <a:latin typeface="Times New Roman"/>
                <a:ea typeface="Times New Roman"/>
                <a:cs typeface="Times New Roman"/>
              </a:rPr>
              <a:t>Hands-on training for coaches and athletes</a:t>
            </a:r>
            <a:endParaRPr lang="en-US" dirty="0"/>
          </a:p>
        </p:txBody>
      </p:sp>
      <p:sp>
        <p:nvSpPr>
          <p:cNvPr id="25" name="Shape 20">
            <a:extLst>
              <a:ext uri="{FF2B5EF4-FFF2-40B4-BE49-F238E27FC236}">
                <a16:creationId xmlns:a16="http://schemas.microsoft.com/office/drawing/2014/main" id="{91AD0036-0731-8192-0F3D-487E0A2E0216}"/>
              </a:ext>
            </a:extLst>
          </p:cNvPr>
          <p:cNvSpPr/>
          <p:nvPr/>
        </p:nvSpPr>
        <p:spPr>
          <a:xfrm>
            <a:off x="13287375" y="4124325"/>
            <a:ext cx="3771900" cy="4788843"/>
          </a:xfrm>
          <a:prstGeom prst="roundRect">
            <a:avLst>
              <a:gd name="adj" fmla="val 4798"/>
            </a:avLst>
          </a:prstGeom>
          <a:solidFill>
            <a:srgbClr val="FFFFFF"/>
          </a:solidFill>
          <a:ln w="12700">
            <a:solidFill>
              <a:srgbClr val="D3DEE8"/>
            </a:solidFill>
            <a:prstDash val="solid"/>
          </a:ln>
        </p:spPr>
      </p:sp>
      <p:sp>
        <p:nvSpPr>
          <p:cNvPr id="26" name="Text 21">
            <a:extLst>
              <a:ext uri="{FF2B5EF4-FFF2-40B4-BE49-F238E27FC236}">
                <a16:creationId xmlns:a16="http://schemas.microsoft.com/office/drawing/2014/main" id="{FC52B69F-4DDD-CD07-0637-205A08573B67}"/>
              </a:ext>
            </a:extLst>
          </p:cNvPr>
          <p:cNvSpPr/>
          <p:nvPr/>
        </p:nvSpPr>
        <p:spPr>
          <a:xfrm>
            <a:off x="13296900" y="4133850"/>
            <a:ext cx="3752850" cy="2857500"/>
          </a:xfrm>
          <a:custGeom>
            <a:avLst/>
            <a:gdLst/>
            <a:ahLst/>
            <a:cxnLst/>
            <a:rect l="l" t="t" r="r" b="b"/>
            <a:pathLst>
              <a:path w="2501900" h="1905000">
                <a:moveTo>
                  <a:pt x="0" y="114300"/>
                </a:moveTo>
                <a:arcTo wR="114300" hR="114300" stAng="10800000" swAng="5400000"/>
                <a:lnTo>
                  <a:pt x="2387600" y="0"/>
                </a:lnTo>
                <a:arcTo wR="114300" hR="114300" stAng="16200000" swAng="5400000"/>
                <a:lnTo>
                  <a:pt x="2501900" y="1905000"/>
                </a:lnTo>
                <a:lnTo>
                  <a:pt x="0" y="1905000"/>
                </a:lnTo>
                <a:close/>
              </a:path>
            </a:pathLst>
          </a:custGeom>
          <a:solidFill>
            <a:srgbClr val="E9EEF3"/>
          </a:solidFill>
          <a:ln/>
        </p:spPr>
        <p:txBody>
          <a:bodyPr wrap="square" lIns="0" tIns="0" rIns="0" bIns="0" rtlCol="0" anchor="ctr">
            <a:normAutofit/>
          </a:bodyPr>
          <a:lstStyle/>
          <a:p>
            <a:pPr algn="ctr">
              <a:lnSpc>
                <a:spcPts val="2520"/>
              </a:lnSpc>
            </a:pPr>
            <a:r>
              <a:rPr lang="en-US" dirty="0">
                <a:solidFill>
                  <a:srgbClr val="8A96A3"/>
                </a:solidFill>
                <a:latin typeface="Times New Roman"/>
                <a:ea typeface="Times New Roman"/>
                <a:cs typeface="Times New Roman"/>
              </a:rPr>
              <a:t>Photo 4</a:t>
            </a:r>
            <a:endParaRPr lang="en-US" dirty="0"/>
          </a:p>
        </p:txBody>
      </p:sp>
      <p:sp>
        <p:nvSpPr>
          <p:cNvPr id="27" name="Text 22">
            <a:extLst>
              <a:ext uri="{FF2B5EF4-FFF2-40B4-BE49-F238E27FC236}">
                <a16:creationId xmlns:a16="http://schemas.microsoft.com/office/drawing/2014/main" id="{17A2A16A-26AE-8849-8BA9-EBD4BA7B4D19}"/>
              </a:ext>
            </a:extLst>
          </p:cNvPr>
          <p:cNvSpPr/>
          <p:nvPr/>
        </p:nvSpPr>
        <p:spPr>
          <a:xfrm>
            <a:off x="13525501" y="7200900"/>
            <a:ext cx="3394520" cy="358080"/>
          </a:xfrm>
          <a:prstGeom prst="rect">
            <a:avLst/>
          </a:prstGeom>
          <a:noFill/>
          <a:ln/>
        </p:spPr>
        <p:txBody>
          <a:bodyPr wrap="square" lIns="0" tIns="0" rIns="0" bIns="0" rtlCol="0" anchor="t">
            <a:normAutofit/>
          </a:bodyPr>
          <a:lstStyle/>
          <a:p>
            <a:pPr>
              <a:lnSpc>
                <a:spcPts val="2520"/>
              </a:lnSpc>
            </a:pPr>
            <a:r>
              <a:rPr lang="en-US" b="1" kern="0" spc="150" dirty="0">
                <a:solidFill>
                  <a:srgbClr val="13897A"/>
                </a:solidFill>
                <a:latin typeface="Times New Roman"/>
                <a:ea typeface="Times New Roman"/>
                <a:cs typeface="Times New Roman"/>
              </a:rPr>
              <a:t>04 · SHARE</a:t>
            </a:r>
            <a:endParaRPr lang="en-US" dirty="0"/>
          </a:p>
        </p:txBody>
      </p:sp>
      <p:sp>
        <p:nvSpPr>
          <p:cNvPr id="28" name="Text 23">
            <a:extLst>
              <a:ext uri="{FF2B5EF4-FFF2-40B4-BE49-F238E27FC236}">
                <a16:creationId xmlns:a16="http://schemas.microsoft.com/office/drawing/2014/main" id="{264AF852-E4CC-270D-67DA-E0B364D2EEA8}"/>
              </a:ext>
            </a:extLst>
          </p:cNvPr>
          <p:cNvSpPr/>
          <p:nvPr/>
        </p:nvSpPr>
        <p:spPr>
          <a:xfrm>
            <a:off x="13525501" y="7597080"/>
            <a:ext cx="3394520" cy="403770"/>
          </a:xfrm>
          <a:prstGeom prst="rect">
            <a:avLst/>
          </a:prstGeom>
          <a:noFill/>
          <a:ln/>
        </p:spPr>
        <p:txBody>
          <a:bodyPr wrap="square" lIns="0" tIns="0" rIns="0" bIns="0" rtlCol="0" anchor="t">
            <a:normAutofit/>
          </a:bodyPr>
          <a:lstStyle/>
          <a:p>
            <a:pPr>
              <a:lnSpc>
                <a:spcPts val="2880"/>
              </a:lnSpc>
            </a:pPr>
            <a:r>
              <a:rPr lang="en-US" sz="2400" b="1" dirty="0">
                <a:solidFill>
                  <a:srgbClr val="0E3A66"/>
                </a:solidFill>
                <a:latin typeface="Times New Roman" pitchFamily="18" charset="0"/>
                <a:ea typeface="Times New Roman" pitchFamily="18" charset="-122"/>
                <a:cs typeface="Times New Roman" pitchFamily="18" charset="-120"/>
              </a:rPr>
              <a:t>Internal Briefing</a:t>
            </a:r>
            <a:endParaRPr lang="en-US" sz="2400" dirty="0"/>
          </a:p>
        </p:txBody>
      </p:sp>
      <p:sp>
        <p:nvSpPr>
          <p:cNvPr id="29" name="Text 24">
            <a:extLst>
              <a:ext uri="{FF2B5EF4-FFF2-40B4-BE49-F238E27FC236}">
                <a16:creationId xmlns:a16="http://schemas.microsoft.com/office/drawing/2014/main" id="{7E0FFFD7-E775-5A38-5556-73F93DC89641}"/>
              </a:ext>
            </a:extLst>
          </p:cNvPr>
          <p:cNvSpPr/>
          <p:nvPr/>
        </p:nvSpPr>
        <p:spPr>
          <a:xfrm>
            <a:off x="13525501" y="8038952"/>
            <a:ext cx="3394520" cy="655142"/>
          </a:xfrm>
          <a:prstGeom prst="rect">
            <a:avLst/>
          </a:prstGeom>
          <a:noFill/>
          <a:ln/>
        </p:spPr>
        <p:txBody>
          <a:bodyPr wrap="square" lIns="0" tIns="0" rIns="0" bIns="0" rtlCol="0" anchor="t">
            <a:normAutofit/>
          </a:bodyPr>
          <a:lstStyle/>
          <a:p>
            <a:pPr>
              <a:lnSpc>
                <a:spcPts val="2430"/>
              </a:lnSpc>
            </a:pPr>
            <a:r>
              <a:rPr lang="en-US" dirty="0">
                <a:solidFill>
                  <a:srgbClr val="2B2F36"/>
                </a:solidFill>
                <a:latin typeface="Times New Roman"/>
                <a:ea typeface="Times New Roman"/>
                <a:cs typeface="Times New Roman"/>
              </a:rPr>
              <a:t>Sharing the concept and roadmap within TISS</a:t>
            </a:r>
            <a:endParaRPr lang="en-US" dirty="0"/>
          </a:p>
        </p:txBody>
      </p:sp>
      <p:pic>
        <p:nvPicPr>
          <p:cNvPr id="30" name="圖片 29" descr="一張含有 室內, 椅子, 傢俱, 辦公大樓 的圖片&#10;&#10;AI 產生的內容可能不正確。">
            <a:extLst>
              <a:ext uri="{FF2B5EF4-FFF2-40B4-BE49-F238E27FC236}">
                <a16:creationId xmlns:a16="http://schemas.microsoft.com/office/drawing/2014/main" id="{F0BFF5F5-0C0D-AC6C-B63A-54B501BA52BE}"/>
              </a:ext>
            </a:extLst>
          </p:cNvPr>
          <p:cNvPicPr>
            <a:picLocks noChangeAspect="1"/>
          </p:cNvPicPr>
          <p:nvPr/>
        </p:nvPicPr>
        <p:blipFill>
          <a:blip r:embed="rId6" cstate="print">
            <a:extLst>
              <a:ext uri="{28A0092B-C50C-407E-A947-70E740481C1C}">
                <a14:useLocalDpi xmlns:a14="http://schemas.microsoft.com/office/drawing/2010/main" val="0"/>
              </a:ext>
            </a:extLst>
          </a:blip>
          <a:srcRect l="16152" t="29533" r="13901"/>
          <a:stretch/>
        </p:blipFill>
        <p:spPr>
          <a:xfrm>
            <a:off x="1228724" y="4143375"/>
            <a:ext cx="3781427" cy="2857500"/>
          </a:xfrm>
          <a:prstGeom prst="rect">
            <a:avLst/>
          </a:prstGeom>
          <a:effectLst>
            <a:softEdge rad="76200"/>
          </a:effectLst>
        </p:spPr>
      </p:pic>
      <p:pic>
        <p:nvPicPr>
          <p:cNvPr id="31" name="圖片 30">
            <a:extLst>
              <a:ext uri="{FF2B5EF4-FFF2-40B4-BE49-F238E27FC236}">
                <a16:creationId xmlns:a16="http://schemas.microsoft.com/office/drawing/2014/main" id="{18887BA5-6194-E1DD-CC55-3D5B6FE57EC6}"/>
              </a:ext>
            </a:extLst>
          </p:cNvPr>
          <p:cNvPicPr>
            <a:picLocks noChangeAspect="1"/>
          </p:cNvPicPr>
          <p:nvPr/>
        </p:nvPicPr>
        <p:blipFill>
          <a:blip r:embed="rId7" cstate="print">
            <a:extLst>
              <a:ext uri="{28A0092B-C50C-407E-A947-70E740481C1C}">
                <a14:useLocalDpi xmlns:a14="http://schemas.microsoft.com/office/drawing/2010/main" val="0"/>
              </a:ext>
            </a:extLst>
          </a:blip>
          <a:srcRect l="19255" t="27758" r="9239" b="-1"/>
          <a:stretch/>
        </p:blipFill>
        <p:spPr>
          <a:xfrm>
            <a:off x="13306423" y="4156620"/>
            <a:ext cx="3752852" cy="2844255"/>
          </a:xfrm>
          <a:prstGeom prst="rect">
            <a:avLst/>
          </a:prstGeom>
          <a:effectLst>
            <a:softEdge rad="76200"/>
          </a:effectLst>
        </p:spPr>
      </p:pic>
      <p:pic>
        <p:nvPicPr>
          <p:cNvPr id="32" name="圖片 31">
            <a:extLst>
              <a:ext uri="{FF2B5EF4-FFF2-40B4-BE49-F238E27FC236}">
                <a16:creationId xmlns:a16="http://schemas.microsoft.com/office/drawing/2014/main" id="{A41F9C11-2AF0-9541-9BBD-EC08249C707F}"/>
              </a:ext>
            </a:extLst>
          </p:cNvPr>
          <p:cNvPicPr>
            <a:picLocks noChangeAspect="1"/>
          </p:cNvPicPr>
          <p:nvPr/>
        </p:nvPicPr>
        <p:blipFill>
          <a:blip r:embed="rId8">
            <a:extLst>
              <a:ext uri="{28A0092B-C50C-407E-A947-70E740481C1C}">
                <a14:useLocalDpi xmlns:a14="http://schemas.microsoft.com/office/drawing/2010/main" val="0"/>
              </a:ext>
            </a:extLst>
          </a:blip>
          <a:srcRect l="14577" t="38324" r="23925"/>
          <a:stretch/>
        </p:blipFill>
        <p:spPr>
          <a:xfrm>
            <a:off x="9277350" y="4143377"/>
            <a:ext cx="3752850" cy="2857500"/>
          </a:xfrm>
          <a:prstGeom prst="rect">
            <a:avLst/>
          </a:prstGeom>
          <a:effectLst>
            <a:softEdge rad="76200"/>
          </a:effectLst>
        </p:spPr>
      </p:pic>
      <p:pic>
        <p:nvPicPr>
          <p:cNvPr id="33" name="圖片 32">
            <a:extLst>
              <a:ext uri="{FF2B5EF4-FFF2-40B4-BE49-F238E27FC236}">
                <a16:creationId xmlns:a16="http://schemas.microsoft.com/office/drawing/2014/main" id="{EFEB3E57-E5C9-1583-E182-8292168EABBD}"/>
              </a:ext>
            </a:extLst>
          </p:cNvPr>
          <p:cNvPicPr>
            <a:picLocks noChangeAspect="1"/>
          </p:cNvPicPr>
          <p:nvPr/>
        </p:nvPicPr>
        <p:blipFill>
          <a:blip r:embed="rId9" cstate="print">
            <a:extLst>
              <a:ext uri="{28A0092B-C50C-407E-A947-70E740481C1C}">
                <a14:useLocalDpi xmlns:a14="http://schemas.microsoft.com/office/drawing/2010/main" val="0"/>
              </a:ext>
            </a:extLst>
          </a:blip>
          <a:srcRect l="5709" t="9539" r="10781" b="5507"/>
          <a:stretch/>
        </p:blipFill>
        <p:spPr bwMode="auto">
          <a:xfrm>
            <a:off x="5257800" y="4130883"/>
            <a:ext cx="3762375" cy="2869992"/>
          </a:xfrm>
          <a:prstGeom prst="rect">
            <a:avLst/>
          </a:prstGeom>
          <a:noFill/>
          <a:ln>
            <a:noFill/>
          </a:ln>
          <a:effectLst>
            <a:softEdge rad="76200"/>
          </a:effectLst>
        </p:spPr>
      </p:pic>
      <p:grpSp>
        <p:nvGrpSpPr>
          <p:cNvPr id="34" name="Group 2">
            <a:extLst>
              <a:ext uri="{FF2B5EF4-FFF2-40B4-BE49-F238E27FC236}">
                <a16:creationId xmlns:a16="http://schemas.microsoft.com/office/drawing/2014/main" id="{C685E051-9C17-CD28-E859-56737B567006}"/>
              </a:ext>
            </a:extLst>
          </p:cNvPr>
          <p:cNvGrpSpPr/>
          <p:nvPr/>
        </p:nvGrpSpPr>
        <p:grpSpPr>
          <a:xfrm>
            <a:off x="0" y="25405"/>
            <a:ext cx="18288000" cy="3744230"/>
            <a:chOff x="0" y="0"/>
            <a:chExt cx="24384000" cy="4992306"/>
          </a:xfrm>
        </p:grpSpPr>
        <p:sp>
          <p:nvSpPr>
            <p:cNvPr id="35" name="Freeform 3" descr="一張含有 黑暗, 黑色, 螢幕擷取畫面, 光線 的圖片  AI 產生的內容可能不正確。">
              <a:extLst>
                <a:ext uri="{FF2B5EF4-FFF2-40B4-BE49-F238E27FC236}">
                  <a16:creationId xmlns:a16="http://schemas.microsoft.com/office/drawing/2014/main" id="{EC3A2028-58D6-6C30-ACB1-E544600058ED}"/>
                </a:ext>
              </a:extLst>
            </p:cNvPr>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10"/>
              <a:stretch>
                <a:fillRect b="-1"/>
              </a:stretch>
            </a:blipFill>
          </p:spPr>
        </p:sp>
      </p:grpSp>
      <p:sp>
        <p:nvSpPr>
          <p:cNvPr id="36" name="文字方塊 35">
            <a:extLst>
              <a:ext uri="{FF2B5EF4-FFF2-40B4-BE49-F238E27FC236}">
                <a16:creationId xmlns:a16="http://schemas.microsoft.com/office/drawing/2014/main" id="{347DDDCB-ECB6-489C-87E0-0BC386A85ABC}"/>
              </a:ext>
            </a:extLst>
          </p:cNvPr>
          <p:cNvSpPr txBox="1"/>
          <p:nvPr/>
        </p:nvSpPr>
        <p:spPr>
          <a:xfrm>
            <a:off x="11887200" y="-39489"/>
            <a:ext cx="7680960" cy="369332"/>
          </a:xfrm>
          <a:prstGeom prst="rect">
            <a:avLst/>
          </a:prstGeom>
          <a:noFill/>
        </p:spPr>
        <p:txBody>
          <a:bodyPr wrap="square">
            <a:spAutoFit/>
          </a:bodyPr>
          <a:lstStyle/>
          <a:p>
            <a:pPr eaLnBrk="1" fontAlgn="auto" hangingPunct="1"/>
            <a:r>
              <a:rPr lang="en-US" altLang="zh-TW"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rPr>
              <a:t>Department of Sports Technology &amp; Information Development</a:t>
            </a:r>
            <a:endParaRPr lang="zh-TW" altLang="en-US"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07426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5405"/>
            <a:ext cx="18288000" cy="3744230"/>
            <a:chOff x="0" y="0"/>
            <a:chExt cx="24384000" cy="4992306"/>
          </a:xfrm>
        </p:grpSpPr>
        <p:sp>
          <p:nvSpPr>
            <p:cNvPr id="3" name="Freeform 3" descr="一張含有 黑暗, 黑色, 螢幕擷取畫面, 光線 的圖片  AI 產生的內容可能不正確。"/>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3"/>
              <a:stretch>
                <a:fillRect b="-1"/>
              </a:stretch>
            </a:blipFill>
          </p:spPr>
        </p:sp>
      </p:grpSp>
      <p:grpSp>
        <p:nvGrpSpPr>
          <p:cNvPr id="4" name="Group 4"/>
          <p:cNvGrpSpPr/>
          <p:nvPr/>
        </p:nvGrpSpPr>
        <p:grpSpPr>
          <a:xfrm>
            <a:off x="1363409" y="599239"/>
            <a:ext cx="1103243" cy="551060"/>
            <a:chOff x="0" y="0"/>
            <a:chExt cx="1470990" cy="734746"/>
          </a:xfrm>
        </p:grpSpPr>
        <p:sp>
          <p:nvSpPr>
            <p:cNvPr id="5" name="Freeform 5"/>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4"/>
              <a:stretch>
                <a:fillRect t="-221" r="3" b="-226"/>
              </a:stretch>
            </a:blipFill>
          </p:spPr>
        </p:sp>
      </p:grpSp>
      <p:sp>
        <p:nvSpPr>
          <p:cNvPr id="59" name="文字方塊 58">
            <a:extLst>
              <a:ext uri="{FF2B5EF4-FFF2-40B4-BE49-F238E27FC236}">
                <a16:creationId xmlns:a16="http://schemas.microsoft.com/office/drawing/2014/main" id="{99A95D82-6F1B-B931-AA4E-2C9523956F3F}"/>
              </a:ext>
            </a:extLst>
          </p:cNvPr>
          <p:cNvSpPr txBox="1"/>
          <p:nvPr/>
        </p:nvSpPr>
        <p:spPr>
          <a:xfrm>
            <a:off x="11887200" y="-39489"/>
            <a:ext cx="7680960" cy="369332"/>
          </a:xfrm>
          <a:prstGeom prst="rect">
            <a:avLst/>
          </a:prstGeom>
          <a:noFill/>
        </p:spPr>
        <p:txBody>
          <a:bodyPr wrap="square">
            <a:spAutoFit/>
          </a:bodyPr>
          <a:lstStyle/>
          <a:p>
            <a:pPr eaLnBrk="1" fontAlgn="auto" hangingPunct="1"/>
            <a:r>
              <a:rPr lang="en-US" altLang="zh-TW"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rPr>
              <a:t>Department of Sports Technology &amp; Information Development</a:t>
            </a:r>
            <a:endParaRPr lang="zh-TW" altLang="en-US" b="1" dirty="0">
              <a:solidFill>
                <a:srgbClr val="003366"/>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 name="TextBox 4">
            <a:extLst>
              <a:ext uri="{FF2B5EF4-FFF2-40B4-BE49-F238E27FC236}">
                <a16:creationId xmlns:a16="http://schemas.microsoft.com/office/drawing/2014/main" id="{F63A9976-7FD5-3ED0-F6F3-A040EAF22755}"/>
              </a:ext>
            </a:extLst>
          </p:cNvPr>
          <p:cNvSpPr txBox="1"/>
          <p:nvPr/>
        </p:nvSpPr>
        <p:spPr>
          <a:xfrm>
            <a:off x="1427111" y="2904282"/>
            <a:ext cx="9088490" cy="400110"/>
          </a:xfrm>
          <a:prstGeom prst="rect">
            <a:avLst/>
          </a:prstGeom>
          <a:noFill/>
        </p:spPr>
        <p:txBody>
          <a:bodyPr wrap="square" anchor="ctr">
            <a:spAutoFit/>
          </a:bodyPr>
          <a:lstStyle/>
          <a:p>
            <a:pPr algn="l"/>
            <a:r>
              <a:rPr lang="en-US" altLang="zh-TW" sz="2000" dirty="0">
                <a:solidFill>
                  <a:srgbClr val="5A6870"/>
                </a:solidFill>
                <a:latin typeface="Times New Roman" panose="02020603050405020304" pitchFamily="18" charset="0"/>
                <a:cs typeface="Times New Roman" panose="02020603050405020304" pitchFamily="18" charset="0"/>
              </a:rPr>
              <a:t>From Training Needs to Field-Validated Technology</a:t>
            </a:r>
          </a:p>
        </p:txBody>
      </p:sp>
      <p:sp>
        <p:nvSpPr>
          <p:cNvPr id="10" name="TextBox 8">
            <a:extLst>
              <a:ext uri="{FF2B5EF4-FFF2-40B4-BE49-F238E27FC236}">
                <a16:creationId xmlns:a16="http://schemas.microsoft.com/office/drawing/2014/main" id="{C081CD5C-8ACE-7559-8F4D-C3666A623E98}"/>
              </a:ext>
            </a:extLst>
          </p:cNvPr>
          <p:cNvSpPr txBox="1"/>
          <p:nvPr/>
        </p:nvSpPr>
        <p:spPr>
          <a:xfrm>
            <a:off x="1513740" y="1844040"/>
            <a:ext cx="12828418" cy="1394460"/>
          </a:xfrm>
          <a:prstGeom prst="rect">
            <a:avLst/>
          </a:prstGeom>
        </p:spPr>
        <p:txBody>
          <a:bodyPr lIns="0" tIns="0" rIns="0" bIns="0" rtlCol="0" anchor="ctr"/>
          <a:lstStyle/>
          <a:p>
            <a:pPr algn="l">
              <a:lnSpc>
                <a:spcPts val="4284"/>
              </a:lnSpc>
            </a:pPr>
            <a:r>
              <a:rPr lang="en-US" sz="5400" b="1" dirty="0">
                <a:solidFill>
                  <a:srgbClr val="003366"/>
                </a:solidFill>
                <a:latin typeface="Times New Roman"/>
                <a:ea typeface="Times New Roman"/>
                <a:cs typeface="Times New Roman"/>
                <a:sym typeface="Times New Roman"/>
              </a:rPr>
              <a:t>OUR APPROACH</a:t>
            </a:r>
          </a:p>
        </p:txBody>
      </p:sp>
      <p:sp>
        <p:nvSpPr>
          <p:cNvPr id="11" name="Freeform 27">
            <a:extLst>
              <a:ext uri="{FF2B5EF4-FFF2-40B4-BE49-F238E27FC236}">
                <a16:creationId xmlns:a16="http://schemas.microsoft.com/office/drawing/2014/main" id="{C78915BD-3ADC-FB75-C284-ECF2820AEC54}"/>
              </a:ext>
            </a:extLst>
          </p:cNvPr>
          <p:cNvSpPr/>
          <p:nvPr/>
        </p:nvSpPr>
        <p:spPr>
          <a:xfrm>
            <a:off x="799154" y="2252616"/>
            <a:ext cx="455075" cy="455075"/>
          </a:xfrm>
          <a:custGeom>
            <a:avLst/>
            <a:gdLst/>
            <a:ahLst/>
            <a:cxnLst/>
            <a:rect l="l" t="t" r="r" b="b"/>
            <a:pathLst>
              <a:path w="455075" h="455075">
                <a:moveTo>
                  <a:pt x="0" y="0"/>
                </a:moveTo>
                <a:lnTo>
                  <a:pt x="455074" y="0"/>
                </a:lnTo>
                <a:lnTo>
                  <a:pt x="455074" y="455075"/>
                </a:lnTo>
                <a:lnTo>
                  <a:pt x="0" y="45507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4" name="HW title">
            <a:extLst>
              <a:ext uri="{FF2B5EF4-FFF2-40B4-BE49-F238E27FC236}">
                <a16:creationId xmlns:a16="http://schemas.microsoft.com/office/drawing/2014/main" id="{CCC86F18-636A-3E18-FD35-6B119151B267}"/>
              </a:ext>
            </a:extLst>
          </p:cNvPr>
          <p:cNvSpPr txBox="1"/>
          <p:nvPr/>
        </p:nvSpPr>
        <p:spPr>
          <a:xfrm>
            <a:off x="1463040" y="3520440"/>
            <a:ext cx="6400800" cy="457200"/>
          </a:xfrm>
          <a:prstGeom prst="rect">
            <a:avLst/>
          </a:prstGeom>
          <a:noFill/>
        </p:spPr>
        <p:txBody>
          <a:bodyPr wrap="square" lIns="45720" rIns="45720" anchor="t">
            <a:spAutoFit/>
          </a:bodyPr>
          <a:lstStyle/>
          <a:p>
            <a:pPr algn="l">
              <a:lnSpc>
                <a:spcPct val="100000"/>
              </a:lnSpc>
              <a:spcAft>
                <a:spcPts val="0"/>
              </a:spcAft>
              <a:buNone/>
            </a:pPr>
            <a:r>
              <a:rPr sz="2200" b="1">
                <a:solidFill>
                  <a:srgbClr val="1F5C8C"/>
                </a:solidFill>
                <a:latin typeface="Times New Roman"/>
                <a:ea typeface="Times New Roman"/>
                <a:cs typeface="Times New Roman"/>
              </a:rPr>
              <a:t>How We Work</a:t>
            </a:r>
          </a:p>
        </p:txBody>
      </p:sp>
      <p:cxnSp>
        <p:nvCxnSpPr>
          <p:cNvPr id="35" name="Step line">
            <a:extLst>
              <a:ext uri="{FF2B5EF4-FFF2-40B4-BE49-F238E27FC236}">
                <a16:creationId xmlns:a16="http://schemas.microsoft.com/office/drawing/2014/main" id="{10DCF2F9-44A1-B928-2048-2AD0BB2FB502}"/>
              </a:ext>
            </a:extLst>
          </p:cNvPr>
          <p:cNvCxnSpPr/>
          <p:nvPr/>
        </p:nvCxnSpPr>
        <p:spPr>
          <a:xfrm>
            <a:off x="2034540" y="4640579"/>
            <a:ext cx="0" cy="4114801"/>
          </a:xfrm>
          <a:prstGeom prst="line">
            <a:avLst/>
          </a:prstGeom>
          <a:ln w="38100">
            <a:solidFill>
              <a:srgbClr val="C9D8E6"/>
            </a:solidFill>
          </a:ln>
        </p:spPr>
        <p:style>
          <a:lnRef idx="2">
            <a:schemeClr val="accent1"/>
          </a:lnRef>
          <a:fillRef idx="0">
            <a:schemeClr val="accent1"/>
          </a:fillRef>
          <a:effectRef idx="1">
            <a:schemeClr val="accent1"/>
          </a:effectRef>
          <a:fontRef idx="minor">
            <a:schemeClr val="tx1"/>
          </a:fontRef>
        </p:style>
      </p:cxnSp>
      <p:sp>
        <p:nvSpPr>
          <p:cNvPr id="36" name="Step icon 1">
            <a:extLst>
              <a:ext uri="{FF2B5EF4-FFF2-40B4-BE49-F238E27FC236}">
                <a16:creationId xmlns:a16="http://schemas.microsoft.com/office/drawing/2014/main" id="{D7BB7184-1548-45CE-E4BF-726FE4E4338E}"/>
              </a:ext>
            </a:extLst>
          </p:cNvPr>
          <p:cNvSpPr/>
          <p:nvPr/>
        </p:nvSpPr>
        <p:spPr>
          <a:xfrm>
            <a:off x="1600200" y="4206240"/>
            <a:ext cx="868680" cy="868680"/>
          </a:xfrm>
          <a:prstGeom prst="ellipse">
            <a:avLst/>
          </a:prstGeom>
          <a:solidFill>
            <a:srgbClr val="0B6B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Step icon 1 icon" descr="needs.png">
            <a:extLst>
              <a:ext uri="{FF2B5EF4-FFF2-40B4-BE49-F238E27FC236}">
                <a16:creationId xmlns:a16="http://schemas.microsoft.com/office/drawing/2014/main" id="{88622EE4-465D-8507-A2EA-CFB3912CB863}"/>
              </a:ext>
            </a:extLst>
          </p:cNvPr>
          <p:cNvPicPr>
            <a:picLocks noChangeAspect="1"/>
          </p:cNvPicPr>
          <p:nvPr/>
        </p:nvPicPr>
        <p:blipFill>
          <a:blip r:embed="rId7"/>
          <a:stretch>
            <a:fillRect/>
          </a:stretch>
        </p:blipFill>
        <p:spPr>
          <a:xfrm>
            <a:off x="1791309" y="4397349"/>
            <a:ext cx="486460" cy="486460"/>
          </a:xfrm>
          <a:prstGeom prst="rect">
            <a:avLst/>
          </a:prstGeom>
        </p:spPr>
      </p:pic>
      <p:sp>
        <p:nvSpPr>
          <p:cNvPr id="38" name="Step text 1">
            <a:extLst>
              <a:ext uri="{FF2B5EF4-FFF2-40B4-BE49-F238E27FC236}">
                <a16:creationId xmlns:a16="http://schemas.microsoft.com/office/drawing/2014/main" id="{DDE4DFA2-C67F-255D-FA4C-262A836CB8FC}"/>
              </a:ext>
            </a:extLst>
          </p:cNvPr>
          <p:cNvSpPr txBox="1"/>
          <p:nvPr/>
        </p:nvSpPr>
        <p:spPr>
          <a:xfrm>
            <a:off x="2743200" y="4096511"/>
            <a:ext cx="6035040" cy="1174489"/>
          </a:xfrm>
          <a:prstGeom prst="rect">
            <a:avLst/>
          </a:prstGeom>
          <a:noFill/>
        </p:spPr>
        <p:txBody>
          <a:bodyPr wrap="square" lIns="45720" rIns="45720" anchor="t">
            <a:spAutoFit/>
          </a:bodyPr>
          <a:lstStyle/>
          <a:p>
            <a:pPr algn="l">
              <a:lnSpc>
                <a:spcPct val="100000"/>
              </a:lnSpc>
              <a:spcAft>
                <a:spcPts val="200"/>
              </a:spcAft>
              <a:buNone/>
            </a:pPr>
            <a:r>
              <a:rPr sz="2800" b="1" dirty="0">
                <a:solidFill>
                  <a:srgbClr val="1A9E8F"/>
                </a:solidFill>
                <a:latin typeface="Times New Roman"/>
                <a:ea typeface="Times New Roman"/>
                <a:cs typeface="Times New Roman"/>
              </a:rPr>
              <a:t>01  </a:t>
            </a:r>
            <a:r>
              <a:rPr sz="2800" b="1" dirty="0">
                <a:solidFill>
                  <a:srgbClr val="093E68"/>
                </a:solidFill>
                <a:latin typeface="Times New Roman"/>
                <a:ea typeface="Times New Roman"/>
                <a:cs typeface="Times New Roman"/>
              </a:rPr>
              <a:t>Identify Needs</a:t>
            </a:r>
          </a:p>
          <a:p>
            <a:pPr algn="l">
              <a:lnSpc>
                <a:spcPct val="105000"/>
              </a:lnSpc>
              <a:spcAft>
                <a:spcPts val="0"/>
              </a:spcAft>
              <a:buNone/>
            </a:pPr>
            <a:r>
              <a:rPr sz="2000" b="0" dirty="0">
                <a:solidFill>
                  <a:srgbClr val="333333"/>
                </a:solidFill>
                <a:latin typeface="Times New Roman"/>
                <a:ea typeface="Times New Roman"/>
                <a:cs typeface="Times New Roman"/>
              </a:rPr>
              <a:t>Listen to coaches, athletes and sports scientists to define practical problems</a:t>
            </a:r>
          </a:p>
        </p:txBody>
      </p:sp>
      <p:sp>
        <p:nvSpPr>
          <p:cNvPr id="39" name="Step icon 2">
            <a:extLst>
              <a:ext uri="{FF2B5EF4-FFF2-40B4-BE49-F238E27FC236}">
                <a16:creationId xmlns:a16="http://schemas.microsoft.com/office/drawing/2014/main" id="{2F515E11-DCA4-2ECB-F82B-EC977059AD8D}"/>
              </a:ext>
            </a:extLst>
          </p:cNvPr>
          <p:cNvSpPr/>
          <p:nvPr/>
        </p:nvSpPr>
        <p:spPr>
          <a:xfrm>
            <a:off x="1600200" y="5577840"/>
            <a:ext cx="868680" cy="868680"/>
          </a:xfrm>
          <a:prstGeom prst="ellipse">
            <a:avLst/>
          </a:prstGeom>
          <a:solidFill>
            <a:srgbClr val="128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Step icon 2 icon" descr="dev.png">
            <a:extLst>
              <a:ext uri="{FF2B5EF4-FFF2-40B4-BE49-F238E27FC236}">
                <a16:creationId xmlns:a16="http://schemas.microsoft.com/office/drawing/2014/main" id="{2ED9E04C-9839-B369-36F5-2477E9497A28}"/>
              </a:ext>
            </a:extLst>
          </p:cNvPr>
          <p:cNvPicPr>
            <a:picLocks noChangeAspect="1"/>
          </p:cNvPicPr>
          <p:nvPr/>
        </p:nvPicPr>
        <p:blipFill>
          <a:blip r:embed="rId8"/>
          <a:stretch>
            <a:fillRect/>
          </a:stretch>
        </p:blipFill>
        <p:spPr>
          <a:xfrm>
            <a:off x="1791309" y="5768949"/>
            <a:ext cx="486460" cy="486460"/>
          </a:xfrm>
          <a:prstGeom prst="rect">
            <a:avLst/>
          </a:prstGeom>
        </p:spPr>
      </p:pic>
      <p:sp>
        <p:nvSpPr>
          <p:cNvPr id="41" name="Step text 2">
            <a:extLst>
              <a:ext uri="{FF2B5EF4-FFF2-40B4-BE49-F238E27FC236}">
                <a16:creationId xmlns:a16="http://schemas.microsoft.com/office/drawing/2014/main" id="{7669B4A3-0441-96B5-B4F5-39D5F7A99CEF}"/>
              </a:ext>
            </a:extLst>
          </p:cNvPr>
          <p:cNvSpPr txBox="1"/>
          <p:nvPr/>
        </p:nvSpPr>
        <p:spPr>
          <a:xfrm>
            <a:off x="2743200" y="5468112"/>
            <a:ext cx="6035040" cy="1174489"/>
          </a:xfrm>
          <a:prstGeom prst="rect">
            <a:avLst/>
          </a:prstGeom>
          <a:noFill/>
        </p:spPr>
        <p:txBody>
          <a:bodyPr wrap="square" lIns="45720" rIns="45720" anchor="t">
            <a:spAutoFit/>
          </a:bodyPr>
          <a:lstStyle/>
          <a:p>
            <a:pPr algn="l">
              <a:lnSpc>
                <a:spcPct val="100000"/>
              </a:lnSpc>
              <a:spcAft>
                <a:spcPts val="200"/>
              </a:spcAft>
              <a:buNone/>
            </a:pPr>
            <a:r>
              <a:rPr sz="2800" b="1" dirty="0">
                <a:solidFill>
                  <a:srgbClr val="1A9E8F"/>
                </a:solidFill>
                <a:latin typeface="Times New Roman"/>
                <a:ea typeface="Times New Roman"/>
                <a:cs typeface="Times New Roman"/>
              </a:rPr>
              <a:t>02  </a:t>
            </a:r>
            <a:r>
              <a:rPr sz="2800" b="1" dirty="0">
                <a:solidFill>
                  <a:srgbClr val="093E68"/>
                </a:solidFill>
                <a:latin typeface="Times New Roman"/>
                <a:ea typeface="Times New Roman"/>
                <a:cs typeface="Times New Roman"/>
              </a:rPr>
              <a:t>Develop &amp; Integrate</a:t>
            </a:r>
          </a:p>
          <a:p>
            <a:pPr algn="l">
              <a:lnSpc>
                <a:spcPct val="105000"/>
              </a:lnSpc>
              <a:spcAft>
                <a:spcPts val="0"/>
              </a:spcAft>
              <a:buNone/>
            </a:pPr>
            <a:r>
              <a:rPr sz="2000" b="0" dirty="0">
                <a:solidFill>
                  <a:srgbClr val="333333"/>
                </a:solidFill>
                <a:latin typeface="Times New Roman"/>
                <a:ea typeface="Times New Roman"/>
                <a:cs typeface="Times New Roman"/>
              </a:rPr>
              <a:t>Combine in-house R&amp;D with university and industry expertise</a:t>
            </a:r>
          </a:p>
        </p:txBody>
      </p:sp>
      <p:sp>
        <p:nvSpPr>
          <p:cNvPr id="42" name="Step icon 3">
            <a:extLst>
              <a:ext uri="{FF2B5EF4-FFF2-40B4-BE49-F238E27FC236}">
                <a16:creationId xmlns:a16="http://schemas.microsoft.com/office/drawing/2014/main" id="{24F2362A-205D-08D6-0AAC-07BB19DFA3A3}"/>
              </a:ext>
            </a:extLst>
          </p:cNvPr>
          <p:cNvSpPr/>
          <p:nvPr/>
        </p:nvSpPr>
        <p:spPr>
          <a:xfrm>
            <a:off x="1600200" y="6949440"/>
            <a:ext cx="868680" cy="868680"/>
          </a:xfrm>
          <a:prstGeom prst="ellipse">
            <a:avLst/>
          </a:prstGeom>
          <a:solidFill>
            <a:srgbClr val="3FA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Step icon 3 icon" descr="field.png">
            <a:extLst>
              <a:ext uri="{FF2B5EF4-FFF2-40B4-BE49-F238E27FC236}">
                <a16:creationId xmlns:a16="http://schemas.microsoft.com/office/drawing/2014/main" id="{FE6356B9-7541-4E86-8369-8DCA348E29B0}"/>
              </a:ext>
            </a:extLst>
          </p:cNvPr>
          <p:cNvPicPr>
            <a:picLocks noChangeAspect="1"/>
          </p:cNvPicPr>
          <p:nvPr/>
        </p:nvPicPr>
        <p:blipFill>
          <a:blip r:embed="rId9"/>
          <a:stretch>
            <a:fillRect/>
          </a:stretch>
        </p:blipFill>
        <p:spPr>
          <a:xfrm>
            <a:off x="1791309" y="7140549"/>
            <a:ext cx="486460" cy="486460"/>
          </a:xfrm>
          <a:prstGeom prst="rect">
            <a:avLst/>
          </a:prstGeom>
        </p:spPr>
      </p:pic>
      <p:sp>
        <p:nvSpPr>
          <p:cNvPr id="44" name="Step text 3">
            <a:extLst>
              <a:ext uri="{FF2B5EF4-FFF2-40B4-BE49-F238E27FC236}">
                <a16:creationId xmlns:a16="http://schemas.microsoft.com/office/drawing/2014/main" id="{996A020C-3082-1BE4-ECCC-A1E8CD3E387D}"/>
              </a:ext>
            </a:extLst>
          </p:cNvPr>
          <p:cNvSpPr txBox="1"/>
          <p:nvPr/>
        </p:nvSpPr>
        <p:spPr>
          <a:xfrm>
            <a:off x="2743200" y="6839712"/>
            <a:ext cx="6035040" cy="1174489"/>
          </a:xfrm>
          <a:prstGeom prst="rect">
            <a:avLst/>
          </a:prstGeom>
          <a:noFill/>
        </p:spPr>
        <p:txBody>
          <a:bodyPr wrap="square" lIns="45720" rIns="45720" anchor="t">
            <a:spAutoFit/>
          </a:bodyPr>
          <a:lstStyle/>
          <a:p>
            <a:pPr algn="l">
              <a:lnSpc>
                <a:spcPct val="100000"/>
              </a:lnSpc>
              <a:spcAft>
                <a:spcPts val="200"/>
              </a:spcAft>
              <a:buNone/>
            </a:pPr>
            <a:r>
              <a:rPr sz="2800" b="1" dirty="0">
                <a:solidFill>
                  <a:srgbClr val="1A9E8F"/>
                </a:solidFill>
                <a:latin typeface="Times New Roman"/>
                <a:ea typeface="Times New Roman"/>
                <a:cs typeface="Times New Roman"/>
              </a:rPr>
              <a:t>03  </a:t>
            </a:r>
            <a:r>
              <a:rPr sz="2800" b="1" dirty="0">
                <a:solidFill>
                  <a:srgbClr val="093E68"/>
                </a:solidFill>
                <a:latin typeface="Times New Roman"/>
                <a:ea typeface="Times New Roman"/>
                <a:cs typeface="Times New Roman"/>
              </a:rPr>
              <a:t>Validate in the Field</a:t>
            </a:r>
          </a:p>
          <a:p>
            <a:pPr algn="l">
              <a:lnSpc>
                <a:spcPct val="105000"/>
              </a:lnSpc>
              <a:spcAft>
                <a:spcPts val="0"/>
              </a:spcAft>
              <a:buNone/>
            </a:pPr>
            <a:r>
              <a:rPr sz="2000" b="0" dirty="0">
                <a:solidFill>
                  <a:srgbClr val="333333"/>
                </a:solidFill>
                <a:latin typeface="Times New Roman"/>
                <a:ea typeface="Times New Roman"/>
                <a:cs typeface="Times New Roman"/>
              </a:rPr>
              <a:t>Test and refine in national training venues and competitions</a:t>
            </a:r>
          </a:p>
        </p:txBody>
      </p:sp>
      <p:sp>
        <p:nvSpPr>
          <p:cNvPr id="45" name="Step icon 4">
            <a:extLst>
              <a:ext uri="{FF2B5EF4-FFF2-40B4-BE49-F238E27FC236}">
                <a16:creationId xmlns:a16="http://schemas.microsoft.com/office/drawing/2014/main" id="{4D943749-BD38-7B32-5C3C-F58527CBD628}"/>
              </a:ext>
            </a:extLst>
          </p:cNvPr>
          <p:cNvSpPr/>
          <p:nvPr/>
        </p:nvSpPr>
        <p:spPr>
          <a:xfrm>
            <a:off x="1600200" y="8321040"/>
            <a:ext cx="868680" cy="868680"/>
          </a:xfrm>
          <a:prstGeom prst="ellipse">
            <a:avLst/>
          </a:prstGeom>
          <a:solidFill>
            <a:srgbClr val="093E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Step icon 4 icon" descr="fb.png">
            <a:extLst>
              <a:ext uri="{FF2B5EF4-FFF2-40B4-BE49-F238E27FC236}">
                <a16:creationId xmlns:a16="http://schemas.microsoft.com/office/drawing/2014/main" id="{1F079092-9323-5834-E80D-00A8BD8C3D00}"/>
              </a:ext>
            </a:extLst>
          </p:cNvPr>
          <p:cNvPicPr>
            <a:picLocks noChangeAspect="1"/>
          </p:cNvPicPr>
          <p:nvPr/>
        </p:nvPicPr>
        <p:blipFill>
          <a:blip r:embed="rId10"/>
          <a:stretch>
            <a:fillRect/>
          </a:stretch>
        </p:blipFill>
        <p:spPr>
          <a:xfrm>
            <a:off x="1791309" y="8512149"/>
            <a:ext cx="486460" cy="486460"/>
          </a:xfrm>
          <a:prstGeom prst="rect">
            <a:avLst/>
          </a:prstGeom>
        </p:spPr>
      </p:pic>
      <p:sp>
        <p:nvSpPr>
          <p:cNvPr id="47" name="Step text 4">
            <a:extLst>
              <a:ext uri="{FF2B5EF4-FFF2-40B4-BE49-F238E27FC236}">
                <a16:creationId xmlns:a16="http://schemas.microsoft.com/office/drawing/2014/main" id="{7EF0B08B-C66A-0F4C-293D-940C71F11910}"/>
              </a:ext>
            </a:extLst>
          </p:cNvPr>
          <p:cNvSpPr txBox="1"/>
          <p:nvPr/>
        </p:nvSpPr>
        <p:spPr>
          <a:xfrm>
            <a:off x="2743200" y="8211312"/>
            <a:ext cx="6035040" cy="1174489"/>
          </a:xfrm>
          <a:prstGeom prst="rect">
            <a:avLst/>
          </a:prstGeom>
          <a:noFill/>
        </p:spPr>
        <p:txBody>
          <a:bodyPr wrap="square" lIns="45720" rIns="45720" anchor="t">
            <a:spAutoFit/>
          </a:bodyPr>
          <a:lstStyle/>
          <a:p>
            <a:pPr algn="l">
              <a:lnSpc>
                <a:spcPct val="100000"/>
              </a:lnSpc>
              <a:spcAft>
                <a:spcPts val="200"/>
              </a:spcAft>
              <a:buNone/>
            </a:pPr>
            <a:r>
              <a:rPr sz="2800" b="1">
                <a:solidFill>
                  <a:srgbClr val="1A9E8F"/>
                </a:solidFill>
                <a:latin typeface="Times New Roman"/>
                <a:ea typeface="Times New Roman"/>
                <a:cs typeface="Times New Roman"/>
              </a:rPr>
              <a:t>04  </a:t>
            </a:r>
            <a:r>
              <a:rPr sz="2800" b="1">
                <a:solidFill>
                  <a:srgbClr val="093E68"/>
                </a:solidFill>
                <a:latin typeface="Times New Roman"/>
                <a:ea typeface="Times New Roman"/>
                <a:cs typeface="Times New Roman"/>
              </a:rPr>
              <a:t>Feed Back &amp; Transfer</a:t>
            </a:r>
          </a:p>
          <a:p>
            <a:pPr algn="l">
              <a:lnSpc>
                <a:spcPct val="105000"/>
              </a:lnSpc>
              <a:spcAft>
                <a:spcPts val="0"/>
              </a:spcAft>
              <a:buNone/>
            </a:pPr>
            <a:r>
              <a:rPr sz="2000" b="0">
                <a:solidFill>
                  <a:srgbClr val="333333"/>
                </a:solidFill>
                <a:latin typeface="Times New Roman"/>
                <a:ea typeface="Times New Roman"/>
                <a:cs typeface="Times New Roman"/>
              </a:rPr>
              <a:t>Deliver data feedback to users and transfer technology to industry</a:t>
            </a:r>
          </a:p>
        </p:txBody>
      </p:sp>
      <p:sp>
        <p:nvSpPr>
          <p:cNvPr id="48" name="CN title">
            <a:extLst>
              <a:ext uri="{FF2B5EF4-FFF2-40B4-BE49-F238E27FC236}">
                <a16:creationId xmlns:a16="http://schemas.microsoft.com/office/drawing/2014/main" id="{7060CF83-7A57-544F-21CC-54121AF01C43}"/>
              </a:ext>
            </a:extLst>
          </p:cNvPr>
          <p:cNvSpPr txBox="1"/>
          <p:nvPr/>
        </p:nvSpPr>
        <p:spPr>
          <a:xfrm>
            <a:off x="9509760" y="3520440"/>
            <a:ext cx="7315200" cy="457200"/>
          </a:xfrm>
          <a:prstGeom prst="rect">
            <a:avLst/>
          </a:prstGeom>
          <a:noFill/>
        </p:spPr>
        <p:txBody>
          <a:bodyPr wrap="square" lIns="45720" rIns="45720" anchor="t">
            <a:spAutoFit/>
          </a:bodyPr>
          <a:lstStyle/>
          <a:p>
            <a:pPr algn="l">
              <a:lnSpc>
                <a:spcPct val="100000"/>
              </a:lnSpc>
              <a:spcAft>
                <a:spcPts val="0"/>
              </a:spcAft>
              <a:buNone/>
            </a:pPr>
            <a:r>
              <a:rPr sz="2200" b="1">
                <a:solidFill>
                  <a:srgbClr val="1F5C8C"/>
                </a:solidFill>
                <a:latin typeface="Times New Roman"/>
                <a:ea typeface="Times New Roman"/>
                <a:cs typeface="Times New Roman"/>
              </a:rPr>
              <a:t>Collaboration Network</a:t>
            </a:r>
          </a:p>
        </p:txBody>
      </p:sp>
      <p:cxnSp>
        <p:nvCxnSpPr>
          <p:cNvPr id="49" name="Link Universities">
            <a:extLst>
              <a:ext uri="{FF2B5EF4-FFF2-40B4-BE49-F238E27FC236}">
                <a16:creationId xmlns:a16="http://schemas.microsoft.com/office/drawing/2014/main" id="{7DA56239-A3E0-1690-4A03-B7B84287004F}"/>
              </a:ext>
            </a:extLst>
          </p:cNvPr>
          <p:cNvCxnSpPr/>
          <p:nvPr/>
        </p:nvCxnSpPr>
        <p:spPr>
          <a:xfrm flipH="1" flipV="1">
            <a:off x="12710159" y="5623559"/>
            <a:ext cx="868681" cy="1188721"/>
          </a:xfrm>
          <a:prstGeom prst="line">
            <a:avLst/>
          </a:prstGeom>
          <a:ln w="31750">
            <a:solidFill>
              <a:srgbClr val="C9D8E6"/>
            </a:solidFill>
          </a:ln>
        </p:spPr>
        <p:style>
          <a:lnRef idx="2">
            <a:schemeClr val="accent1"/>
          </a:lnRef>
          <a:fillRef idx="0">
            <a:schemeClr val="accent1"/>
          </a:fillRef>
          <a:effectRef idx="1">
            <a:schemeClr val="accent1"/>
          </a:effectRef>
          <a:fontRef idx="minor">
            <a:schemeClr val="tx1"/>
          </a:fontRef>
        </p:style>
      </p:cxnSp>
      <p:cxnSp>
        <p:nvCxnSpPr>
          <p:cNvPr id="50" name="Link Research Institutes">
            <a:extLst>
              <a:ext uri="{FF2B5EF4-FFF2-40B4-BE49-F238E27FC236}">
                <a16:creationId xmlns:a16="http://schemas.microsoft.com/office/drawing/2014/main" id="{ACD53EC7-C2DB-5E92-63B6-8B0ED8408397}"/>
              </a:ext>
            </a:extLst>
          </p:cNvPr>
          <p:cNvCxnSpPr/>
          <p:nvPr/>
        </p:nvCxnSpPr>
        <p:spPr>
          <a:xfrm flipV="1">
            <a:off x="13578840" y="5623559"/>
            <a:ext cx="914400" cy="1188721"/>
          </a:xfrm>
          <a:prstGeom prst="line">
            <a:avLst/>
          </a:prstGeom>
          <a:ln w="31750">
            <a:solidFill>
              <a:srgbClr val="C9D8E6"/>
            </a:solidFill>
          </a:ln>
        </p:spPr>
        <p:style>
          <a:lnRef idx="2">
            <a:schemeClr val="accent1"/>
          </a:lnRef>
          <a:fillRef idx="0">
            <a:schemeClr val="accent1"/>
          </a:fillRef>
          <a:effectRef idx="1">
            <a:schemeClr val="accent1"/>
          </a:effectRef>
          <a:fontRef idx="minor">
            <a:schemeClr val="tx1"/>
          </a:fontRef>
        </p:style>
      </p:cxnSp>
      <p:cxnSp>
        <p:nvCxnSpPr>
          <p:cNvPr id="51" name="Link Sports Tech Industry">
            <a:extLst>
              <a:ext uri="{FF2B5EF4-FFF2-40B4-BE49-F238E27FC236}">
                <a16:creationId xmlns:a16="http://schemas.microsoft.com/office/drawing/2014/main" id="{5A5DD028-B17B-92F6-1791-BC3E4851481F}"/>
              </a:ext>
            </a:extLst>
          </p:cNvPr>
          <p:cNvCxnSpPr/>
          <p:nvPr/>
        </p:nvCxnSpPr>
        <p:spPr>
          <a:xfrm flipH="1">
            <a:off x="12710159" y="6812280"/>
            <a:ext cx="868681" cy="1280160"/>
          </a:xfrm>
          <a:prstGeom prst="line">
            <a:avLst/>
          </a:prstGeom>
          <a:ln w="31750">
            <a:solidFill>
              <a:srgbClr val="C9D8E6"/>
            </a:solidFill>
          </a:ln>
        </p:spPr>
        <p:style>
          <a:lnRef idx="2">
            <a:schemeClr val="accent1"/>
          </a:lnRef>
          <a:fillRef idx="0">
            <a:schemeClr val="accent1"/>
          </a:fillRef>
          <a:effectRef idx="1">
            <a:schemeClr val="accent1"/>
          </a:effectRef>
          <a:fontRef idx="minor">
            <a:schemeClr val="tx1"/>
          </a:fontRef>
        </p:style>
      </p:cxnSp>
      <p:cxnSp>
        <p:nvCxnSpPr>
          <p:cNvPr id="52" name="Link International Partners">
            <a:extLst>
              <a:ext uri="{FF2B5EF4-FFF2-40B4-BE49-F238E27FC236}">
                <a16:creationId xmlns:a16="http://schemas.microsoft.com/office/drawing/2014/main" id="{70E8A82B-8555-050E-33F1-4C89004BC9E0}"/>
              </a:ext>
            </a:extLst>
          </p:cNvPr>
          <p:cNvCxnSpPr/>
          <p:nvPr/>
        </p:nvCxnSpPr>
        <p:spPr>
          <a:xfrm>
            <a:off x="13578840" y="6812280"/>
            <a:ext cx="914400" cy="1280160"/>
          </a:xfrm>
          <a:prstGeom prst="line">
            <a:avLst/>
          </a:prstGeom>
          <a:ln w="31750">
            <a:solidFill>
              <a:srgbClr val="C9D8E6"/>
            </a:solidFill>
          </a:ln>
        </p:spPr>
        <p:style>
          <a:lnRef idx="2">
            <a:schemeClr val="accent1"/>
          </a:lnRef>
          <a:fillRef idx="0">
            <a:schemeClr val="accent1"/>
          </a:fillRef>
          <a:effectRef idx="1">
            <a:schemeClr val="accent1"/>
          </a:effectRef>
          <a:fontRef idx="minor">
            <a:schemeClr val="tx1"/>
          </a:fontRef>
        </p:style>
      </p:cxnSp>
      <p:sp>
        <p:nvSpPr>
          <p:cNvPr id="53" name="Hub">
            <a:extLst>
              <a:ext uri="{FF2B5EF4-FFF2-40B4-BE49-F238E27FC236}">
                <a16:creationId xmlns:a16="http://schemas.microsoft.com/office/drawing/2014/main" id="{B6DD8FF0-1DCA-2960-813E-484F3E0E42AA}"/>
              </a:ext>
            </a:extLst>
          </p:cNvPr>
          <p:cNvSpPr/>
          <p:nvPr/>
        </p:nvSpPr>
        <p:spPr>
          <a:xfrm>
            <a:off x="12504419" y="5737860"/>
            <a:ext cx="2148840" cy="2148840"/>
          </a:xfrm>
          <a:prstGeom prst="ellipse">
            <a:avLst/>
          </a:prstGeom>
          <a:solidFill>
            <a:srgbClr val="093E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0"/>
              </a:spcAft>
              <a:buNone/>
            </a:pPr>
            <a:r>
              <a:rPr b="1" dirty="0">
                <a:solidFill>
                  <a:srgbClr val="FFFFFF"/>
                </a:solidFill>
                <a:latin typeface="Times New Roman"/>
                <a:ea typeface="Times New Roman"/>
                <a:cs typeface="Times New Roman"/>
              </a:rPr>
              <a:t>Sports Technology &amp;</a:t>
            </a:r>
          </a:p>
          <a:p>
            <a:pPr algn="ctr">
              <a:lnSpc>
                <a:spcPct val="100000"/>
              </a:lnSpc>
              <a:spcAft>
                <a:spcPts val="0"/>
              </a:spcAft>
              <a:buNone/>
            </a:pPr>
            <a:r>
              <a:rPr b="1" dirty="0">
                <a:solidFill>
                  <a:srgbClr val="FFFFFF"/>
                </a:solidFill>
                <a:latin typeface="Times New Roman"/>
                <a:ea typeface="Times New Roman"/>
                <a:cs typeface="Times New Roman"/>
              </a:rPr>
              <a:t>Information</a:t>
            </a:r>
          </a:p>
          <a:p>
            <a:pPr algn="ctr">
              <a:lnSpc>
                <a:spcPct val="100000"/>
              </a:lnSpc>
              <a:spcAft>
                <a:spcPts val="0"/>
              </a:spcAft>
              <a:buNone/>
            </a:pPr>
            <a:r>
              <a:rPr b="1" dirty="0">
                <a:solidFill>
                  <a:srgbClr val="FFFFFF"/>
                </a:solidFill>
                <a:latin typeface="Times New Roman"/>
                <a:ea typeface="Times New Roman"/>
                <a:cs typeface="Times New Roman"/>
              </a:rPr>
              <a:t>Development</a:t>
            </a:r>
          </a:p>
        </p:txBody>
      </p:sp>
      <p:sp>
        <p:nvSpPr>
          <p:cNvPr id="54" name="Node Universities">
            <a:extLst>
              <a:ext uri="{FF2B5EF4-FFF2-40B4-BE49-F238E27FC236}">
                <a16:creationId xmlns:a16="http://schemas.microsoft.com/office/drawing/2014/main" id="{1707931D-8389-5759-CED9-3323F6F60249}"/>
              </a:ext>
            </a:extLst>
          </p:cNvPr>
          <p:cNvSpPr/>
          <p:nvPr/>
        </p:nvSpPr>
        <p:spPr>
          <a:xfrm>
            <a:off x="9555480" y="4206240"/>
            <a:ext cx="3154680" cy="1417320"/>
          </a:xfrm>
          <a:prstGeom prst="roundRect">
            <a:avLst>
              <a:gd name="adj" fmla="val 12000"/>
            </a:avLst>
          </a:prstGeom>
          <a:solidFill>
            <a:srgbClr val="F3F7FA"/>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Node icon Universities">
            <a:extLst>
              <a:ext uri="{FF2B5EF4-FFF2-40B4-BE49-F238E27FC236}">
                <a16:creationId xmlns:a16="http://schemas.microsoft.com/office/drawing/2014/main" id="{A325F8DB-0180-F6F6-D2AF-741DF16F115A}"/>
              </a:ext>
            </a:extLst>
          </p:cNvPr>
          <p:cNvSpPr/>
          <p:nvPr/>
        </p:nvSpPr>
        <p:spPr>
          <a:xfrm>
            <a:off x="9738359" y="4594859"/>
            <a:ext cx="640080" cy="640080"/>
          </a:xfrm>
          <a:prstGeom prst="ellipse">
            <a:avLst/>
          </a:prstGeom>
          <a:solidFill>
            <a:srgbClr val="128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6" name="Node icon Universities icon" descr="uni.png">
            <a:extLst>
              <a:ext uri="{FF2B5EF4-FFF2-40B4-BE49-F238E27FC236}">
                <a16:creationId xmlns:a16="http://schemas.microsoft.com/office/drawing/2014/main" id="{F6F13D0B-A356-242F-9274-6BDD9E393A89}"/>
              </a:ext>
            </a:extLst>
          </p:cNvPr>
          <p:cNvPicPr>
            <a:picLocks noChangeAspect="1"/>
          </p:cNvPicPr>
          <p:nvPr/>
        </p:nvPicPr>
        <p:blipFill>
          <a:blip r:embed="rId11"/>
          <a:stretch>
            <a:fillRect/>
          </a:stretch>
        </p:blipFill>
        <p:spPr>
          <a:xfrm>
            <a:off x="9879177" y="4735677"/>
            <a:ext cx="358444" cy="358444"/>
          </a:xfrm>
          <a:prstGeom prst="rect">
            <a:avLst/>
          </a:prstGeom>
        </p:spPr>
      </p:pic>
      <p:sp>
        <p:nvSpPr>
          <p:cNvPr id="57" name="Node text Universities">
            <a:extLst>
              <a:ext uri="{FF2B5EF4-FFF2-40B4-BE49-F238E27FC236}">
                <a16:creationId xmlns:a16="http://schemas.microsoft.com/office/drawing/2014/main" id="{40900920-8BB5-68C6-8D49-74697240473A}"/>
              </a:ext>
            </a:extLst>
          </p:cNvPr>
          <p:cNvSpPr txBox="1"/>
          <p:nvPr/>
        </p:nvSpPr>
        <p:spPr>
          <a:xfrm>
            <a:off x="10469880" y="4425023"/>
            <a:ext cx="2148840" cy="979755"/>
          </a:xfrm>
          <a:prstGeom prst="rect">
            <a:avLst/>
          </a:prstGeom>
          <a:noFill/>
        </p:spPr>
        <p:txBody>
          <a:bodyPr wrap="square" lIns="45720" rIns="45720" anchor="ctr">
            <a:spAutoFit/>
          </a:bodyPr>
          <a:lstStyle/>
          <a:p>
            <a:pPr algn="l">
              <a:lnSpc>
                <a:spcPct val="100000"/>
              </a:lnSpc>
              <a:spcAft>
                <a:spcPts val="200"/>
              </a:spcAft>
              <a:buNone/>
            </a:pPr>
            <a:r>
              <a:rPr sz="2000" b="1" dirty="0">
                <a:solidFill>
                  <a:srgbClr val="093E68"/>
                </a:solidFill>
                <a:latin typeface="Times New Roman"/>
                <a:ea typeface="Times New Roman"/>
                <a:cs typeface="Times New Roman"/>
              </a:rPr>
              <a:t>Universities</a:t>
            </a:r>
          </a:p>
          <a:p>
            <a:pPr algn="l">
              <a:lnSpc>
                <a:spcPct val="100000"/>
              </a:lnSpc>
              <a:spcAft>
                <a:spcPts val="0"/>
              </a:spcAft>
              <a:buNone/>
            </a:pPr>
            <a:r>
              <a:rPr b="0" dirty="0">
                <a:solidFill>
                  <a:srgbClr val="333333"/>
                </a:solidFill>
                <a:latin typeface="Times New Roman"/>
                <a:ea typeface="Times New Roman"/>
                <a:cs typeface="Times New Roman"/>
              </a:rPr>
              <a:t>Joint research and student internships</a:t>
            </a:r>
          </a:p>
        </p:txBody>
      </p:sp>
      <p:sp>
        <p:nvSpPr>
          <p:cNvPr id="58" name="Node Research Institutes">
            <a:extLst>
              <a:ext uri="{FF2B5EF4-FFF2-40B4-BE49-F238E27FC236}">
                <a16:creationId xmlns:a16="http://schemas.microsoft.com/office/drawing/2014/main" id="{CE60C4A2-B025-F961-FD05-33D145BA085A}"/>
              </a:ext>
            </a:extLst>
          </p:cNvPr>
          <p:cNvSpPr/>
          <p:nvPr/>
        </p:nvSpPr>
        <p:spPr>
          <a:xfrm>
            <a:off x="14493240" y="4206240"/>
            <a:ext cx="3154680" cy="1417320"/>
          </a:xfrm>
          <a:prstGeom prst="roundRect">
            <a:avLst>
              <a:gd name="adj" fmla="val 12000"/>
            </a:avLst>
          </a:prstGeom>
          <a:solidFill>
            <a:srgbClr val="F3F7FA"/>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Node icon Research Institutes">
            <a:extLst>
              <a:ext uri="{FF2B5EF4-FFF2-40B4-BE49-F238E27FC236}">
                <a16:creationId xmlns:a16="http://schemas.microsoft.com/office/drawing/2014/main" id="{E0B8CD19-F1FA-B383-53FB-0A46DE701B15}"/>
              </a:ext>
            </a:extLst>
          </p:cNvPr>
          <p:cNvSpPr/>
          <p:nvPr/>
        </p:nvSpPr>
        <p:spPr>
          <a:xfrm>
            <a:off x="14676120" y="4594859"/>
            <a:ext cx="640080" cy="640080"/>
          </a:xfrm>
          <a:prstGeom prst="ellipse">
            <a:avLst/>
          </a:prstGeom>
          <a:solidFill>
            <a:srgbClr val="128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1" name="Node icon Research Institutes icon" descr="inst.png">
            <a:extLst>
              <a:ext uri="{FF2B5EF4-FFF2-40B4-BE49-F238E27FC236}">
                <a16:creationId xmlns:a16="http://schemas.microsoft.com/office/drawing/2014/main" id="{FB83C57C-401C-90AC-2948-B070FAB2BAD9}"/>
              </a:ext>
            </a:extLst>
          </p:cNvPr>
          <p:cNvPicPr>
            <a:picLocks noChangeAspect="1"/>
          </p:cNvPicPr>
          <p:nvPr/>
        </p:nvPicPr>
        <p:blipFill>
          <a:blip r:embed="rId12"/>
          <a:stretch>
            <a:fillRect/>
          </a:stretch>
        </p:blipFill>
        <p:spPr>
          <a:xfrm>
            <a:off x="14816937" y="4735677"/>
            <a:ext cx="358444" cy="358444"/>
          </a:xfrm>
          <a:prstGeom prst="rect">
            <a:avLst/>
          </a:prstGeom>
        </p:spPr>
      </p:pic>
      <p:sp>
        <p:nvSpPr>
          <p:cNvPr id="62" name="Node text Research Institutes">
            <a:extLst>
              <a:ext uri="{FF2B5EF4-FFF2-40B4-BE49-F238E27FC236}">
                <a16:creationId xmlns:a16="http://schemas.microsoft.com/office/drawing/2014/main" id="{0CFF5056-65AB-AEDB-3C5E-857BFE2AFFE0}"/>
              </a:ext>
            </a:extLst>
          </p:cNvPr>
          <p:cNvSpPr txBox="1"/>
          <p:nvPr/>
        </p:nvSpPr>
        <p:spPr>
          <a:xfrm>
            <a:off x="15407640" y="4271135"/>
            <a:ext cx="2148840" cy="1287532"/>
          </a:xfrm>
          <a:prstGeom prst="rect">
            <a:avLst/>
          </a:prstGeom>
          <a:noFill/>
        </p:spPr>
        <p:txBody>
          <a:bodyPr wrap="square" lIns="45720" rIns="45720" anchor="ctr">
            <a:spAutoFit/>
          </a:bodyPr>
          <a:lstStyle/>
          <a:p>
            <a:pPr algn="l">
              <a:lnSpc>
                <a:spcPct val="100000"/>
              </a:lnSpc>
              <a:spcAft>
                <a:spcPts val="200"/>
              </a:spcAft>
              <a:buNone/>
            </a:pPr>
            <a:r>
              <a:rPr sz="2000" b="1">
                <a:solidFill>
                  <a:srgbClr val="093E68"/>
                </a:solidFill>
                <a:latin typeface="Times New Roman"/>
                <a:ea typeface="Times New Roman"/>
                <a:cs typeface="Times New Roman"/>
              </a:rPr>
              <a:t>Research Institutes</a:t>
            </a:r>
          </a:p>
          <a:p>
            <a:pPr algn="l">
              <a:lnSpc>
                <a:spcPct val="100000"/>
              </a:lnSpc>
              <a:spcAft>
                <a:spcPts val="0"/>
              </a:spcAft>
              <a:buNone/>
            </a:pPr>
            <a:r>
              <a:rPr b="0">
                <a:solidFill>
                  <a:srgbClr val="333333"/>
                </a:solidFill>
                <a:latin typeface="Times New Roman"/>
                <a:ea typeface="Times New Roman"/>
                <a:cs typeface="Times New Roman"/>
              </a:rPr>
              <a:t>Co-development of sports technology</a:t>
            </a:r>
          </a:p>
        </p:txBody>
      </p:sp>
      <p:sp>
        <p:nvSpPr>
          <p:cNvPr id="63" name="Node Sports Tech Industry">
            <a:extLst>
              <a:ext uri="{FF2B5EF4-FFF2-40B4-BE49-F238E27FC236}">
                <a16:creationId xmlns:a16="http://schemas.microsoft.com/office/drawing/2014/main" id="{E25AB7D7-789C-0094-3D5D-5F1A128FC8B5}"/>
              </a:ext>
            </a:extLst>
          </p:cNvPr>
          <p:cNvSpPr/>
          <p:nvPr/>
        </p:nvSpPr>
        <p:spPr>
          <a:xfrm>
            <a:off x="9555480" y="8092440"/>
            <a:ext cx="3154680" cy="1417320"/>
          </a:xfrm>
          <a:prstGeom prst="roundRect">
            <a:avLst>
              <a:gd name="adj" fmla="val 12000"/>
            </a:avLst>
          </a:prstGeom>
          <a:solidFill>
            <a:srgbClr val="F3F7FA"/>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Node icon Sports Tech Industry">
            <a:extLst>
              <a:ext uri="{FF2B5EF4-FFF2-40B4-BE49-F238E27FC236}">
                <a16:creationId xmlns:a16="http://schemas.microsoft.com/office/drawing/2014/main" id="{C8779338-233E-2B6E-BB83-82C707F79D35}"/>
              </a:ext>
            </a:extLst>
          </p:cNvPr>
          <p:cNvSpPr/>
          <p:nvPr/>
        </p:nvSpPr>
        <p:spPr>
          <a:xfrm>
            <a:off x="9738359" y="8481060"/>
            <a:ext cx="640080" cy="640080"/>
          </a:xfrm>
          <a:prstGeom prst="ellipse">
            <a:avLst/>
          </a:prstGeom>
          <a:solidFill>
            <a:srgbClr val="128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5" name="Node icon Sports Tech Industry icon" descr="ind.png">
            <a:extLst>
              <a:ext uri="{FF2B5EF4-FFF2-40B4-BE49-F238E27FC236}">
                <a16:creationId xmlns:a16="http://schemas.microsoft.com/office/drawing/2014/main" id="{C1B4BDF2-9878-5241-1A95-32565B6BA631}"/>
              </a:ext>
            </a:extLst>
          </p:cNvPr>
          <p:cNvPicPr>
            <a:picLocks noChangeAspect="1"/>
          </p:cNvPicPr>
          <p:nvPr/>
        </p:nvPicPr>
        <p:blipFill>
          <a:blip r:embed="rId13"/>
          <a:stretch>
            <a:fillRect/>
          </a:stretch>
        </p:blipFill>
        <p:spPr>
          <a:xfrm>
            <a:off x="9879177" y="8621877"/>
            <a:ext cx="358444" cy="358444"/>
          </a:xfrm>
          <a:prstGeom prst="rect">
            <a:avLst/>
          </a:prstGeom>
        </p:spPr>
      </p:pic>
      <p:sp>
        <p:nvSpPr>
          <p:cNvPr id="66" name="Node text Sports Tech Industry">
            <a:extLst>
              <a:ext uri="{FF2B5EF4-FFF2-40B4-BE49-F238E27FC236}">
                <a16:creationId xmlns:a16="http://schemas.microsoft.com/office/drawing/2014/main" id="{0D76C4E6-BE46-4A1C-6E59-E2DC2241E05D}"/>
              </a:ext>
            </a:extLst>
          </p:cNvPr>
          <p:cNvSpPr txBox="1"/>
          <p:nvPr/>
        </p:nvSpPr>
        <p:spPr>
          <a:xfrm>
            <a:off x="10469880" y="8157335"/>
            <a:ext cx="2148840" cy="1287532"/>
          </a:xfrm>
          <a:prstGeom prst="rect">
            <a:avLst/>
          </a:prstGeom>
          <a:noFill/>
        </p:spPr>
        <p:txBody>
          <a:bodyPr wrap="square" lIns="45720" rIns="45720" anchor="ctr">
            <a:spAutoFit/>
          </a:bodyPr>
          <a:lstStyle/>
          <a:p>
            <a:pPr algn="l">
              <a:lnSpc>
                <a:spcPct val="100000"/>
              </a:lnSpc>
              <a:spcAft>
                <a:spcPts val="200"/>
              </a:spcAft>
              <a:buNone/>
            </a:pPr>
            <a:r>
              <a:rPr sz="2000" b="1">
                <a:solidFill>
                  <a:srgbClr val="093E68"/>
                </a:solidFill>
                <a:latin typeface="Times New Roman"/>
                <a:ea typeface="Times New Roman"/>
                <a:cs typeface="Times New Roman"/>
              </a:rPr>
              <a:t>Sports Tech Industry</a:t>
            </a:r>
          </a:p>
          <a:p>
            <a:pPr algn="l">
              <a:lnSpc>
                <a:spcPct val="100000"/>
              </a:lnSpc>
              <a:spcAft>
                <a:spcPts val="0"/>
              </a:spcAft>
              <a:buNone/>
            </a:pPr>
            <a:r>
              <a:rPr b="0">
                <a:solidFill>
                  <a:srgbClr val="333333"/>
                </a:solidFill>
                <a:latin typeface="Times New Roman"/>
                <a:ea typeface="Times New Roman"/>
                <a:cs typeface="Times New Roman"/>
              </a:rPr>
              <a:t>Field testing and technology transfer</a:t>
            </a:r>
          </a:p>
        </p:txBody>
      </p:sp>
      <p:sp>
        <p:nvSpPr>
          <p:cNvPr id="67" name="Node International Partners">
            <a:extLst>
              <a:ext uri="{FF2B5EF4-FFF2-40B4-BE49-F238E27FC236}">
                <a16:creationId xmlns:a16="http://schemas.microsoft.com/office/drawing/2014/main" id="{039DB2A0-2C97-B2BC-EAEC-07507D51BFF7}"/>
              </a:ext>
            </a:extLst>
          </p:cNvPr>
          <p:cNvSpPr/>
          <p:nvPr/>
        </p:nvSpPr>
        <p:spPr>
          <a:xfrm>
            <a:off x="14493240" y="8092440"/>
            <a:ext cx="3154680" cy="1417320"/>
          </a:xfrm>
          <a:prstGeom prst="roundRect">
            <a:avLst>
              <a:gd name="adj" fmla="val 12000"/>
            </a:avLst>
          </a:prstGeom>
          <a:solidFill>
            <a:srgbClr val="F3F7FA"/>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Node icon International Partners">
            <a:extLst>
              <a:ext uri="{FF2B5EF4-FFF2-40B4-BE49-F238E27FC236}">
                <a16:creationId xmlns:a16="http://schemas.microsoft.com/office/drawing/2014/main" id="{3F8F53D7-A647-7D59-07CA-4ABF7353EC20}"/>
              </a:ext>
            </a:extLst>
          </p:cNvPr>
          <p:cNvSpPr/>
          <p:nvPr/>
        </p:nvSpPr>
        <p:spPr>
          <a:xfrm>
            <a:off x="14676120" y="8481060"/>
            <a:ext cx="640080" cy="640080"/>
          </a:xfrm>
          <a:prstGeom prst="ellipse">
            <a:avLst/>
          </a:prstGeom>
          <a:solidFill>
            <a:srgbClr val="128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9" name="Node icon International Partners icon" descr="intl.png">
            <a:extLst>
              <a:ext uri="{FF2B5EF4-FFF2-40B4-BE49-F238E27FC236}">
                <a16:creationId xmlns:a16="http://schemas.microsoft.com/office/drawing/2014/main" id="{CCDD4D0B-A6BE-F61C-7375-C79FD9CE6DC0}"/>
              </a:ext>
            </a:extLst>
          </p:cNvPr>
          <p:cNvPicPr>
            <a:picLocks noChangeAspect="1"/>
          </p:cNvPicPr>
          <p:nvPr/>
        </p:nvPicPr>
        <p:blipFill>
          <a:blip r:embed="rId14"/>
          <a:stretch>
            <a:fillRect/>
          </a:stretch>
        </p:blipFill>
        <p:spPr>
          <a:xfrm>
            <a:off x="14816937" y="8621877"/>
            <a:ext cx="358444" cy="358444"/>
          </a:xfrm>
          <a:prstGeom prst="rect">
            <a:avLst/>
          </a:prstGeom>
        </p:spPr>
      </p:pic>
      <p:sp>
        <p:nvSpPr>
          <p:cNvPr id="70" name="Node text International Partners">
            <a:extLst>
              <a:ext uri="{FF2B5EF4-FFF2-40B4-BE49-F238E27FC236}">
                <a16:creationId xmlns:a16="http://schemas.microsoft.com/office/drawing/2014/main" id="{11CA3677-CC42-9B84-7824-F8E271C7DDAC}"/>
              </a:ext>
            </a:extLst>
          </p:cNvPr>
          <p:cNvSpPr txBox="1"/>
          <p:nvPr/>
        </p:nvSpPr>
        <p:spPr>
          <a:xfrm>
            <a:off x="15407640" y="8157335"/>
            <a:ext cx="2148840" cy="1287532"/>
          </a:xfrm>
          <a:prstGeom prst="rect">
            <a:avLst/>
          </a:prstGeom>
          <a:noFill/>
        </p:spPr>
        <p:txBody>
          <a:bodyPr wrap="square" lIns="45720" rIns="45720" anchor="ctr">
            <a:spAutoFit/>
          </a:bodyPr>
          <a:lstStyle/>
          <a:p>
            <a:pPr algn="l">
              <a:lnSpc>
                <a:spcPct val="100000"/>
              </a:lnSpc>
              <a:spcAft>
                <a:spcPts val="200"/>
              </a:spcAft>
              <a:buNone/>
            </a:pPr>
            <a:r>
              <a:rPr sz="2000" b="1">
                <a:solidFill>
                  <a:srgbClr val="093E68"/>
                </a:solidFill>
                <a:latin typeface="Times New Roman"/>
                <a:ea typeface="Times New Roman"/>
                <a:cs typeface="Times New Roman"/>
              </a:rPr>
              <a:t>International Partners</a:t>
            </a:r>
          </a:p>
          <a:p>
            <a:pPr algn="l">
              <a:lnSpc>
                <a:spcPct val="100000"/>
              </a:lnSpc>
              <a:spcAft>
                <a:spcPts val="0"/>
              </a:spcAft>
              <a:buNone/>
            </a:pPr>
            <a:r>
              <a:rPr b="0">
                <a:solidFill>
                  <a:srgbClr val="333333"/>
                </a:solidFill>
                <a:latin typeface="Times New Roman"/>
                <a:ea typeface="Times New Roman"/>
                <a:cs typeface="Times New Roman"/>
              </a:rPr>
              <a:t>Academic and technical exchange</a:t>
            </a:r>
          </a:p>
        </p:txBody>
      </p:sp>
    </p:spTree>
    <p:extLst>
      <p:ext uri="{BB962C8B-B14F-4D97-AF65-F5344CB8AC3E}">
        <p14:creationId xmlns:p14="http://schemas.microsoft.com/office/powerpoint/2010/main" val="2270982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939540">
            <a:off x="11796189" y="-1550708"/>
            <a:ext cx="6415802" cy="13194449"/>
            <a:chOff x="0" y="0"/>
            <a:chExt cx="8554402" cy="17592599"/>
          </a:xfrm>
        </p:grpSpPr>
        <p:sp>
          <p:nvSpPr>
            <p:cNvPr id="3" name="Freeform 3"/>
            <p:cNvSpPr/>
            <p:nvPr/>
          </p:nvSpPr>
          <p:spPr>
            <a:xfrm>
              <a:off x="0" y="0"/>
              <a:ext cx="8554339" cy="17592548"/>
            </a:xfrm>
            <a:custGeom>
              <a:avLst/>
              <a:gdLst/>
              <a:ahLst/>
              <a:cxnLst/>
              <a:rect l="l" t="t" r="r" b="b"/>
              <a:pathLst>
                <a:path w="8554339" h="17592548">
                  <a:moveTo>
                    <a:pt x="0" y="0"/>
                  </a:moveTo>
                  <a:lnTo>
                    <a:pt x="8554339" y="0"/>
                  </a:lnTo>
                  <a:lnTo>
                    <a:pt x="8554339" y="17592548"/>
                  </a:lnTo>
                  <a:lnTo>
                    <a:pt x="0" y="17592548"/>
                  </a:lnTo>
                  <a:lnTo>
                    <a:pt x="0" y="0"/>
                  </a:lnTo>
                  <a:close/>
                </a:path>
              </a:pathLst>
            </a:custGeom>
            <a:blipFill>
              <a:blip r:embed="rId3">
                <a:alphaModFix amt="60000"/>
              </a:blip>
              <a:stretch>
                <a:fillRect l="-21" r="-21"/>
              </a:stretch>
            </a:blipFill>
          </p:spPr>
        </p:sp>
      </p:grpSp>
      <p:grpSp>
        <p:nvGrpSpPr>
          <p:cNvPr id="4" name="Group 4"/>
          <p:cNvGrpSpPr/>
          <p:nvPr/>
        </p:nvGrpSpPr>
        <p:grpSpPr>
          <a:xfrm rot="939540">
            <a:off x="-1658093" y="-945575"/>
            <a:ext cx="3316195" cy="6819929"/>
            <a:chOff x="0" y="0"/>
            <a:chExt cx="4421594" cy="9093238"/>
          </a:xfrm>
        </p:grpSpPr>
        <p:sp>
          <p:nvSpPr>
            <p:cNvPr id="5" name="Freeform 5"/>
            <p:cNvSpPr/>
            <p:nvPr/>
          </p:nvSpPr>
          <p:spPr>
            <a:xfrm>
              <a:off x="0" y="0"/>
              <a:ext cx="4421632" cy="9093200"/>
            </a:xfrm>
            <a:custGeom>
              <a:avLst/>
              <a:gdLst/>
              <a:ahLst/>
              <a:cxnLst/>
              <a:rect l="l" t="t" r="r" b="b"/>
              <a:pathLst>
                <a:path w="4421632" h="9093200">
                  <a:moveTo>
                    <a:pt x="0" y="0"/>
                  </a:moveTo>
                  <a:lnTo>
                    <a:pt x="4421632" y="0"/>
                  </a:lnTo>
                  <a:lnTo>
                    <a:pt x="4421632" y="9093200"/>
                  </a:lnTo>
                  <a:lnTo>
                    <a:pt x="0" y="9093200"/>
                  </a:lnTo>
                  <a:lnTo>
                    <a:pt x="0" y="0"/>
                  </a:lnTo>
                  <a:close/>
                </a:path>
              </a:pathLst>
            </a:custGeom>
            <a:blipFill>
              <a:blip r:embed="rId3">
                <a:alphaModFix amt="40000"/>
              </a:blip>
              <a:stretch>
                <a:fillRect l="-20" r="-20"/>
              </a:stretch>
            </a:blipFill>
          </p:spPr>
        </p:sp>
      </p:grpSp>
      <p:sp>
        <p:nvSpPr>
          <p:cNvPr id="8" name="TextBox 8"/>
          <p:cNvSpPr txBox="1"/>
          <p:nvPr/>
        </p:nvSpPr>
        <p:spPr>
          <a:xfrm>
            <a:off x="1134247" y="4227992"/>
            <a:ext cx="12828418" cy="2390533"/>
          </a:xfrm>
          <a:prstGeom prst="rect">
            <a:avLst/>
          </a:prstGeom>
        </p:spPr>
        <p:txBody>
          <a:bodyPr lIns="0" tIns="0" rIns="0" bIns="0" rtlCol="0" anchor="ctr"/>
          <a:lstStyle/>
          <a:p>
            <a:pPr algn="l">
              <a:lnSpc>
                <a:spcPts val="5508"/>
              </a:lnSpc>
            </a:pPr>
            <a:r>
              <a:rPr lang="en-US" sz="5100" b="1" dirty="0">
                <a:solidFill>
                  <a:srgbClr val="002060"/>
                </a:solidFill>
                <a:latin typeface="Times New Roman"/>
                <a:ea typeface="Times New Roman"/>
                <a:cs typeface="Times New Roman"/>
                <a:sym typeface="Times New Roman"/>
              </a:rPr>
              <a:t>Introduction of</a:t>
            </a:r>
          </a:p>
          <a:p>
            <a:pPr algn="l">
              <a:lnSpc>
                <a:spcPts val="5508"/>
              </a:lnSpc>
            </a:pPr>
            <a:r>
              <a:rPr lang="en-US" sz="5100" b="1" dirty="0">
                <a:solidFill>
                  <a:srgbClr val="002060"/>
                </a:solidFill>
                <a:latin typeface="Times New Roman"/>
                <a:ea typeface="Times New Roman"/>
                <a:cs typeface="Times New Roman"/>
                <a:sym typeface="Times New Roman"/>
              </a:rPr>
              <a:t>Sports Data Platform Development Project</a:t>
            </a:r>
          </a:p>
        </p:txBody>
      </p:sp>
      <p:sp>
        <p:nvSpPr>
          <p:cNvPr id="11" name="TextBox 11"/>
          <p:cNvSpPr txBox="1"/>
          <p:nvPr/>
        </p:nvSpPr>
        <p:spPr>
          <a:xfrm>
            <a:off x="1134247" y="8627269"/>
            <a:ext cx="8229600" cy="662981"/>
          </a:xfrm>
          <a:prstGeom prst="rect">
            <a:avLst/>
          </a:prstGeom>
        </p:spPr>
        <p:txBody>
          <a:bodyPr lIns="0" tIns="0" rIns="0" bIns="0" rtlCol="0" anchor="ctr"/>
          <a:lstStyle/>
          <a:p>
            <a:pPr algn="l">
              <a:lnSpc>
                <a:spcPts val="3840"/>
              </a:lnSpc>
            </a:pPr>
            <a:r>
              <a:rPr lang="en-US" sz="3200" dirty="0">
                <a:solidFill>
                  <a:srgbClr val="002060"/>
                </a:solidFill>
                <a:latin typeface="Times New Roman"/>
                <a:ea typeface="Times New Roman"/>
                <a:cs typeface="Times New Roman"/>
                <a:sym typeface="Times New Roman"/>
              </a:rPr>
              <a:t>October 2026</a:t>
            </a:r>
          </a:p>
        </p:txBody>
      </p:sp>
      <p:sp>
        <p:nvSpPr>
          <p:cNvPr id="12" name="TextBox 12"/>
          <p:cNvSpPr txBox="1"/>
          <p:nvPr/>
        </p:nvSpPr>
        <p:spPr>
          <a:xfrm>
            <a:off x="1134247" y="6599475"/>
            <a:ext cx="11445240" cy="483915"/>
          </a:xfrm>
          <a:prstGeom prst="rect">
            <a:avLst/>
          </a:prstGeom>
        </p:spPr>
        <p:txBody>
          <a:bodyPr lIns="0" tIns="0" rIns="0" bIns="0" rtlCol="0" anchor="t">
            <a:spAutoFit/>
          </a:bodyPr>
          <a:lstStyle/>
          <a:p>
            <a:pPr algn="l">
              <a:lnSpc>
                <a:spcPts val="3960"/>
              </a:lnSpc>
            </a:pPr>
            <a:r>
              <a:rPr lang="en-US" sz="3300" b="1" dirty="0">
                <a:solidFill>
                  <a:srgbClr val="002060"/>
                </a:solidFill>
                <a:latin typeface="Times New Roman"/>
                <a:ea typeface="Times New Roman"/>
                <a:cs typeface="Times New Roman"/>
                <a:sym typeface="Times New Roman"/>
              </a:rPr>
              <a:t>Taiwan Institute of Sports Science, Northern Office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35665" y="3471911"/>
            <a:ext cx="15745560" cy="1040860"/>
            <a:chOff x="0" y="0"/>
            <a:chExt cx="4146979" cy="274136"/>
          </a:xfrm>
        </p:grpSpPr>
        <p:sp>
          <p:nvSpPr>
            <p:cNvPr id="3" name="Freeform 3"/>
            <p:cNvSpPr/>
            <p:nvPr/>
          </p:nvSpPr>
          <p:spPr>
            <a:xfrm>
              <a:off x="0" y="0"/>
              <a:ext cx="4146979" cy="274136"/>
            </a:xfrm>
            <a:custGeom>
              <a:avLst/>
              <a:gdLst/>
              <a:ahLst/>
              <a:cxnLst/>
              <a:rect l="l" t="t" r="r" b="b"/>
              <a:pathLst>
                <a:path w="4146979" h="274136">
                  <a:moveTo>
                    <a:pt x="0" y="0"/>
                  </a:moveTo>
                  <a:lnTo>
                    <a:pt x="4146979" y="0"/>
                  </a:lnTo>
                  <a:lnTo>
                    <a:pt x="4146979" y="274136"/>
                  </a:lnTo>
                  <a:lnTo>
                    <a:pt x="0" y="274136"/>
                  </a:lnTo>
                  <a:close/>
                </a:path>
              </a:pathLst>
            </a:custGeom>
            <a:ln w="19050" cap="sq">
              <a:solidFill>
                <a:srgbClr val="67A0DA"/>
              </a:solidFill>
              <a:prstDash val="solid"/>
              <a:miter/>
            </a:ln>
          </p:spPr>
        </p:sp>
        <p:sp>
          <p:nvSpPr>
            <p:cNvPr id="4" name="TextBox 4"/>
            <p:cNvSpPr txBox="1"/>
            <p:nvPr/>
          </p:nvSpPr>
          <p:spPr>
            <a:xfrm>
              <a:off x="0" y="-28575"/>
              <a:ext cx="4146979" cy="302711"/>
            </a:xfrm>
            <a:prstGeom prst="rect">
              <a:avLst/>
            </a:prstGeom>
          </p:spPr>
          <p:txBody>
            <a:bodyPr lIns="50800" tIns="50800" rIns="50800" bIns="50800" rtlCol="0" anchor="ctr"/>
            <a:lstStyle/>
            <a:p>
              <a:pPr algn="ctr">
                <a:lnSpc>
                  <a:spcPts val="2833"/>
                </a:lnSpc>
              </a:pPr>
              <a:endParaRPr/>
            </a:p>
          </p:txBody>
        </p:sp>
      </p:grpSp>
      <p:grpSp>
        <p:nvGrpSpPr>
          <p:cNvPr id="5" name="Group 5"/>
          <p:cNvGrpSpPr/>
          <p:nvPr/>
        </p:nvGrpSpPr>
        <p:grpSpPr>
          <a:xfrm>
            <a:off x="1135665" y="5918580"/>
            <a:ext cx="15745560" cy="1115296"/>
            <a:chOff x="0" y="0"/>
            <a:chExt cx="4146979" cy="293740"/>
          </a:xfrm>
        </p:grpSpPr>
        <p:sp>
          <p:nvSpPr>
            <p:cNvPr id="6" name="Freeform 6"/>
            <p:cNvSpPr/>
            <p:nvPr/>
          </p:nvSpPr>
          <p:spPr>
            <a:xfrm>
              <a:off x="0" y="0"/>
              <a:ext cx="4146979" cy="293740"/>
            </a:xfrm>
            <a:custGeom>
              <a:avLst/>
              <a:gdLst/>
              <a:ahLst/>
              <a:cxnLst/>
              <a:rect l="l" t="t" r="r" b="b"/>
              <a:pathLst>
                <a:path w="4146979" h="293740">
                  <a:moveTo>
                    <a:pt x="0" y="0"/>
                  </a:moveTo>
                  <a:lnTo>
                    <a:pt x="4146979" y="0"/>
                  </a:lnTo>
                  <a:lnTo>
                    <a:pt x="4146979" y="293740"/>
                  </a:lnTo>
                  <a:lnTo>
                    <a:pt x="0" y="293740"/>
                  </a:lnTo>
                  <a:close/>
                </a:path>
              </a:pathLst>
            </a:custGeom>
            <a:ln w="19050" cap="sq">
              <a:solidFill>
                <a:srgbClr val="67A0DA"/>
              </a:solidFill>
              <a:prstDash val="solid"/>
              <a:miter/>
            </a:ln>
          </p:spPr>
        </p:sp>
        <p:sp>
          <p:nvSpPr>
            <p:cNvPr id="7" name="TextBox 7"/>
            <p:cNvSpPr txBox="1"/>
            <p:nvPr/>
          </p:nvSpPr>
          <p:spPr>
            <a:xfrm>
              <a:off x="0" y="-28575"/>
              <a:ext cx="4146979" cy="322315"/>
            </a:xfrm>
            <a:prstGeom prst="rect">
              <a:avLst/>
            </a:prstGeom>
          </p:spPr>
          <p:txBody>
            <a:bodyPr lIns="50800" tIns="50800" rIns="50800" bIns="50800" rtlCol="0" anchor="ctr"/>
            <a:lstStyle/>
            <a:p>
              <a:pPr algn="ctr">
                <a:lnSpc>
                  <a:spcPts val="2833"/>
                </a:lnSpc>
              </a:pPr>
              <a:endParaRPr/>
            </a:p>
          </p:txBody>
        </p:sp>
      </p:grpSp>
      <p:grpSp>
        <p:nvGrpSpPr>
          <p:cNvPr id="8" name="Group 8"/>
          <p:cNvGrpSpPr/>
          <p:nvPr/>
        </p:nvGrpSpPr>
        <p:grpSpPr>
          <a:xfrm>
            <a:off x="1135665" y="7179132"/>
            <a:ext cx="15745560" cy="1100409"/>
            <a:chOff x="0" y="0"/>
            <a:chExt cx="4146979" cy="289820"/>
          </a:xfrm>
        </p:grpSpPr>
        <p:sp>
          <p:nvSpPr>
            <p:cNvPr id="9" name="Freeform 9"/>
            <p:cNvSpPr/>
            <p:nvPr/>
          </p:nvSpPr>
          <p:spPr>
            <a:xfrm>
              <a:off x="0" y="0"/>
              <a:ext cx="4146979" cy="289820"/>
            </a:xfrm>
            <a:custGeom>
              <a:avLst/>
              <a:gdLst/>
              <a:ahLst/>
              <a:cxnLst/>
              <a:rect l="l" t="t" r="r" b="b"/>
              <a:pathLst>
                <a:path w="4146979" h="289820">
                  <a:moveTo>
                    <a:pt x="0" y="0"/>
                  </a:moveTo>
                  <a:lnTo>
                    <a:pt x="4146979" y="0"/>
                  </a:lnTo>
                  <a:lnTo>
                    <a:pt x="4146979" y="289820"/>
                  </a:lnTo>
                  <a:lnTo>
                    <a:pt x="0" y="289820"/>
                  </a:lnTo>
                  <a:close/>
                </a:path>
              </a:pathLst>
            </a:custGeom>
            <a:ln w="19050" cap="sq">
              <a:solidFill>
                <a:srgbClr val="67A0DA"/>
              </a:solidFill>
              <a:prstDash val="solid"/>
              <a:miter/>
            </a:ln>
          </p:spPr>
        </p:sp>
        <p:sp>
          <p:nvSpPr>
            <p:cNvPr id="10" name="TextBox 10"/>
            <p:cNvSpPr txBox="1"/>
            <p:nvPr/>
          </p:nvSpPr>
          <p:spPr>
            <a:xfrm>
              <a:off x="0" y="-28575"/>
              <a:ext cx="4146979" cy="318395"/>
            </a:xfrm>
            <a:prstGeom prst="rect">
              <a:avLst/>
            </a:prstGeom>
          </p:spPr>
          <p:txBody>
            <a:bodyPr lIns="50800" tIns="50800" rIns="50800" bIns="50800" rtlCol="0" anchor="ctr"/>
            <a:lstStyle/>
            <a:p>
              <a:pPr algn="ctr">
                <a:lnSpc>
                  <a:spcPts val="2833"/>
                </a:lnSpc>
              </a:pPr>
              <a:endParaRPr/>
            </a:p>
          </p:txBody>
        </p:sp>
      </p:grpSp>
      <p:sp>
        <p:nvSpPr>
          <p:cNvPr id="11" name="AutoShape 11"/>
          <p:cNvSpPr/>
          <p:nvPr/>
        </p:nvSpPr>
        <p:spPr>
          <a:xfrm>
            <a:off x="4907886" y="3607713"/>
            <a:ext cx="0" cy="797731"/>
          </a:xfrm>
          <a:prstGeom prst="line">
            <a:avLst/>
          </a:prstGeom>
          <a:ln w="19050" cap="flat">
            <a:solidFill>
              <a:srgbClr val="67A0DA"/>
            </a:solidFill>
            <a:prstDash val="solid"/>
            <a:headEnd type="none" w="sm" len="sm"/>
            <a:tailEnd type="none" w="sm" len="sm"/>
          </a:ln>
        </p:spPr>
      </p:sp>
      <p:sp>
        <p:nvSpPr>
          <p:cNvPr id="12" name="AutoShape 12"/>
          <p:cNvSpPr/>
          <p:nvPr/>
        </p:nvSpPr>
        <p:spPr>
          <a:xfrm>
            <a:off x="4917411" y="7361943"/>
            <a:ext cx="0" cy="797731"/>
          </a:xfrm>
          <a:prstGeom prst="line">
            <a:avLst/>
          </a:prstGeom>
          <a:ln w="19050" cap="flat">
            <a:solidFill>
              <a:srgbClr val="67A0DA"/>
            </a:solidFill>
            <a:prstDash val="solid"/>
            <a:headEnd type="none" w="sm" len="sm"/>
            <a:tailEnd type="none" w="sm" len="sm"/>
          </a:ln>
        </p:spPr>
      </p:sp>
      <p:grpSp>
        <p:nvGrpSpPr>
          <p:cNvPr id="13" name="Group 13"/>
          <p:cNvGrpSpPr/>
          <p:nvPr/>
        </p:nvGrpSpPr>
        <p:grpSpPr>
          <a:xfrm>
            <a:off x="1135665" y="4658028"/>
            <a:ext cx="15745560" cy="1115296"/>
            <a:chOff x="0" y="0"/>
            <a:chExt cx="4146979" cy="293740"/>
          </a:xfrm>
        </p:grpSpPr>
        <p:sp>
          <p:nvSpPr>
            <p:cNvPr id="14" name="Freeform 14"/>
            <p:cNvSpPr/>
            <p:nvPr/>
          </p:nvSpPr>
          <p:spPr>
            <a:xfrm>
              <a:off x="0" y="0"/>
              <a:ext cx="4146979" cy="293740"/>
            </a:xfrm>
            <a:custGeom>
              <a:avLst/>
              <a:gdLst/>
              <a:ahLst/>
              <a:cxnLst/>
              <a:rect l="l" t="t" r="r" b="b"/>
              <a:pathLst>
                <a:path w="4146979" h="293740">
                  <a:moveTo>
                    <a:pt x="0" y="0"/>
                  </a:moveTo>
                  <a:lnTo>
                    <a:pt x="4146979" y="0"/>
                  </a:lnTo>
                  <a:lnTo>
                    <a:pt x="4146979" y="293740"/>
                  </a:lnTo>
                  <a:lnTo>
                    <a:pt x="0" y="293740"/>
                  </a:lnTo>
                  <a:close/>
                </a:path>
              </a:pathLst>
            </a:custGeom>
            <a:ln w="19050" cap="sq">
              <a:solidFill>
                <a:srgbClr val="67A0DA"/>
              </a:solidFill>
              <a:prstDash val="solid"/>
              <a:miter/>
            </a:ln>
          </p:spPr>
        </p:sp>
        <p:sp>
          <p:nvSpPr>
            <p:cNvPr id="15" name="TextBox 15"/>
            <p:cNvSpPr txBox="1"/>
            <p:nvPr/>
          </p:nvSpPr>
          <p:spPr>
            <a:xfrm>
              <a:off x="0" y="-28575"/>
              <a:ext cx="4146979" cy="322315"/>
            </a:xfrm>
            <a:prstGeom prst="rect">
              <a:avLst/>
            </a:prstGeom>
          </p:spPr>
          <p:txBody>
            <a:bodyPr lIns="50800" tIns="50800" rIns="50800" bIns="50800" rtlCol="0" anchor="ctr"/>
            <a:lstStyle/>
            <a:p>
              <a:pPr algn="ctr">
                <a:lnSpc>
                  <a:spcPts val="2833"/>
                </a:lnSpc>
              </a:pPr>
              <a:endParaRPr/>
            </a:p>
          </p:txBody>
        </p:sp>
      </p:grpSp>
      <p:grpSp>
        <p:nvGrpSpPr>
          <p:cNvPr id="16" name="Group 16"/>
          <p:cNvGrpSpPr/>
          <p:nvPr/>
        </p:nvGrpSpPr>
        <p:grpSpPr>
          <a:xfrm>
            <a:off x="1135665" y="8424797"/>
            <a:ext cx="15745560" cy="1100409"/>
            <a:chOff x="0" y="0"/>
            <a:chExt cx="4146979" cy="289820"/>
          </a:xfrm>
        </p:grpSpPr>
        <p:sp>
          <p:nvSpPr>
            <p:cNvPr id="17" name="Freeform 17"/>
            <p:cNvSpPr/>
            <p:nvPr/>
          </p:nvSpPr>
          <p:spPr>
            <a:xfrm>
              <a:off x="0" y="0"/>
              <a:ext cx="4146979" cy="289820"/>
            </a:xfrm>
            <a:custGeom>
              <a:avLst/>
              <a:gdLst/>
              <a:ahLst/>
              <a:cxnLst/>
              <a:rect l="l" t="t" r="r" b="b"/>
              <a:pathLst>
                <a:path w="4146979" h="289820">
                  <a:moveTo>
                    <a:pt x="0" y="0"/>
                  </a:moveTo>
                  <a:lnTo>
                    <a:pt x="4146979" y="0"/>
                  </a:lnTo>
                  <a:lnTo>
                    <a:pt x="4146979" y="289820"/>
                  </a:lnTo>
                  <a:lnTo>
                    <a:pt x="0" y="289820"/>
                  </a:lnTo>
                  <a:close/>
                </a:path>
              </a:pathLst>
            </a:custGeom>
            <a:ln w="19050" cap="sq">
              <a:solidFill>
                <a:srgbClr val="67A0DA"/>
              </a:solidFill>
              <a:prstDash val="solid"/>
              <a:miter/>
            </a:ln>
          </p:spPr>
        </p:sp>
        <p:sp>
          <p:nvSpPr>
            <p:cNvPr id="18" name="TextBox 18"/>
            <p:cNvSpPr txBox="1"/>
            <p:nvPr/>
          </p:nvSpPr>
          <p:spPr>
            <a:xfrm>
              <a:off x="0" y="-28575"/>
              <a:ext cx="4146979" cy="318395"/>
            </a:xfrm>
            <a:prstGeom prst="rect">
              <a:avLst/>
            </a:prstGeom>
          </p:spPr>
          <p:txBody>
            <a:bodyPr lIns="50800" tIns="50800" rIns="50800" bIns="50800" rtlCol="0" anchor="ctr"/>
            <a:lstStyle/>
            <a:p>
              <a:pPr algn="ctr">
                <a:lnSpc>
                  <a:spcPts val="2833"/>
                </a:lnSpc>
              </a:pPr>
              <a:endParaRPr/>
            </a:p>
          </p:txBody>
        </p:sp>
      </p:grpSp>
      <p:sp>
        <p:nvSpPr>
          <p:cNvPr id="19" name="AutoShape 19"/>
          <p:cNvSpPr/>
          <p:nvPr/>
        </p:nvSpPr>
        <p:spPr>
          <a:xfrm>
            <a:off x="4917411" y="8613353"/>
            <a:ext cx="0" cy="797731"/>
          </a:xfrm>
          <a:prstGeom prst="line">
            <a:avLst/>
          </a:prstGeom>
          <a:ln w="19050" cap="flat">
            <a:solidFill>
              <a:srgbClr val="67A0DA"/>
            </a:solidFill>
            <a:prstDash val="solid"/>
            <a:headEnd type="none" w="sm" len="sm"/>
            <a:tailEnd type="none" w="sm" len="sm"/>
          </a:ln>
        </p:spPr>
      </p:sp>
      <p:grpSp>
        <p:nvGrpSpPr>
          <p:cNvPr id="20" name="Group 20"/>
          <p:cNvGrpSpPr/>
          <p:nvPr/>
        </p:nvGrpSpPr>
        <p:grpSpPr>
          <a:xfrm>
            <a:off x="0" y="25403"/>
            <a:ext cx="18288000" cy="3744230"/>
            <a:chOff x="0" y="0"/>
            <a:chExt cx="24384000" cy="4992306"/>
          </a:xfrm>
        </p:grpSpPr>
        <p:sp>
          <p:nvSpPr>
            <p:cNvPr id="21" name="Freeform 21" descr="一張含有 黑暗, 黑色, 螢幕擷取畫面, 光線 的圖片  AI 產生的內容可能不正確。"/>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3"/>
              <a:stretch>
                <a:fillRect b="-1"/>
              </a:stretch>
            </a:blipFill>
          </p:spPr>
        </p:sp>
      </p:grpSp>
      <p:grpSp>
        <p:nvGrpSpPr>
          <p:cNvPr id="22" name="Group 22"/>
          <p:cNvGrpSpPr/>
          <p:nvPr/>
        </p:nvGrpSpPr>
        <p:grpSpPr>
          <a:xfrm>
            <a:off x="1363408" y="599237"/>
            <a:ext cx="1103243" cy="551059"/>
            <a:chOff x="0" y="0"/>
            <a:chExt cx="1470990" cy="734746"/>
          </a:xfrm>
        </p:grpSpPr>
        <p:sp>
          <p:nvSpPr>
            <p:cNvPr id="23" name="Freeform 23"/>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4"/>
              <a:stretch>
                <a:fillRect t="-221" r="3" b="-226"/>
              </a:stretch>
            </a:blipFill>
          </p:spPr>
        </p:sp>
      </p:grpSp>
      <p:grpSp>
        <p:nvGrpSpPr>
          <p:cNvPr id="24" name="Group 24"/>
          <p:cNvGrpSpPr/>
          <p:nvPr/>
        </p:nvGrpSpPr>
        <p:grpSpPr>
          <a:xfrm>
            <a:off x="1513740" y="1725774"/>
            <a:ext cx="12828418" cy="1508760"/>
            <a:chOff x="0" y="0"/>
            <a:chExt cx="17104558" cy="2011680"/>
          </a:xfrm>
        </p:grpSpPr>
        <p:sp>
          <p:nvSpPr>
            <p:cNvPr id="25" name="Freeform 25"/>
            <p:cNvSpPr/>
            <p:nvPr/>
          </p:nvSpPr>
          <p:spPr>
            <a:xfrm>
              <a:off x="0" y="0"/>
              <a:ext cx="17104558" cy="2011680"/>
            </a:xfrm>
            <a:custGeom>
              <a:avLst/>
              <a:gdLst/>
              <a:ahLst/>
              <a:cxnLst/>
              <a:rect l="l" t="t" r="r" b="b"/>
              <a:pathLst>
                <a:path w="17104558" h="2011680">
                  <a:moveTo>
                    <a:pt x="0" y="0"/>
                  </a:moveTo>
                  <a:lnTo>
                    <a:pt x="17104558" y="0"/>
                  </a:lnTo>
                  <a:lnTo>
                    <a:pt x="17104558" y="2011680"/>
                  </a:lnTo>
                  <a:lnTo>
                    <a:pt x="0" y="2011680"/>
                  </a:lnTo>
                  <a:close/>
                </a:path>
              </a:pathLst>
            </a:custGeom>
            <a:blipFill>
              <a:blip r:embed="rId5">
                <a:alphaModFix amt="0"/>
              </a:blip>
              <a:stretch>
                <a:fillRect t="-192578" r="-46419" b="-192578"/>
              </a:stretch>
            </a:blipFill>
          </p:spPr>
        </p:sp>
        <p:sp>
          <p:nvSpPr>
            <p:cNvPr id="26" name="TextBox 26"/>
            <p:cNvSpPr txBox="1"/>
            <p:nvPr/>
          </p:nvSpPr>
          <p:spPr>
            <a:xfrm>
              <a:off x="0" y="152400"/>
              <a:ext cx="17104558" cy="1859280"/>
            </a:xfrm>
            <a:prstGeom prst="rect">
              <a:avLst/>
            </a:prstGeom>
          </p:spPr>
          <p:txBody>
            <a:bodyPr lIns="0" tIns="0" rIns="0" bIns="0" rtlCol="0" anchor="ctr"/>
            <a:lstStyle/>
            <a:p>
              <a:pPr algn="l">
                <a:lnSpc>
                  <a:spcPts val="4284"/>
                </a:lnSpc>
              </a:pPr>
              <a:r>
                <a:rPr lang="en-US" sz="5100" b="1" dirty="0">
                  <a:solidFill>
                    <a:srgbClr val="003366"/>
                  </a:solidFill>
                  <a:latin typeface="Times New Roman"/>
                  <a:ea typeface="Times New Roman"/>
                  <a:cs typeface="Times New Roman"/>
                  <a:sym typeface="Times New Roman"/>
                </a:rPr>
                <a:t>The Five-Layer Sports Data Ecosystem</a:t>
              </a:r>
            </a:p>
          </p:txBody>
        </p:sp>
      </p:grpSp>
      <p:sp>
        <p:nvSpPr>
          <p:cNvPr id="27" name="Freeform 27"/>
          <p:cNvSpPr/>
          <p:nvPr/>
        </p:nvSpPr>
        <p:spPr>
          <a:xfrm>
            <a:off x="799154" y="2252616"/>
            <a:ext cx="455075" cy="455075"/>
          </a:xfrm>
          <a:custGeom>
            <a:avLst/>
            <a:gdLst/>
            <a:ahLst/>
            <a:cxnLst/>
            <a:rect l="l" t="t" r="r" b="b"/>
            <a:pathLst>
              <a:path w="455075" h="455075">
                <a:moveTo>
                  <a:pt x="0" y="0"/>
                </a:moveTo>
                <a:lnTo>
                  <a:pt x="455074" y="0"/>
                </a:lnTo>
                <a:lnTo>
                  <a:pt x="455074" y="455075"/>
                </a:lnTo>
                <a:lnTo>
                  <a:pt x="0" y="4550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8" name="TextBox 28"/>
          <p:cNvSpPr txBox="1"/>
          <p:nvPr/>
        </p:nvSpPr>
        <p:spPr>
          <a:xfrm>
            <a:off x="1963073" y="3744949"/>
            <a:ext cx="2079305" cy="433705"/>
          </a:xfrm>
          <a:prstGeom prst="rect">
            <a:avLst/>
          </a:prstGeom>
        </p:spPr>
        <p:txBody>
          <a:bodyPr lIns="0" tIns="0" rIns="0" bIns="0" rtlCol="0" anchor="t">
            <a:spAutoFit/>
          </a:bodyPr>
          <a:lstStyle/>
          <a:p>
            <a:pPr algn="ctr">
              <a:lnSpc>
                <a:spcPts val="3380"/>
              </a:lnSpc>
            </a:pPr>
            <a:r>
              <a:rPr lang="en-US" sz="2600" b="1">
                <a:solidFill>
                  <a:srgbClr val="002060"/>
                </a:solidFill>
                <a:latin typeface="Times New Roman"/>
                <a:ea typeface="Times New Roman"/>
                <a:cs typeface="Times New Roman"/>
                <a:sym typeface="Times New Roman"/>
              </a:rPr>
              <a:t>Data Sensing</a:t>
            </a:r>
          </a:p>
        </p:txBody>
      </p:sp>
      <p:sp>
        <p:nvSpPr>
          <p:cNvPr id="29" name="TextBox 29"/>
          <p:cNvSpPr txBox="1"/>
          <p:nvPr/>
        </p:nvSpPr>
        <p:spPr>
          <a:xfrm>
            <a:off x="5258364" y="3555376"/>
            <a:ext cx="11427103" cy="864306"/>
          </a:xfrm>
          <a:prstGeom prst="rect">
            <a:avLst/>
          </a:prstGeom>
        </p:spPr>
        <p:txBody>
          <a:bodyPr lIns="0" tIns="0" rIns="0" bIns="0" rtlCol="0" anchor="t">
            <a:spAutoFit/>
          </a:bodyPr>
          <a:lstStyle/>
          <a:p>
            <a:pPr algn="l">
              <a:lnSpc>
                <a:spcPts val="3388"/>
              </a:lnSpc>
            </a:pPr>
            <a:r>
              <a:rPr lang="en-US" sz="2606">
                <a:solidFill>
                  <a:srgbClr val="002060"/>
                </a:solidFill>
                <a:latin typeface="Times New Roman"/>
                <a:ea typeface="Times New Roman"/>
                <a:cs typeface="Times New Roman"/>
                <a:sym typeface="Times New Roman"/>
              </a:rPr>
              <a:t>Builds scalable, reliable data-sensing capability, spanning wearables and venue-based sensors</a:t>
            </a:r>
          </a:p>
        </p:txBody>
      </p:sp>
      <p:sp>
        <p:nvSpPr>
          <p:cNvPr id="30" name="TextBox 30"/>
          <p:cNvSpPr txBox="1"/>
          <p:nvPr/>
        </p:nvSpPr>
        <p:spPr>
          <a:xfrm>
            <a:off x="1767026" y="4999918"/>
            <a:ext cx="2471399" cy="433705"/>
          </a:xfrm>
          <a:prstGeom prst="rect">
            <a:avLst/>
          </a:prstGeom>
        </p:spPr>
        <p:txBody>
          <a:bodyPr lIns="0" tIns="0" rIns="0" bIns="0" rtlCol="0" anchor="t">
            <a:spAutoFit/>
          </a:bodyPr>
          <a:lstStyle/>
          <a:p>
            <a:pPr algn="ctr">
              <a:lnSpc>
                <a:spcPts val="3380"/>
              </a:lnSpc>
            </a:pPr>
            <a:r>
              <a:rPr lang="en-US" sz="2600" b="1" dirty="0">
                <a:solidFill>
                  <a:srgbClr val="002060"/>
                </a:solidFill>
                <a:latin typeface="Times New Roman"/>
                <a:ea typeface="Times New Roman"/>
                <a:cs typeface="Times New Roman"/>
                <a:sym typeface="Times New Roman"/>
              </a:rPr>
              <a:t>Data Collection</a:t>
            </a:r>
          </a:p>
        </p:txBody>
      </p:sp>
      <p:sp>
        <p:nvSpPr>
          <p:cNvPr id="31" name="TextBox 31"/>
          <p:cNvSpPr txBox="1"/>
          <p:nvPr/>
        </p:nvSpPr>
        <p:spPr>
          <a:xfrm>
            <a:off x="5258364" y="4797481"/>
            <a:ext cx="11427103" cy="864306"/>
          </a:xfrm>
          <a:prstGeom prst="rect">
            <a:avLst/>
          </a:prstGeom>
        </p:spPr>
        <p:txBody>
          <a:bodyPr lIns="0" tIns="0" rIns="0" bIns="0" rtlCol="0" anchor="t">
            <a:spAutoFit/>
          </a:bodyPr>
          <a:lstStyle/>
          <a:p>
            <a:pPr algn="l">
              <a:lnSpc>
                <a:spcPts val="3388"/>
              </a:lnSpc>
            </a:pPr>
            <a:r>
              <a:rPr lang="en-US" sz="2606">
                <a:solidFill>
                  <a:srgbClr val="002060"/>
                </a:solidFill>
                <a:latin typeface="Times New Roman"/>
                <a:ea typeface="Times New Roman"/>
                <a:cs typeface="Times New Roman"/>
                <a:sym typeface="Times New Roman"/>
              </a:rPr>
              <a:t>Integrates sensor, competition, and historical data; establishes authorization management; ensures data quality and privacy through cleaning and de-identification</a:t>
            </a:r>
          </a:p>
        </p:txBody>
      </p:sp>
      <p:sp>
        <p:nvSpPr>
          <p:cNvPr id="32" name="TextBox 32"/>
          <p:cNvSpPr txBox="1"/>
          <p:nvPr/>
        </p:nvSpPr>
        <p:spPr>
          <a:xfrm>
            <a:off x="1611934" y="6254887"/>
            <a:ext cx="2781582" cy="433705"/>
          </a:xfrm>
          <a:prstGeom prst="rect">
            <a:avLst/>
          </a:prstGeom>
        </p:spPr>
        <p:txBody>
          <a:bodyPr lIns="0" tIns="0" rIns="0" bIns="0" rtlCol="0" anchor="t">
            <a:spAutoFit/>
          </a:bodyPr>
          <a:lstStyle/>
          <a:p>
            <a:pPr algn="ctr">
              <a:lnSpc>
                <a:spcPts val="3380"/>
              </a:lnSpc>
            </a:pPr>
            <a:r>
              <a:rPr lang="en-US" sz="2600" b="1">
                <a:solidFill>
                  <a:srgbClr val="002060"/>
                </a:solidFill>
                <a:latin typeface="Times New Roman"/>
                <a:ea typeface="Times New Roman"/>
                <a:cs typeface="Times New Roman"/>
                <a:sym typeface="Times New Roman"/>
              </a:rPr>
              <a:t>Data Governance</a:t>
            </a:r>
          </a:p>
        </p:txBody>
      </p:sp>
      <p:sp>
        <p:nvSpPr>
          <p:cNvPr id="33" name="TextBox 33"/>
          <p:cNvSpPr txBox="1"/>
          <p:nvPr/>
        </p:nvSpPr>
        <p:spPr>
          <a:xfrm>
            <a:off x="5258364" y="6039587"/>
            <a:ext cx="11427103" cy="864306"/>
          </a:xfrm>
          <a:prstGeom prst="rect">
            <a:avLst/>
          </a:prstGeom>
        </p:spPr>
        <p:txBody>
          <a:bodyPr lIns="0" tIns="0" rIns="0" bIns="0" rtlCol="0" anchor="t">
            <a:spAutoFit/>
          </a:bodyPr>
          <a:lstStyle/>
          <a:p>
            <a:pPr algn="l">
              <a:lnSpc>
                <a:spcPts val="3388"/>
              </a:lnSpc>
            </a:pPr>
            <a:r>
              <a:rPr lang="en-US" sz="2606">
                <a:solidFill>
                  <a:srgbClr val="002060"/>
                </a:solidFill>
                <a:latin typeface="Times New Roman"/>
                <a:ea typeface="Times New Roman"/>
                <a:cs typeface="Times New Roman"/>
                <a:sym typeface="Times New Roman"/>
              </a:rPr>
              <a:t>Builds a scalable data governance framework covering standard-setting, regulatory compliance, storage management, and auditing to ensure security and traceability</a:t>
            </a:r>
          </a:p>
        </p:txBody>
      </p:sp>
      <p:sp>
        <p:nvSpPr>
          <p:cNvPr id="34" name="TextBox 34"/>
          <p:cNvSpPr txBox="1"/>
          <p:nvPr/>
        </p:nvSpPr>
        <p:spPr>
          <a:xfrm>
            <a:off x="5258364" y="7281692"/>
            <a:ext cx="11488876" cy="864306"/>
          </a:xfrm>
          <a:prstGeom prst="rect">
            <a:avLst/>
          </a:prstGeom>
        </p:spPr>
        <p:txBody>
          <a:bodyPr lIns="0" tIns="0" rIns="0" bIns="0" rtlCol="0" anchor="t">
            <a:spAutoFit/>
          </a:bodyPr>
          <a:lstStyle/>
          <a:p>
            <a:pPr algn="l">
              <a:lnSpc>
                <a:spcPts val="3388"/>
              </a:lnSpc>
            </a:pPr>
            <a:r>
              <a:rPr lang="en-US" sz="2606">
                <a:solidFill>
                  <a:srgbClr val="002060"/>
                </a:solidFill>
                <a:latin typeface="Times New Roman"/>
                <a:ea typeface="Times New Roman"/>
                <a:cs typeface="Times New Roman"/>
                <a:sym typeface="Times New Roman"/>
              </a:rPr>
              <a:t>Combines data analytics and AI to develop coaching decision support, athlete performance analysis, and competition insight applications</a:t>
            </a:r>
          </a:p>
        </p:txBody>
      </p:sp>
      <p:sp>
        <p:nvSpPr>
          <p:cNvPr id="35" name="TextBox 35"/>
          <p:cNvSpPr txBox="1"/>
          <p:nvPr/>
        </p:nvSpPr>
        <p:spPr>
          <a:xfrm>
            <a:off x="1135665" y="7509857"/>
            <a:ext cx="3734121" cy="433705"/>
          </a:xfrm>
          <a:prstGeom prst="rect">
            <a:avLst/>
          </a:prstGeom>
        </p:spPr>
        <p:txBody>
          <a:bodyPr lIns="0" tIns="0" rIns="0" bIns="0" rtlCol="0" anchor="t">
            <a:spAutoFit/>
          </a:bodyPr>
          <a:lstStyle/>
          <a:p>
            <a:pPr algn="ctr">
              <a:lnSpc>
                <a:spcPts val="3380"/>
              </a:lnSpc>
            </a:pPr>
            <a:r>
              <a:rPr lang="en-US" sz="2600" b="1">
                <a:solidFill>
                  <a:srgbClr val="002060"/>
                </a:solidFill>
                <a:latin typeface="Times New Roman"/>
                <a:ea typeface="Times New Roman"/>
                <a:cs typeface="Times New Roman"/>
                <a:sym typeface="Times New Roman"/>
              </a:rPr>
              <a:t>Intelligent Applications</a:t>
            </a:r>
          </a:p>
        </p:txBody>
      </p:sp>
      <p:sp>
        <p:nvSpPr>
          <p:cNvPr id="36" name="TextBox 36"/>
          <p:cNvSpPr txBox="1"/>
          <p:nvPr/>
        </p:nvSpPr>
        <p:spPr>
          <a:xfrm>
            <a:off x="5258364" y="8523798"/>
            <a:ext cx="11488876" cy="864306"/>
          </a:xfrm>
          <a:prstGeom prst="rect">
            <a:avLst/>
          </a:prstGeom>
        </p:spPr>
        <p:txBody>
          <a:bodyPr lIns="0" tIns="0" rIns="0" bIns="0" rtlCol="0" anchor="t">
            <a:spAutoFit/>
          </a:bodyPr>
          <a:lstStyle/>
          <a:p>
            <a:pPr algn="l">
              <a:lnSpc>
                <a:spcPts val="3388"/>
              </a:lnSpc>
            </a:pPr>
            <a:r>
              <a:rPr lang="en-US" sz="2606">
                <a:solidFill>
                  <a:srgbClr val="002060"/>
                </a:solidFill>
                <a:latin typeface="Times New Roman"/>
                <a:ea typeface="Times New Roman"/>
                <a:cs typeface="Times New Roman"/>
                <a:sym typeface="Times New Roman"/>
              </a:rPr>
              <a:t>Drives cross-industry collaboration and data monetization through data-as-a-service, subscription models, and diverse business models</a:t>
            </a:r>
          </a:p>
        </p:txBody>
      </p:sp>
      <p:sp>
        <p:nvSpPr>
          <p:cNvPr id="37" name="TextBox 37"/>
          <p:cNvSpPr txBox="1"/>
          <p:nvPr/>
        </p:nvSpPr>
        <p:spPr>
          <a:xfrm>
            <a:off x="1135665" y="8764826"/>
            <a:ext cx="3734121" cy="433705"/>
          </a:xfrm>
          <a:prstGeom prst="rect">
            <a:avLst/>
          </a:prstGeom>
        </p:spPr>
        <p:txBody>
          <a:bodyPr lIns="0" tIns="0" rIns="0" bIns="0" rtlCol="0" anchor="t">
            <a:spAutoFit/>
          </a:bodyPr>
          <a:lstStyle/>
          <a:p>
            <a:pPr algn="ctr">
              <a:lnSpc>
                <a:spcPts val="3380"/>
              </a:lnSpc>
            </a:pPr>
            <a:r>
              <a:rPr lang="en-US" sz="2600" b="1">
                <a:solidFill>
                  <a:srgbClr val="002060"/>
                </a:solidFill>
                <a:latin typeface="Times New Roman"/>
                <a:ea typeface="Times New Roman"/>
                <a:cs typeface="Times New Roman"/>
                <a:sym typeface="Times New Roman"/>
              </a:rPr>
              <a:t>Data Economy</a:t>
            </a:r>
          </a:p>
        </p:txBody>
      </p:sp>
      <p:sp>
        <p:nvSpPr>
          <p:cNvPr id="38" name="AutoShape 38"/>
          <p:cNvSpPr/>
          <p:nvPr/>
        </p:nvSpPr>
        <p:spPr>
          <a:xfrm>
            <a:off x="4898361" y="6110533"/>
            <a:ext cx="0" cy="797731"/>
          </a:xfrm>
          <a:prstGeom prst="line">
            <a:avLst/>
          </a:prstGeom>
          <a:ln w="19050" cap="flat">
            <a:solidFill>
              <a:srgbClr val="67A0DA"/>
            </a:solidFill>
            <a:prstDash val="solid"/>
            <a:headEnd type="none" w="sm" len="sm"/>
            <a:tailEnd type="none" w="sm" len="sm"/>
          </a:ln>
        </p:spPr>
      </p:sp>
      <p:sp>
        <p:nvSpPr>
          <p:cNvPr id="39" name="AutoShape 39"/>
          <p:cNvSpPr/>
          <p:nvPr/>
        </p:nvSpPr>
        <p:spPr>
          <a:xfrm>
            <a:off x="4888836" y="4859123"/>
            <a:ext cx="0" cy="797731"/>
          </a:xfrm>
          <a:prstGeom prst="line">
            <a:avLst/>
          </a:prstGeom>
          <a:ln w="19050" cap="flat">
            <a:solidFill>
              <a:srgbClr val="67A0DA"/>
            </a:solidFill>
            <a:prstDash val="solid"/>
            <a:headEnd type="none" w="sm" len="sm"/>
            <a:tailEnd type="none" w="sm" len="sm"/>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5403"/>
            <a:ext cx="18288000" cy="3744230"/>
            <a:chOff x="0" y="0"/>
            <a:chExt cx="24384000" cy="4992306"/>
          </a:xfrm>
        </p:grpSpPr>
        <p:sp>
          <p:nvSpPr>
            <p:cNvPr id="3" name="Freeform 3" descr="一張含有 黑暗, 黑色, 螢幕擷取畫面, 光線 的圖片  AI 產生的內容可能不正確。"/>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3"/>
              <a:stretch>
                <a:fillRect b="-1"/>
              </a:stretch>
            </a:blipFill>
          </p:spPr>
        </p:sp>
      </p:grpSp>
      <p:grpSp>
        <p:nvGrpSpPr>
          <p:cNvPr id="4" name="Group 4"/>
          <p:cNvGrpSpPr/>
          <p:nvPr/>
        </p:nvGrpSpPr>
        <p:grpSpPr>
          <a:xfrm>
            <a:off x="1363408" y="599237"/>
            <a:ext cx="1103243" cy="551059"/>
            <a:chOff x="0" y="0"/>
            <a:chExt cx="1470990" cy="734746"/>
          </a:xfrm>
        </p:grpSpPr>
        <p:sp>
          <p:nvSpPr>
            <p:cNvPr id="5" name="Freeform 5"/>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4"/>
              <a:stretch>
                <a:fillRect t="-221" r="3" b="-226"/>
              </a:stretch>
            </a:blipFill>
          </p:spPr>
        </p:sp>
      </p:grpSp>
      <p:grpSp>
        <p:nvGrpSpPr>
          <p:cNvPr id="6" name="Group 6"/>
          <p:cNvGrpSpPr/>
          <p:nvPr/>
        </p:nvGrpSpPr>
        <p:grpSpPr>
          <a:xfrm>
            <a:off x="1513740" y="1755038"/>
            <a:ext cx="16475783" cy="1508760"/>
            <a:chOff x="0" y="0"/>
            <a:chExt cx="21967711" cy="2011680"/>
          </a:xfrm>
        </p:grpSpPr>
        <p:sp>
          <p:nvSpPr>
            <p:cNvPr id="7" name="Freeform 7"/>
            <p:cNvSpPr/>
            <p:nvPr/>
          </p:nvSpPr>
          <p:spPr>
            <a:xfrm>
              <a:off x="0" y="0"/>
              <a:ext cx="21967712" cy="2011680"/>
            </a:xfrm>
            <a:custGeom>
              <a:avLst/>
              <a:gdLst/>
              <a:ahLst/>
              <a:cxnLst/>
              <a:rect l="l" t="t" r="r" b="b"/>
              <a:pathLst>
                <a:path w="21967712" h="2011680">
                  <a:moveTo>
                    <a:pt x="0" y="0"/>
                  </a:moveTo>
                  <a:lnTo>
                    <a:pt x="21967712" y="0"/>
                  </a:lnTo>
                  <a:lnTo>
                    <a:pt x="21967712" y="2011680"/>
                  </a:lnTo>
                  <a:lnTo>
                    <a:pt x="0" y="2011680"/>
                  </a:lnTo>
                  <a:close/>
                </a:path>
              </a:pathLst>
            </a:custGeom>
            <a:blipFill>
              <a:blip r:embed="rId5">
                <a:alphaModFix amt="0"/>
              </a:blip>
              <a:stretch>
                <a:fillRect t="-192578" r="-14005" b="-192578"/>
              </a:stretch>
            </a:blipFill>
          </p:spPr>
        </p:sp>
        <p:sp>
          <p:nvSpPr>
            <p:cNvPr id="8" name="TextBox 8"/>
            <p:cNvSpPr txBox="1"/>
            <p:nvPr/>
          </p:nvSpPr>
          <p:spPr>
            <a:xfrm>
              <a:off x="0" y="152400"/>
              <a:ext cx="21967711" cy="1859280"/>
            </a:xfrm>
            <a:prstGeom prst="rect">
              <a:avLst/>
            </a:prstGeom>
          </p:spPr>
          <p:txBody>
            <a:bodyPr lIns="0" tIns="0" rIns="0" bIns="0" rtlCol="0" anchor="ctr"/>
            <a:lstStyle/>
            <a:p>
              <a:pPr algn="l">
                <a:lnSpc>
                  <a:spcPts val="4284"/>
                </a:lnSpc>
              </a:pPr>
              <a:r>
                <a:rPr lang="en-US" sz="5100" b="1">
                  <a:solidFill>
                    <a:srgbClr val="003366"/>
                  </a:solidFill>
                  <a:latin typeface="Times New Roman"/>
                  <a:ea typeface="Times New Roman"/>
                  <a:cs typeface="Times New Roman"/>
                  <a:sym typeface="Times New Roman"/>
                </a:rPr>
                <a:t>Northern Office: Three Pillars of the Sports Data Platform</a:t>
              </a:r>
            </a:p>
          </p:txBody>
        </p:sp>
      </p:grpSp>
      <p:sp>
        <p:nvSpPr>
          <p:cNvPr id="9" name="Freeform 9"/>
          <p:cNvSpPr/>
          <p:nvPr/>
        </p:nvSpPr>
        <p:spPr>
          <a:xfrm>
            <a:off x="799154" y="2252616"/>
            <a:ext cx="455075" cy="455075"/>
          </a:xfrm>
          <a:custGeom>
            <a:avLst/>
            <a:gdLst/>
            <a:ahLst/>
            <a:cxnLst/>
            <a:rect l="l" t="t" r="r" b="b"/>
            <a:pathLst>
              <a:path w="455075" h="455075">
                <a:moveTo>
                  <a:pt x="0" y="0"/>
                </a:moveTo>
                <a:lnTo>
                  <a:pt x="455074" y="0"/>
                </a:lnTo>
                <a:lnTo>
                  <a:pt x="455074" y="455075"/>
                </a:lnTo>
                <a:lnTo>
                  <a:pt x="0" y="4550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TextBox 10"/>
          <p:cNvSpPr txBox="1"/>
          <p:nvPr/>
        </p:nvSpPr>
        <p:spPr>
          <a:xfrm>
            <a:off x="875264" y="3447762"/>
            <a:ext cx="10698425" cy="6147943"/>
          </a:xfrm>
          <a:prstGeom prst="rect">
            <a:avLst/>
          </a:prstGeom>
        </p:spPr>
        <p:txBody>
          <a:bodyPr lIns="0" tIns="0" rIns="0" bIns="0" rtlCol="0" anchor="t">
            <a:spAutoFit/>
          </a:bodyPr>
          <a:lstStyle/>
          <a:p>
            <a:pPr marL="481394" lvl="1" indent="-240697" algn="l">
              <a:lnSpc>
                <a:spcPts val="3458"/>
              </a:lnSpc>
              <a:buFont typeface="Arial"/>
              <a:buChar char="•"/>
            </a:pPr>
            <a:r>
              <a:rPr lang="en-US" sz="2660" b="1" dirty="0">
                <a:solidFill>
                  <a:srgbClr val="002060"/>
                </a:solidFill>
                <a:latin typeface="Times New Roman"/>
                <a:ea typeface="Times New Roman"/>
                <a:cs typeface="Times New Roman"/>
                <a:sym typeface="Times New Roman"/>
              </a:rPr>
              <a:t>Informed Consent Platform</a:t>
            </a:r>
          </a:p>
          <a:p>
            <a:pPr marL="1034190" lvl="2" indent="-344730" algn="l">
              <a:lnSpc>
                <a:spcPts val="3458"/>
              </a:lnSpc>
              <a:buFont typeface="Arial"/>
              <a:buChar char="⚬"/>
            </a:pPr>
            <a:r>
              <a:rPr lang="en-US" sz="2660" dirty="0">
                <a:solidFill>
                  <a:srgbClr val="002060"/>
                </a:solidFill>
                <a:latin typeface="Times New Roman"/>
                <a:ea typeface="Times New Roman"/>
                <a:cs typeface="Times New Roman"/>
                <a:sym typeface="Times New Roman"/>
              </a:rPr>
              <a:t>Single consent, dynamic consent, and project-based consent</a:t>
            </a:r>
          </a:p>
          <a:p>
            <a:pPr marL="1034190" lvl="2" indent="-344730" algn="l">
              <a:lnSpc>
                <a:spcPts val="3458"/>
              </a:lnSpc>
              <a:buFont typeface="Arial"/>
              <a:buChar char="⚬"/>
            </a:pPr>
            <a:r>
              <a:rPr lang="en-US" sz="2660" dirty="0">
                <a:solidFill>
                  <a:srgbClr val="002060"/>
                </a:solidFill>
                <a:latin typeface="Times New Roman"/>
                <a:ea typeface="Times New Roman"/>
                <a:cs typeface="Times New Roman"/>
                <a:sym typeface="Times New Roman"/>
              </a:rPr>
              <a:t>The compliance foundation for sports data collection, providing authorization records and maintenance log to support the data-economy ecosystem (does not cover legal compliance determinations or dispute liability)</a:t>
            </a:r>
          </a:p>
          <a:p>
            <a:pPr marL="1034068" lvl="2" indent="-344689" algn="l">
              <a:lnSpc>
                <a:spcPts val="3458"/>
              </a:lnSpc>
              <a:buFont typeface="Arial"/>
              <a:buChar char="⚬"/>
            </a:pPr>
            <a:r>
              <a:rPr lang="en-US" sz="2660" dirty="0">
                <a:solidFill>
                  <a:srgbClr val="002060"/>
                </a:solidFill>
                <a:latin typeface="Times New Roman"/>
                <a:ea typeface="Times New Roman"/>
                <a:cs typeface="Times New Roman"/>
                <a:sym typeface="Times New Roman"/>
              </a:rPr>
              <a:t>High cost of linking and authenticating cyber and physical identities</a:t>
            </a:r>
          </a:p>
          <a:p>
            <a:pPr algn="l">
              <a:lnSpc>
                <a:spcPts val="3458"/>
              </a:lnSpc>
            </a:pPr>
            <a:endParaRPr lang="en-US" sz="2660" dirty="0">
              <a:solidFill>
                <a:srgbClr val="002060"/>
              </a:solidFill>
              <a:latin typeface="Times New Roman"/>
              <a:ea typeface="Times New Roman"/>
              <a:cs typeface="Times New Roman"/>
              <a:sym typeface="Times New Roman"/>
            </a:endParaRPr>
          </a:p>
          <a:p>
            <a:pPr marL="481394" lvl="1" indent="-240697" algn="l">
              <a:lnSpc>
                <a:spcPts val="3458"/>
              </a:lnSpc>
              <a:buFont typeface="Arial"/>
              <a:buChar char="•"/>
            </a:pPr>
            <a:r>
              <a:rPr lang="en-US" sz="2660" b="1" dirty="0">
                <a:solidFill>
                  <a:srgbClr val="002060"/>
                </a:solidFill>
                <a:latin typeface="Times New Roman"/>
                <a:ea typeface="Times New Roman"/>
                <a:cs typeface="Times New Roman"/>
                <a:sym typeface="Times New Roman"/>
              </a:rPr>
              <a:t>Sports Data Lake</a:t>
            </a:r>
          </a:p>
          <a:p>
            <a:pPr marL="1034190" lvl="2" indent="-344730" algn="l">
              <a:lnSpc>
                <a:spcPts val="3458"/>
              </a:lnSpc>
              <a:buFont typeface="Arial"/>
              <a:buChar char="⚬"/>
            </a:pPr>
            <a:r>
              <a:rPr lang="en-US" sz="2660" dirty="0">
                <a:solidFill>
                  <a:srgbClr val="002060"/>
                </a:solidFill>
                <a:latin typeface="Times New Roman"/>
                <a:ea typeface="Times New Roman"/>
                <a:cs typeface="Times New Roman"/>
                <a:sym typeface="Times New Roman"/>
              </a:rPr>
              <a:t>Sports data exchange reference standards</a:t>
            </a:r>
          </a:p>
          <a:p>
            <a:pPr marL="1034190" lvl="2" indent="-344730" algn="l">
              <a:lnSpc>
                <a:spcPts val="3458"/>
              </a:lnSpc>
              <a:buFont typeface="Arial"/>
              <a:buChar char="⚬"/>
            </a:pPr>
            <a:r>
              <a:rPr lang="en-US" sz="2660" dirty="0">
                <a:solidFill>
                  <a:srgbClr val="002060"/>
                </a:solidFill>
                <a:latin typeface="Times New Roman"/>
                <a:ea typeface="Times New Roman"/>
                <a:cs typeface="Times New Roman"/>
                <a:sym typeface="Times New Roman"/>
              </a:rPr>
              <a:t>Data sources and integration</a:t>
            </a:r>
          </a:p>
          <a:p>
            <a:pPr marL="1034068" lvl="2" indent="-344689" algn="l">
              <a:lnSpc>
                <a:spcPts val="3458"/>
              </a:lnSpc>
              <a:buFont typeface="Arial"/>
              <a:buChar char="⚬"/>
            </a:pPr>
            <a:r>
              <a:rPr lang="en-US" sz="2660" dirty="0">
                <a:solidFill>
                  <a:srgbClr val="002060"/>
                </a:solidFill>
                <a:latin typeface="Times New Roman"/>
                <a:ea typeface="Times New Roman"/>
                <a:cs typeface="Times New Roman"/>
                <a:sym typeface="Times New Roman"/>
              </a:rPr>
              <a:t>Data governance in practice, e.g. consent withdrawal, data access logs</a:t>
            </a:r>
          </a:p>
          <a:p>
            <a:pPr algn="l">
              <a:lnSpc>
                <a:spcPts val="3458"/>
              </a:lnSpc>
            </a:pPr>
            <a:endParaRPr lang="en-US" sz="2660" dirty="0">
              <a:solidFill>
                <a:srgbClr val="002060"/>
              </a:solidFill>
              <a:latin typeface="Times New Roman"/>
              <a:ea typeface="Times New Roman"/>
              <a:cs typeface="Times New Roman"/>
              <a:sym typeface="Times New Roman"/>
            </a:endParaRPr>
          </a:p>
          <a:p>
            <a:pPr marL="481394" lvl="1" indent="-240697" algn="l">
              <a:lnSpc>
                <a:spcPts val="3458"/>
              </a:lnSpc>
              <a:buFont typeface="Arial"/>
              <a:buChar char="•"/>
            </a:pPr>
            <a:r>
              <a:rPr lang="en-US" sz="2660" b="1" dirty="0">
                <a:solidFill>
                  <a:srgbClr val="002060"/>
                </a:solidFill>
                <a:latin typeface="Times New Roman"/>
                <a:ea typeface="Times New Roman"/>
                <a:cs typeface="Times New Roman"/>
                <a:sym typeface="Times New Roman"/>
              </a:rPr>
              <a:t>Data Statistics &amp; Intelligent Applications</a:t>
            </a:r>
          </a:p>
        </p:txBody>
      </p:sp>
      <p:grpSp>
        <p:nvGrpSpPr>
          <p:cNvPr id="11" name="Group 11"/>
          <p:cNvGrpSpPr/>
          <p:nvPr/>
        </p:nvGrpSpPr>
        <p:grpSpPr>
          <a:xfrm>
            <a:off x="12113937" y="7330765"/>
            <a:ext cx="5494486" cy="2584611"/>
            <a:chOff x="0" y="0"/>
            <a:chExt cx="6531661" cy="3072498"/>
          </a:xfrm>
        </p:grpSpPr>
        <p:sp>
          <p:nvSpPr>
            <p:cNvPr id="12" name="Freeform 12"/>
            <p:cNvSpPr/>
            <p:nvPr/>
          </p:nvSpPr>
          <p:spPr>
            <a:xfrm>
              <a:off x="0" y="0"/>
              <a:ext cx="6531610" cy="3072511"/>
            </a:xfrm>
            <a:custGeom>
              <a:avLst/>
              <a:gdLst/>
              <a:ahLst/>
              <a:cxnLst/>
              <a:rect l="l" t="t" r="r" b="b"/>
              <a:pathLst>
                <a:path w="6531610" h="3072511">
                  <a:moveTo>
                    <a:pt x="0" y="0"/>
                  </a:moveTo>
                  <a:lnTo>
                    <a:pt x="6531610" y="0"/>
                  </a:lnTo>
                  <a:lnTo>
                    <a:pt x="6531610" y="3072511"/>
                  </a:lnTo>
                  <a:lnTo>
                    <a:pt x="0" y="3072511"/>
                  </a:lnTo>
                  <a:lnTo>
                    <a:pt x="0" y="0"/>
                  </a:lnTo>
                  <a:close/>
                </a:path>
              </a:pathLst>
            </a:custGeom>
            <a:blipFill>
              <a:blip r:embed="rId8"/>
              <a:stretch>
                <a:fillRect t="-16167" r="-111460" b="-10262"/>
              </a:stretch>
            </a:blipFill>
          </p:spPr>
        </p:sp>
      </p:grpSp>
      <p:grpSp>
        <p:nvGrpSpPr>
          <p:cNvPr id="13" name="Group 13"/>
          <p:cNvGrpSpPr/>
          <p:nvPr/>
        </p:nvGrpSpPr>
        <p:grpSpPr>
          <a:xfrm>
            <a:off x="11952653" y="3445032"/>
            <a:ext cx="3497234" cy="3060079"/>
            <a:chOff x="0" y="0"/>
            <a:chExt cx="4662978" cy="4080106"/>
          </a:xfrm>
        </p:grpSpPr>
        <p:grpSp>
          <p:nvGrpSpPr>
            <p:cNvPr id="14" name="Group 14"/>
            <p:cNvGrpSpPr/>
            <p:nvPr/>
          </p:nvGrpSpPr>
          <p:grpSpPr>
            <a:xfrm rot="-10800000">
              <a:off x="0" y="0"/>
              <a:ext cx="4662978" cy="4080106"/>
              <a:chOff x="0" y="0"/>
              <a:chExt cx="812800" cy="711200"/>
            </a:xfrm>
          </p:grpSpPr>
          <p:sp>
            <p:nvSpPr>
              <p:cNvPr id="15" name="Freeform 15"/>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D6EBF9"/>
              </a:solidFill>
            </p:spPr>
            <p:txBody>
              <a:bodyPr/>
              <a:lstStyle/>
              <a:p>
                <a:endParaRPr lang="en-US" dirty="0"/>
              </a:p>
            </p:txBody>
          </p:sp>
          <p:sp>
            <p:nvSpPr>
              <p:cNvPr id="16" name="TextBox 16"/>
              <p:cNvSpPr txBox="1"/>
              <p:nvPr/>
            </p:nvSpPr>
            <p:spPr>
              <a:xfrm>
                <a:off x="127000" y="292100"/>
                <a:ext cx="558800" cy="368300"/>
              </a:xfrm>
              <a:prstGeom prst="rect">
                <a:avLst/>
              </a:prstGeom>
            </p:spPr>
            <p:txBody>
              <a:bodyPr lIns="50800" tIns="50800" rIns="50800" bIns="50800" rtlCol="0" anchor="ctr"/>
              <a:lstStyle/>
              <a:p>
                <a:pPr algn="ctr">
                  <a:lnSpc>
                    <a:spcPts val="3380"/>
                  </a:lnSpc>
                </a:pPr>
                <a:endParaRPr/>
              </a:p>
            </p:txBody>
          </p:sp>
        </p:grpSp>
        <p:sp>
          <p:nvSpPr>
            <p:cNvPr id="17" name="AutoShape 17"/>
            <p:cNvSpPr/>
            <p:nvPr/>
          </p:nvSpPr>
          <p:spPr>
            <a:xfrm flipH="1">
              <a:off x="313215" y="2391587"/>
              <a:ext cx="3988369" cy="0"/>
            </a:xfrm>
            <a:prstGeom prst="line">
              <a:avLst/>
            </a:prstGeom>
            <a:ln w="149712" cap="flat">
              <a:solidFill>
                <a:srgbClr val="FFFFFF"/>
              </a:solidFill>
              <a:prstDash val="solid"/>
              <a:headEnd type="none" w="sm" len="sm"/>
              <a:tailEnd type="none" w="sm" len="sm"/>
            </a:ln>
          </p:spPr>
        </p:sp>
        <p:sp>
          <p:nvSpPr>
            <p:cNvPr id="18" name="AutoShape 18"/>
            <p:cNvSpPr/>
            <p:nvPr/>
          </p:nvSpPr>
          <p:spPr>
            <a:xfrm flipH="1">
              <a:off x="313215" y="1312058"/>
              <a:ext cx="3988369" cy="0"/>
            </a:xfrm>
            <a:prstGeom prst="line">
              <a:avLst/>
            </a:prstGeom>
            <a:ln w="149712" cap="flat">
              <a:solidFill>
                <a:srgbClr val="FFFFFF"/>
              </a:solidFill>
              <a:prstDash val="solid"/>
              <a:headEnd type="none" w="sm" len="sm"/>
              <a:tailEnd type="none" w="sm" len="sm"/>
            </a:ln>
          </p:spPr>
        </p:sp>
        <p:sp>
          <p:nvSpPr>
            <p:cNvPr id="19" name="Freeform 19"/>
            <p:cNvSpPr/>
            <p:nvPr/>
          </p:nvSpPr>
          <p:spPr>
            <a:xfrm rot="10777">
              <a:off x="2087172" y="1498605"/>
              <a:ext cx="550049" cy="696265"/>
            </a:xfrm>
            <a:custGeom>
              <a:avLst/>
              <a:gdLst/>
              <a:ahLst/>
              <a:cxnLst/>
              <a:rect l="l" t="t" r="r" b="b"/>
              <a:pathLst>
                <a:path w="550049" h="696265">
                  <a:moveTo>
                    <a:pt x="0" y="0"/>
                  </a:moveTo>
                  <a:lnTo>
                    <a:pt x="550050" y="0"/>
                  </a:lnTo>
                  <a:lnTo>
                    <a:pt x="550050" y="696265"/>
                  </a:lnTo>
                  <a:lnTo>
                    <a:pt x="0" y="6962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0" name="Freeform 20"/>
            <p:cNvSpPr/>
            <p:nvPr/>
          </p:nvSpPr>
          <p:spPr>
            <a:xfrm rot="10777">
              <a:off x="1944376" y="2603331"/>
              <a:ext cx="766153" cy="735507"/>
            </a:xfrm>
            <a:custGeom>
              <a:avLst/>
              <a:gdLst/>
              <a:ahLst/>
              <a:cxnLst/>
              <a:rect l="l" t="t" r="r" b="b"/>
              <a:pathLst>
                <a:path w="835853" h="802419">
                  <a:moveTo>
                    <a:pt x="0" y="0"/>
                  </a:moveTo>
                  <a:lnTo>
                    <a:pt x="835852" y="0"/>
                  </a:lnTo>
                  <a:lnTo>
                    <a:pt x="835852" y="802418"/>
                  </a:lnTo>
                  <a:lnTo>
                    <a:pt x="0" y="80241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1" name="Freeform 21"/>
            <p:cNvSpPr/>
            <p:nvPr/>
          </p:nvSpPr>
          <p:spPr>
            <a:xfrm rot="10777">
              <a:off x="2004853" y="119037"/>
              <a:ext cx="703263" cy="890205"/>
            </a:xfrm>
            <a:custGeom>
              <a:avLst/>
              <a:gdLst/>
              <a:ahLst/>
              <a:cxnLst/>
              <a:rect l="l" t="t" r="r" b="b"/>
              <a:pathLst>
                <a:path w="770564" h="975398">
                  <a:moveTo>
                    <a:pt x="0" y="0"/>
                  </a:moveTo>
                  <a:lnTo>
                    <a:pt x="770565" y="0"/>
                  </a:lnTo>
                  <a:lnTo>
                    <a:pt x="770565" y="975398"/>
                  </a:lnTo>
                  <a:lnTo>
                    <a:pt x="0" y="97539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grpSp>
      <p:sp>
        <p:nvSpPr>
          <p:cNvPr id="22" name="TextBox 22"/>
          <p:cNvSpPr txBox="1"/>
          <p:nvPr/>
        </p:nvSpPr>
        <p:spPr>
          <a:xfrm rot="10777">
            <a:off x="14531597" y="3778042"/>
            <a:ext cx="3680754" cy="265650"/>
          </a:xfrm>
          <a:prstGeom prst="rect">
            <a:avLst/>
          </a:prstGeom>
        </p:spPr>
        <p:txBody>
          <a:bodyPr wrap="square" lIns="0" tIns="0" rIns="0" bIns="0" rtlCol="0" anchor="t">
            <a:spAutoFit/>
          </a:bodyPr>
          <a:lstStyle/>
          <a:p>
            <a:pPr algn="l">
              <a:lnSpc>
                <a:spcPts val="2158"/>
              </a:lnSpc>
            </a:pPr>
            <a:r>
              <a:rPr lang="en-US" sz="1798" b="1" dirty="0">
                <a:solidFill>
                  <a:srgbClr val="1E4C9A"/>
                </a:solidFill>
                <a:latin typeface="Times New Roman"/>
                <a:ea typeface="Times New Roman"/>
                <a:cs typeface="Times New Roman"/>
                <a:sym typeface="Times New Roman"/>
              </a:rPr>
              <a:t>Authorization &amp; Informed Consent</a:t>
            </a:r>
          </a:p>
        </p:txBody>
      </p:sp>
      <p:sp>
        <p:nvSpPr>
          <p:cNvPr id="23" name="TextBox 23"/>
          <p:cNvSpPr txBox="1"/>
          <p:nvPr/>
        </p:nvSpPr>
        <p:spPr>
          <a:xfrm rot="10777">
            <a:off x="14337883" y="4701124"/>
            <a:ext cx="2883810" cy="265650"/>
          </a:xfrm>
          <a:prstGeom prst="rect">
            <a:avLst/>
          </a:prstGeom>
        </p:spPr>
        <p:txBody>
          <a:bodyPr wrap="square" lIns="0" tIns="0" rIns="0" bIns="0" rtlCol="0" anchor="t">
            <a:spAutoFit/>
          </a:bodyPr>
          <a:lstStyle/>
          <a:p>
            <a:pPr algn="l">
              <a:lnSpc>
                <a:spcPts val="2158"/>
              </a:lnSpc>
            </a:pPr>
            <a:r>
              <a:rPr lang="en-US" sz="1798" b="1" dirty="0">
                <a:solidFill>
                  <a:srgbClr val="005A9E"/>
                </a:solidFill>
                <a:latin typeface="Times New Roman"/>
                <a:ea typeface="Times New Roman"/>
                <a:cs typeface="Times New Roman"/>
                <a:sym typeface="Times New Roman"/>
              </a:rPr>
              <a:t>Data Integration Platform</a:t>
            </a:r>
          </a:p>
        </p:txBody>
      </p:sp>
      <p:sp>
        <p:nvSpPr>
          <p:cNvPr id="24" name="TextBox 24"/>
          <p:cNvSpPr txBox="1"/>
          <p:nvPr/>
        </p:nvSpPr>
        <p:spPr>
          <a:xfrm rot="10777">
            <a:off x="14127980" y="5616784"/>
            <a:ext cx="1874446" cy="268812"/>
          </a:xfrm>
          <a:prstGeom prst="rect">
            <a:avLst/>
          </a:prstGeom>
        </p:spPr>
        <p:txBody>
          <a:bodyPr wrap="square" lIns="0" tIns="0" rIns="0" bIns="0" rtlCol="0" anchor="t">
            <a:spAutoFit/>
          </a:bodyPr>
          <a:lstStyle/>
          <a:p>
            <a:pPr algn="l">
              <a:lnSpc>
                <a:spcPts val="2158"/>
              </a:lnSpc>
            </a:pPr>
            <a:r>
              <a:rPr lang="en-US" sz="1798" b="1" dirty="0">
                <a:solidFill>
                  <a:srgbClr val="005A9E"/>
                </a:solidFill>
                <a:latin typeface="Times New Roman"/>
                <a:ea typeface="Times New Roman"/>
                <a:cs typeface="Times New Roman"/>
                <a:sym typeface="Times New Roman"/>
              </a:rPr>
              <a:t>Sports Services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29"/>
          <p:cNvSpPr/>
          <p:nvPr/>
        </p:nvSpPr>
        <p:spPr>
          <a:xfrm rot="-1270853">
            <a:off x="6940045" y="4600771"/>
            <a:ext cx="4407911" cy="4591573"/>
          </a:xfrm>
          <a:custGeom>
            <a:avLst/>
            <a:gdLst/>
            <a:ahLst/>
            <a:cxnLst/>
            <a:rect l="l" t="t" r="r" b="b"/>
            <a:pathLst>
              <a:path w="4407911" h="4591573">
                <a:moveTo>
                  <a:pt x="0" y="0"/>
                </a:moveTo>
                <a:lnTo>
                  <a:pt x="4407910" y="0"/>
                </a:lnTo>
                <a:lnTo>
                  <a:pt x="4407910" y="4591573"/>
                </a:lnTo>
                <a:lnTo>
                  <a:pt x="0" y="459157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2" name="Group 2"/>
          <p:cNvGrpSpPr/>
          <p:nvPr/>
        </p:nvGrpSpPr>
        <p:grpSpPr>
          <a:xfrm>
            <a:off x="1363408" y="599237"/>
            <a:ext cx="1103243" cy="551059"/>
            <a:chOff x="0" y="0"/>
            <a:chExt cx="1470990" cy="734746"/>
          </a:xfrm>
        </p:grpSpPr>
        <p:sp>
          <p:nvSpPr>
            <p:cNvPr id="3" name="Freeform 3"/>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5"/>
              <a:stretch>
                <a:fillRect t="-221" r="3" b="-226"/>
              </a:stretch>
            </a:blipFill>
          </p:spPr>
        </p:sp>
      </p:grpSp>
      <p:grpSp>
        <p:nvGrpSpPr>
          <p:cNvPr id="4" name="Group 4"/>
          <p:cNvGrpSpPr/>
          <p:nvPr/>
        </p:nvGrpSpPr>
        <p:grpSpPr>
          <a:xfrm>
            <a:off x="0" y="25403"/>
            <a:ext cx="18288000" cy="3744230"/>
            <a:chOff x="0" y="0"/>
            <a:chExt cx="24384000" cy="4992306"/>
          </a:xfrm>
        </p:grpSpPr>
        <p:sp>
          <p:nvSpPr>
            <p:cNvPr id="5" name="Freeform 5" descr="一張含有 黑暗, 黑色, 螢幕擷取畫面, 光線 的圖片  AI 產生的內容可能不正確。"/>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6"/>
              <a:stretch>
                <a:fillRect b="-1"/>
              </a:stretch>
            </a:blipFill>
          </p:spPr>
        </p:sp>
      </p:grpSp>
      <p:grpSp>
        <p:nvGrpSpPr>
          <p:cNvPr id="6" name="Group 6"/>
          <p:cNvGrpSpPr/>
          <p:nvPr/>
        </p:nvGrpSpPr>
        <p:grpSpPr>
          <a:xfrm>
            <a:off x="4518888" y="6368906"/>
            <a:ext cx="1975097" cy="2678671"/>
            <a:chOff x="0" y="0"/>
            <a:chExt cx="2852826" cy="3869068"/>
          </a:xfrm>
        </p:grpSpPr>
        <p:sp>
          <p:nvSpPr>
            <p:cNvPr id="7" name="Freeform 7">
              <a:hlinkClick r:id="rId7" tooltip="https://sportsecon.org.tw/"/>
            </p:cNvPr>
            <p:cNvSpPr/>
            <p:nvPr/>
          </p:nvSpPr>
          <p:spPr>
            <a:xfrm rot="6000">
              <a:off x="-3374" y="-2487"/>
              <a:ext cx="2859549" cy="3874028"/>
            </a:xfrm>
            <a:custGeom>
              <a:avLst/>
              <a:gdLst/>
              <a:ahLst/>
              <a:cxnLst/>
              <a:rect l="l" t="t" r="r" b="b"/>
              <a:pathLst>
                <a:path w="2859549" h="3874028">
                  <a:moveTo>
                    <a:pt x="0" y="4979"/>
                  </a:moveTo>
                  <a:lnTo>
                    <a:pt x="2852797" y="0"/>
                  </a:lnTo>
                  <a:lnTo>
                    <a:pt x="2859549" y="3869049"/>
                  </a:lnTo>
                  <a:lnTo>
                    <a:pt x="6753" y="3874029"/>
                  </a:lnTo>
                  <a:lnTo>
                    <a:pt x="0" y="4979"/>
                  </a:lnTo>
                  <a:close/>
                </a:path>
              </a:pathLst>
            </a:custGeom>
            <a:blipFill>
              <a:blip r:embed="rId8"/>
              <a:stretch>
                <a:fillRect l="-100927" t="-5903" r="-8837" b="-1948"/>
              </a:stretch>
            </a:blipFill>
          </p:spPr>
        </p:sp>
      </p:grpSp>
      <p:grpSp>
        <p:nvGrpSpPr>
          <p:cNvPr id="8" name="Group 8"/>
          <p:cNvGrpSpPr/>
          <p:nvPr/>
        </p:nvGrpSpPr>
        <p:grpSpPr>
          <a:xfrm>
            <a:off x="227233" y="5451977"/>
            <a:ext cx="6266752" cy="916930"/>
            <a:chOff x="0" y="0"/>
            <a:chExt cx="8691253" cy="1271674"/>
          </a:xfrm>
        </p:grpSpPr>
        <p:sp>
          <p:nvSpPr>
            <p:cNvPr id="9" name="Freeform 9"/>
            <p:cNvSpPr/>
            <p:nvPr/>
          </p:nvSpPr>
          <p:spPr>
            <a:xfrm>
              <a:off x="0" y="0"/>
              <a:ext cx="8691278" cy="1271712"/>
            </a:xfrm>
            <a:custGeom>
              <a:avLst/>
              <a:gdLst/>
              <a:ahLst/>
              <a:cxnLst/>
              <a:rect l="l" t="t" r="r" b="b"/>
              <a:pathLst>
                <a:path w="8691278" h="1271712">
                  <a:moveTo>
                    <a:pt x="0" y="0"/>
                  </a:moveTo>
                  <a:lnTo>
                    <a:pt x="8691278" y="0"/>
                  </a:lnTo>
                  <a:lnTo>
                    <a:pt x="8691278" y="1271712"/>
                  </a:lnTo>
                  <a:lnTo>
                    <a:pt x="0" y="1271712"/>
                  </a:lnTo>
                  <a:close/>
                </a:path>
              </a:pathLst>
            </a:custGeom>
            <a:solidFill>
              <a:srgbClr val="4BA588"/>
            </a:solidFill>
          </p:spPr>
        </p:sp>
        <p:sp>
          <p:nvSpPr>
            <p:cNvPr id="10" name="TextBox 10"/>
            <p:cNvSpPr txBox="1"/>
            <p:nvPr/>
          </p:nvSpPr>
          <p:spPr>
            <a:xfrm>
              <a:off x="0" y="-9525"/>
              <a:ext cx="8691253" cy="1281199"/>
            </a:xfrm>
            <a:prstGeom prst="rect">
              <a:avLst/>
            </a:prstGeom>
          </p:spPr>
          <p:txBody>
            <a:bodyPr lIns="50800" tIns="50800" rIns="50800" bIns="50800" rtlCol="0" anchor="t"/>
            <a:lstStyle/>
            <a:p>
              <a:pPr algn="ctr">
                <a:lnSpc>
                  <a:spcPts val="2879"/>
                </a:lnSpc>
              </a:pPr>
              <a:r>
                <a:rPr lang="en-US" sz="2399" dirty="0">
                  <a:solidFill>
                    <a:srgbClr val="FFFFFF"/>
                  </a:solidFill>
                  <a:latin typeface="Times New Roman"/>
                  <a:ea typeface="Times New Roman"/>
                  <a:cs typeface="Times New Roman"/>
                  <a:sym typeface="Times New Roman"/>
                </a:rPr>
                <a:t>A comprehensive personalized sports-log </a:t>
              </a:r>
            </a:p>
            <a:p>
              <a:pPr algn="ctr">
                <a:lnSpc>
                  <a:spcPts val="2879"/>
                </a:lnSpc>
              </a:pPr>
              <a:r>
                <a:rPr lang="en-US" sz="2399" dirty="0">
                  <a:solidFill>
                    <a:srgbClr val="FFFFFF"/>
                  </a:solidFill>
                  <a:latin typeface="Times New Roman"/>
                  <a:ea typeface="Times New Roman"/>
                  <a:cs typeface="Times New Roman"/>
                  <a:sym typeface="Times New Roman"/>
                </a:rPr>
                <a:t>data core platform</a:t>
              </a:r>
            </a:p>
          </p:txBody>
        </p:sp>
      </p:grpSp>
      <p:grpSp>
        <p:nvGrpSpPr>
          <p:cNvPr id="11" name="Group 11"/>
          <p:cNvGrpSpPr/>
          <p:nvPr/>
        </p:nvGrpSpPr>
        <p:grpSpPr>
          <a:xfrm>
            <a:off x="227233" y="6368906"/>
            <a:ext cx="4411868" cy="2678671"/>
            <a:chOff x="0" y="0"/>
            <a:chExt cx="6118746" cy="3715004"/>
          </a:xfrm>
        </p:grpSpPr>
        <p:sp>
          <p:nvSpPr>
            <p:cNvPr id="12" name="Freeform 12">
              <a:hlinkClick r:id="rId9" tooltip="https://sportsdata.org.tw/"/>
            </p:cNvPr>
            <p:cNvSpPr/>
            <p:nvPr/>
          </p:nvSpPr>
          <p:spPr>
            <a:xfrm>
              <a:off x="0" y="0"/>
              <a:ext cx="6118733" cy="3715004"/>
            </a:xfrm>
            <a:custGeom>
              <a:avLst/>
              <a:gdLst/>
              <a:ahLst/>
              <a:cxnLst/>
              <a:rect l="l" t="t" r="r" b="b"/>
              <a:pathLst>
                <a:path w="6118733" h="3715004">
                  <a:moveTo>
                    <a:pt x="0" y="0"/>
                  </a:moveTo>
                  <a:lnTo>
                    <a:pt x="6118733" y="0"/>
                  </a:lnTo>
                  <a:lnTo>
                    <a:pt x="6118733" y="3715004"/>
                  </a:lnTo>
                  <a:lnTo>
                    <a:pt x="0" y="3715004"/>
                  </a:lnTo>
                  <a:lnTo>
                    <a:pt x="0" y="0"/>
                  </a:lnTo>
                  <a:close/>
                </a:path>
              </a:pathLst>
            </a:custGeom>
            <a:blipFill>
              <a:blip r:embed="rId10"/>
              <a:stretch>
                <a:fillRect t="-7285" b="-7285"/>
              </a:stretch>
            </a:blipFill>
          </p:spPr>
        </p:sp>
      </p:grpSp>
      <p:grpSp>
        <p:nvGrpSpPr>
          <p:cNvPr id="13" name="Group 13"/>
          <p:cNvGrpSpPr/>
          <p:nvPr/>
        </p:nvGrpSpPr>
        <p:grpSpPr>
          <a:xfrm>
            <a:off x="11678822" y="8351413"/>
            <a:ext cx="6266752" cy="916930"/>
            <a:chOff x="0" y="0"/>
            <a:chExt cx="7827752" cy="1145330"/>
          </a:xfrm>
        </p:grpSpPr>
        <p:sp>
          <p:nvSpPr>
            <p:cNvPr id="14" name="Freeform 14"/>
            <p:cNvSpPr/>
            <p:nvPr/>
          </p:nvSpPr>
          <p:spPr>
            <a:xfrm>
              <a:off x="0" y="0"/>
              <a:ext cx="7827790" cy="1145368"/>
            </a:xfrm>
            <a:custGeom>
              <a:avLst/>
              <a:gdLst/>
              <a:ahLst/>
              <a:cxnLst/>
              <a:rect l="l" t="t" r="r" b="b"/>
              <a:pathLst>
                <a:path w="7827790" h="1145368">
                  <a:moveTo>
                    <a:pt x="0" y="0"/>
                  </a:moveTo>
                  <a:lnTo>
                    <a:pt x="7827790" y="0"/>
                  </a:lnTo>
                  <a:lnTo>
                    <a:pt x="7827790" y="1145368"/>
                  </a:lnTo>
                  <a:lnTo>
                    <a:pt x="0" y="1145368"/>
                  </a:lnTo>
                  <a:close/>
                </a:path>
              </a:pathLst>
            </a:custGeom>
            <a:solidFill>
              <a:srgbClr val="4BA588"/>
            </a:solidFill>
          </p:spPr>
        </p:sp>
        <p:sp>
          <p:nvSpPr>
            <p:cNvPr id="15" name="TextBox 15"/>
            <p:cNvSpPr txBox="1"/>
            <p:nvPr/>
          </p:nvSpPr>
          <p:spPr>
            <a:xfrm>
              <a:off x="0" y="-9525"/>
              <a:ext cx="7827752" cy="1154855"/>
            </a:xfrm>
            <a:prstGeom prst="rect">
              <a:avLst/>
            </a:prstGeom>
          </p:spPr>
          <p:txBody>
            <a:bodyPr lIns="50800" tIns="50800" rIns="50800" bIns="50800" rtlCol="0" anchor="t"/>
            <a:lstStyle/>
            <a:p>
              <a:pPr algn="ctr">
                <a:lnSpc>
                  <a:spcPts val="2879"/>
                </a:lnSpc>
              </a:pPr>
              <a:r>
                <a:rPr lang="en-US" sz="2399">
                  <a:solidFill>
                    <a:srgbClr val="FFFFFF"/>
                  </a:solidFill>
                  <a:latin typeface="Times New Roman"/>
                  <a:ea typeface="Times New Roman"/>
                  <a:cs typeface="Times New Roman"/>
                  <a:sym typeface="Times New Roman"/>
                </a:rPr>
                <a:t>An authoritative database consolidating key sports and cross-agency data</a:t>
              </a:r>
            </a:p>
          </p:txBody>
        </p:sp>
      </p:grpSp>
      <p:grpSp>
        <p:nvGrpSpPr>
          <p:cNvPr id="16" name="Group 16"/>
          <p:cNvGrpSpPr/>
          <p:nvPr/>
        </p:nvGrpSpPr>
        <p:grpSpPr>
          <a:xfrm>
            <a:off x="11668858" y="4685035"/>
            <a:ext cx="6266752" cy="916930"/>
            <a:chOff x="0" y="0"/>
            <a:chExt cx="8355669" cy="1222573"/>
          </a:xfrm>
        </p:grpSpPr>
        <p:sp>
          <p:nvSpPr>
            <p:cNvPr id="17" name="Freeform 17"/>
            <p:cNvSpPr/>
            <p:nvPr/>
          </p:nvSpPr>
          <p:spPr>
            <a:xfrm>
              <a:off x="0" y="0"/>
              <a:ext cx="8355695" cy="1222637"/>
            </a:xfrm>
            <a:custGeom>
              <a:avLst/>
              <a:gdLst/>
              <a:ahLst/>
              <a:cxnLst/>
              <a:rect l="l" t="t" r="r" b="b"/>
              <a:pathLst>
                <a:path w="8355695" h="1222637">
                  <a:moveTo>
                    <a:pt x="0" y="0"/>
                  </a:moveTo>
                  <a:lnTo>
                    <a:pt x="8355695" y="0"/>
                  </a:lnTo>
                  <a:lnTo>
                    <a:pt x="8355695" y="1222637"/>
                  </a:lnTo>
                  <a:lnTo>
                    <a:pt x="0" y="1222637"/>
                  </a:lnTo>
                  <a:close/>
                </a:path>
              </a:pathLst>
            </a:custGeom>
            <a:solidFill>
              <a:srgbClr val="4BA588"/>
            </a:solidFill>
          </p:spPr>
        </p:sp>
        <p:sp>
          <p:nvSpPr>
            <p:cNvPr id="18" name="TextBox 18"/>
            <p:cNvSpPr txBox="1"/>
            <p:nvPr/>
          </p:nvSpPr>
          <p:spPr>
            <a:xfrm>
              <a:off x="0" y="-9525"/>
              <a:ext cx="8355669" cy="1232098"/>
            </a:xfrm>
            <a:prstGeom prst="rect">
              <a:avLst/>
            </a:prstGeom>
          </p:spPr>
          <p:txBody>
            <a:bodyPr lIns="50800" tIns="50800" rIns="50800" bIns="50800" rtlCol="0" anchor="t"/>
            <a:lstStyle/>
            <a:p>
              <a:pPr algn="ctr">
                <a:lnSpc>
                  <a:spcPts val="2879"/>
                </a:lnSpc>
              </a:pPr>
              <a:r>
                <a:rPr lang="en-US" sz="2399">
                  <a:solidFill>
                    <a:srgbClr val="FFFFFF"/>
                  </a:solidFill>
                  <a:latin typeface="Times New Roman"/>
                  <a:ea typeface="Times New Roman"/>
                  <a:cs typeface="Times New Roman"/>
                  <a:sym typeface="Times New Roman"/>
                </a:rPr>
                <a:t>Building business-model validation capability and data-application ecosystem potential</a:t>
              </a:r>
            </a:p>
          </p:txBody>
        </p:sp>
      </p:grpSp>
      <p:sp>
        <p:nvSpPr>
          <p:cNvPr id="19" name="TextBox 19"/>
          <p:cNvSpPr txBox="1"/>
          <p:nvPr/>
        </p:nvSpPr>
        <p:spPr>
          <a:xfrm>
            <a:off x="653853" y="2835595"/>
            <a:ext cx="17158941" cy="1238250"/>
          </a:xfrm>
          <a:prstGeom prst="rect">
            <a:avLst/>
          </a:prstGeom>
        </p:spPr>
        <p:txBody>
          <a:bodyPr lIns="0" tIns="0" rIns="0" bIns="0" rtlCol="0" anchor="t">
            <a:spAutoFit/>
          </a:bodyPr>
          <a:lstStyle/>
          <a:p>
            <a:pPr marL="361952" lvl="1" indent="-180976" algn="l">
              <a:lnSpc>
                <a:spcPts val="2400"/>
              </a:lnSpc>
              <a:buFont typeface="Arial"/>
              <a:buChar char="•"/>
            </a:pPr>
            <a:r>
              <a:rPr lang="en-US" sz="2000" b="1" u="sng" dirty="0">
                <a:solidFill>
                  <a:srgbClr val="0B5563"/>
                </a:solidFill>
                <a:latin typeface="Times New Roman"/>
                <a:ea typeface="Times New Roman"/>
                <a:cs typeface="Times New Roman"/>
                <a:sym typeface="Times New Roman"/>
              </a:rPr>
              <a:t>Establish a data center for personalized sports logs</a:t>
            </a:r>
            <a:r>
              <a:rPr lang="en-US" sz="2000" b="1" dirty="0">
                <a:solidFill>
                  <a:srgbClr val="0B5563"/>
                </a:solidFill>
                <a:latin typeface="Times New Roman"/>
                <a:ea typeface="Times New Roman"/>
                <a:cs typeface="Times New Roman"/>
                <a:sym typeface="Times New Roman"/>
              </a:rPr>
              <a:t>,</a:t>
            </a:r>
          </a:p>
          <a:p>
            <a:pPr algn="l">
              <a:lnSpc>
                <a:spcPts val="2400"/>
              </a:lnSpc>
            </a:pPr>
            <a:r>
              <a:rPr lang="en-US" sz="2000" b="1" dirty="0">
                <a:solidFill>
                  <a:srgbClr val="0B5563"/>
                </a:solidFill>
                <a:latin typeface="Times New Roman"/>
                <a:ea typeface="Times New Roman"/>
                <a:cs typeface="Times New Roman"/>
                <a:sym typeface="Times New Roman"/>
              </a:rPr>
              <a:t>      </a:t>
            </a:r>
            <a:r>
              <a:rPr lang="en-US" sz="2000" dirty="0">
                <a:solidFill>
                  <a:srgbClr val="0B5563"/>
                </a:solidFill>
                <a:latin typeface="Times New Roman"/>
                <a:ea typeface="Times New Roman"/>
                <a:cs typeface="Times New Roman"/>
                <a:sym typeface="Times New Roman"/>
              </a:rPr>
              <a:t>integrating an authorization management mechanism, analyzing exercise history and fitness outcomes, and providing precise sports-health recommendations.</a:t>
            </a:r>
          </a:p>
          <a:p>
            <a:pPr marL="361952" lvl="1" indent="-180976" algn="l">
              <a:lnSpc>
                <a:spcPts val="2400"/>
              </a:lnSpc>
              <a:buFont typeface="Arial"/>
              <a:buChar char="•"/>
            </a:pPr>
            <a:r>
              <a:rPr lang="en-US" sz="2000" b="1" u="sng" dirty="0">
                <a:solidFill>
                  <a:srgbClr val="0B5563"/>
                </a:solidFill>
                <a:latin typeface="Times New Roman"/>
                <a:ea typeface="Times New Roman"/>
                <a:cs typeface="Times New Roman"/>
                <a:sym typeface="Times New Roman"/>
              </a:rPr>
              <a:t>Centered on the sports data platform architecture</a:t>
            </a:r>
            <a:r>
              <a:rPr lang="en-US" sz="2000" b="1" dirty="0">
                <a:solidFill>
                  <a:srgbClr val="0B5563"/>
                </a:solidFill>
                <a:latin typeface="Times New Roman"/>
                <a:ea typeface="Times New Roman"/>
                <a:cs typeface="Times New Roman"/>
                <a:sym typeface="Times New Roman"/>
              </a:rPr>
              <a:t>, </a:t>
            </a:r>
          </a:p>
          <a:p>
            <a:pPr algn="l">
              <a:lnSpc>
                <a:spcPts val="2400"/>
              </a:lnSpc>
            </a:pPr>
            <a:r>
              <a:rPr lang="en-US" sz="2000" b="1" dirty="0">
                <a:solidFill>
                  <a:srgbClr val="0B5563"/>
                </a:solidFill>
                <a:latin typeface="Times New Roman"/>
                <a:ea typeface="Times New Roman"/>
                <a:cs typeface="Times New Roman"/>
                <a:sym typeface="Times New Roman"/>
              </a:rPr>
              <a:t>      </a:t>
            </a:r>
            <a:r>
              <a:rPr lang="en-US" sz="2000" dirty="0">
                <a:solidFill>
                  <a:srgbClr val="0B5563"/>
                </a:solidFill>
                <a:latin typeface="Times New Roman"/>
                <a:ea typeface="Times New Roman"/>
                <a:cs typeface="Times New Roman"/>
                <a:sym typeface="Times New Roman"/>
              </a:rPr>
              <a:t>build a data exchange warehouse and an AI foundation, connecting cross-agency data to drive commercial validation and the digital transformation of venues.</a:t>
            </a:r>
          </a:p>
        </p:txBody>
      </p:sp>
      <p:grpSp>
        <p:nvGrpSpPr>
          <p:cNvPr id="20" name="Group 20"/>
          <p:cNvGrpSpPr/>
          <p:nvPr/>
        </p:nvGrpSpPr>
        <p:grpSpPr>
          <a:xfrm>
            <a:off x="12703503" y="5758802"/>
            <a:ext cx="2637405" cy="2535224"/>
            <a:chOff x="0" y="0"/>
            <a:chExt cx="902908" cy="867926"/>
          </a:xfrm>
        </p:grpSpPr>
        <p:sp>
          <p:nvSpPr>
            <p:cNvPr id="21" name="Freeform 21"/>
            <p:cNvSpPr/>
            <p:nvPr/>
          </p:nvSpPr>
          <p:spPr>
            <a:xfrm>
              <a:off x="0" y="0"/>
              <a:ext cx="902908" cy="867926"/>
            </a:xfrm>
            <a:custGeom>
              <a:avLst/>
              <a:gdLst/>
              <a:ahLst/>
              <a:cxnLst/>
              <a:rect l="l" t="t" r="r" b="b"/>
              <a:pathLst>
                <a:path w="902908" h="867926">
                  <a:moveTo>
                    <a:pt x="451454" y="0"/>
                  </a:moveTo>
                  <a:cubicBezTo>
                    <a:pt x="202123" y="0"/>
                    <a:pt x="0" y="194292"/>
                    <a:pt x="0" y="433963"/>
                  </a:cubicBezTo>
                  <a:cubicBezTo>
                    <a:pt x="0" y="673635"/>
                    <a:pt x="202123" y="867926"/>
                    <a:pt x="451454" y="867926"/>
                  </a:cubicBezTo>
                  <a:cubicBezTo>
                    <a:pt x="700785" y="867926"/>
                    <a:pt x="902908" y="673635"/>
                    <a:pt x="902908" y="433963"/>
                  </a:cubicBezTo>
                  <a:cubicBezTo>
                    <a:pt x="902908" y="194292"/>
                    <a:pt x="700785" y="0"/>
                    <a:pt x="451454" y="0"/>
                  </a:cubicBezTo>
                  <a:close/>
                </a:path>
              </a:pathLst>
            </a:custGeom>
            <a:solidFill>
              <a:srgbClr val="80BB38">
                <a:alpha val="49804"/>
              </a:srgbClr>
            </a:solidFill>
          </p:spPr>
        </p:sp>
        <p:sp>
          <p:nvSpPr>
            <p:cNvPr id="22" name="TextBox 22"/>
            <p:cNvSpPr txBox="1"/>
            <p:nvPr/>
          </p:nvSpPr>
          <p:spPr>
            <a:xfrm>
              <a:off x="84648" y="71843"/>
              <a:ext cx="733613" cy="714715"/>
            </a:xfrm>
            <a:prstGeom prst="rect">
              <a:avLst/>
            </a:prstGeom>
          </p:spPr>
          <p:txBody>
            <a:bodyPr lIns="39081" tIns="39081" rIns="39081" bIns="39081" rtlCol="0" anchor="ctr"/>
            <a:lstStyle/>
            <a:p>
              <a:pPr algn="ctr">
                <a:lnSpc>
                  <a:spcPts val="2879"/>
                </a:lnSpc>
              </a:pPr>
              <a:endParaRPr/>
            </a:p>
          </p:txBody>
        </p:sp>
      </p:grpSp>
      <p:grpSp>
        <p:nvGrpSpPr>
          <p:cNvPr id="23" name="Group 23"/>
          <p:cNvGrpSpPr/>
          <p:nvPr/>
        </p:nvGrpSpPr>
        <p:grpSpPr>
          <a:xfrm>
            <a:off x="14283488" y="5777567"/>
            <a:ext cx="2637405" cy="2535224"/>
            <a:chOff x="0" y="0"/>
            <a:chExt cx="902908" cy="867926"/>
          </a:xfrm>
        </p:grpSpPr>
        <p:sp>
          <p:nvSpPr>
            <p:cNvPr id="24" name="Freeform 24"/>
            <p:cNvSpPr/>
            <p:nvPr/>
          </p:nvSpPr>
          <p:spPr>
            <a:xfrm>
              <a:off x="0" y="0"/>
              <a:ext cx="902908" cy="867926"/>
            </a:xfrm>
            <a:custGeom>
              <a:avLst/>
              <a:gdLst/>
              <a:ahLst/>
              <a:cxnLst/>
              <a:rect l="l" t="t" r="r" b="b"/>
              <a:pathLst>
                <a:path w="902908" h="867926">
                  <a:moveTo>
                    <a:pt x="451454" y="0"/>
                  </a:moveTo>
                  <a:cubicBezTo>
                    <a:pt x="202123" y="0"/>
                    <a:pt x="0" y="194292"/>
                    <a:pt x="0" y="433963"/>
                  </a:cubicBezTo>
                  <a:cubicBezTo>
                    <a:pt x="0" y="673635"/>
                    <a:pt x="202123" y="867926"/>
                    <a:pt x="451454" y="867926"/>
                  </a:cubicBezTo>
                  <a:cubicBezTo>
                    <a:pt x="700785" y="867926"/>
                    <a:pt x="902908" y="673635"/>
                    <a:pt x="902908" y="433963"/>
                  </a:cubicBezTo>
                  <a:cubicBezTo>
                    <a:pt x="902908" y="194292"/>
                    <a:pt x="700785" y="0"/>
                    <a:pt x="451454" y="0"/>
                  </a:cubicBezTo>
                  <a:close/>
                </a:path>
              </a:pathLst>
            </a:custGeom>
            <a:solidFill>
              <a:srgbClr val="FAB529">
                <a:alpha val="49804"/>
              </a:srgbClr>
            </a:solidFill>
          </p:spPr>
        </p:sp>
        <p:sp>
          <p:nvSpPr>
            <p:cNvPr id="25" name="TextBox 25"/>
            <p:cNvSpPr txBox="1"/>
            <p:nvPr/>
          </p:nvSpPr>
          <p:spPr>
            <a:xfrm>
              <a:off x="84648" y="71843"/>
              <a:ext cx="733613" cy="714715"/>
            </a:xfrm>
            <a:prstGeom prst="rect">
              <a:avLst/>
            </a:prstGeom>
          </p:spPr>
          <p:txBody>
            <a:bodyPr lIns="39081" tIns="39081" rIns="39081" bIns="39081" rtlCol="0" anchor="ctr"/>
            <a:lstStyle/>
            <a:p>
              <a:pPr algn="ctr">
                <a:lnSpc>
                  <a:spcPts val="2879"/>
                </a:lnSpc>
              </a:pPr>
              <a:endParaRPr/>
            </a:p>
          </p:txBody>
        </p:sp>
      </p:grpSp>
      <p:sp>
        <p:nvSpPr>
          <p:cNvPr id="26" name="Freeform 26"/>
          <p:cNvSpPr/>
          <p:nvPr/>
        </p:nvSpPr>
        <p:spPr>
          <a:xfrm>
            <a:off x="13024987" y="6635966"/>
            <a:ext cx="884784" cy="818425"/>
          </a:xfrm>
          <a:custGeom>
            <a:avLst/>
            <a:gdLst/>
            <a:ahLst/>
            <a:cxnLst/>
            <a:rect l="l" t="t" r="r" b="b"/>
            <a:pathLst>
              <a:path w="884784" h="818425">
                <a:moveTo>
                  <a:pt x="0" y="0"/>
                </a:moveTo>
                <a:lnTo>
                  <a:pt x="884785" y="0"/>
                </a:lnTo>
                <a:lnTo>
                  <a:pt x="884785" y="818426"/>
                </a:lnTo>
                <a:lnTo>
                  <a:pt x="0" y="81842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7" name="Freeform 27"/>
          <p:cNvSpPr/>
          <p:nvPr/>
        </p:nvSpPr>
        <p:spPr>
          <a:xfrm>
            <a:off x="15719761" y="6709826"/>
            <a:ext cx="790498" cy="660066"/>
          </a:xfrm>
          <a:custGeom>
            <a:avLst/>
            <a:gdLst/>
            <a:ahLst/>
            <a:cxnLst/>
            <a:rect l="l" t="t" r="r" b="b"/>
            <a:pathLst>
              <a:path w="790498" h="660066">
                <a:moveTo>
                  <a:pt x="0" y="0"/>
                </a:moveTo>
                <a:lnTo>
                  <a:pt x="790498" y="0"/>
                </a:lnTo>
                <a:lnTo>
                  <a:pt x="790498" y="660066"/>
                </a:lnTo>
                <a:lnTo>
                  <a:pt x="0" y="660066"/>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8" name="Freeform 28"/>
          <p:cNvSpPr/>
          <p:nvPr/>
        </p:nvSpPr>
        <p:spPr>
          <a:xfrm>
            <a:off x="14376770" y="6628225"/>
            <a:ext cx="850927" cy="833909"/>
          </a:xfrm>
          <a:custGeom>
            <a:avLst/>
            <a:gdLst/>
            <a:ahLst/>
            <a:cxnLst/>
            <a:rect l="l" t="t" r="r" b="b"/>
            <a:pathLst>
              <a:path w="850927" h="833909">
                <a:moveTo>
                  <a:pt x="0" y="0"/>
                </a:moveTo>
                <a:lnTo>
                  <a:pt x="850928" y="0"/>
                </a:lnTo>
                <a:lnTo>
                  <a:pt x="850928" y="833908"/>
                </a:lnTo>
                <a:lnTo>
                  <a:pt x="0" y="83390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30" name="TextBox 30"/>
          <p:cNvSpPr txBox="1"/>
          <p:nvPr/>
        </p:nvSpPr>
        <p:spPr>
          <a:xfrm>
            <a:off x="9063248" y="8201919"/>
            <a:ext cx="1181426" cy="647700"/>
          </a:xfrm>
          <a:prstGeom prst="rect">
            <a:avLst/>
          </a:prstGeom>
        </p:spPr>
        <p:txBody>
          <a:bodyPr lIns="0" tIns="0" rIns="0" bIns="0" rtlCol="0" anchor="t">
            <a:spAutoFit/>
          </a:bodyPr>
          <a:lstStyle/>
          <a:p>
            <a:pPr>
              <a:lnSpc>
                <a:spcPts val="2506"/>
              </a:lnSpc>
            </a:pPr>
            <a:r>
              <a:rPr lang="en-US" sz="2088" dirty="0">
                <a:solidFill>
                  <a:srgbClr val="FFFFFF"/>
                </a:solidFill>
                <a:latin typeface="Times New Roman"/>
                <a:ea typeface="Times New Roman"/>
                <a:cs typeface="Times New Roman"/>
                <a:sym typeface="Times New Roman"/>
              </a:rPr>
              <a:t>Ecosystem Scale</a:t>
            </a:r>
          </a:p>
        </p:txBody>
      </p:sp>
      <p:grpSp>
        <p:nvGrpSpPr>
          <p:cNvPr id="31" name="Group 31"/>
          <p:cNvGrpSpPr/>
          <p:nvPr/>
        </p:nvGrpSpPr>
        <p:grpSpPr>
          <a:xfrm>
            <a:off x="653853" y="1117285"/>
            <a:ext cx="17369016" cy="1508760"/>
            <a:chOff x="0" y="0"/>
            <a:chExt cx="23158687" cy="2011680"/>
          </a:xfrm>
        </p:grpSpPr>
        <p:sp>
          <p:nvSpPr>
            <p:cNvPr id="32" name="Freeform 32"/>
            <p:cNvSpPr/>
            <p:nvPr/>
          </p:nvSpPr>
          <p:spPr>
            <a:xfrm>
              <a:off x="0" y="0"/>
              <a:ext cx="23158687" cy="2011680"/>
            </a:xfrm>
            <a:custGeom>
              <a:avLst/>
              <a:gdLst/>
              <a:ahLst/>
              <a:cxnLst/>
              <a:rect l="l" t="t" r="r" b="b"/>
              <a:pathLst>
                <a:path w="23158687" h="2011680">
                  <a:moveTo>
                    <a:pt x="0" y="0"/>
                  </a:moveTo>
                  <a:lnTo>
                    <a:pt x="23158687" y="0"/>
                  </a:lnTo>
                  <a:lnTo>
                    <a:pt x="23158687" y="2011680"/>
                  </a:lnTo>
                  <a:lnTo>
                    <a:pt x="0" y="2011680"/>
                  </a:lnTo>
                  <a:close/>
                </a:path>
              </a:pathLst>
            </a:custGeom>
            <a:blipFill>
              <a:blip r:embed="rId17">
                <a:alphaModFix amt="0"/>
              </a:blip>
              <a:stretch>
                <a:fillRect t="-192578" r="-8142" b="-192578"/>
              </a:stretch>
            </a:blipFill>
          </p:spPr>
        </p:sp>
        <p:sp>
          <p:nvSpPr>
            <p:cNvPr id="33" name="TextBox 33"/>
            <p:cNvSpPr txBox="1"/>
            <p:nvPr/>
          </p:nvSpPr>
          <p:spPr>
            <a:xfrm>
              <a:off x="0" y="133350"/>
              <a:ext cx="23158687" cy="1878330"/>
            </a:xfrm>
            <a:prstGeom prst="rect">
              <a:avLst/>
            </a:prstGeom>
          </p:spPr>
          <p:txBody>
            <a:bodyPr lIns="0" tIns="0" rIns="0" bIns="0" rtlCol="0" anchor="ctr"/>
            <a:lstStyle/>
            <a:p>
              <a:pPr algn="l">
                <a:lnSpc>
                  <a:spcPts val="4116"/>
                </a:lnSpc>
              </a:pPr>
              <a:r>
                <a:rPr lang="en-US" altLang="zh-TW" sz="4900" b="1" dirty="0">
                  <a:solidFill>
                    <a:srgbClr val="002060"/>
                  </a:solidFill>
                  <a:latin typeface="Times New Roman"/>
                  <a:cs typeface="Times New Roman"/>
                </a:rPr>
                <a:t>Turning Sports Data into Value</a:t>
              </a:r>
              <a:endParaRPr lang="en-US" sz="4900" b="1" dirty="0">
                <a:solidFill>
                  <a:srgbClr val="002060"/>
                </a:solidFill>
                <a:latin typeface="Times New Roman"/>
                <a:ea typeface="Times New Roman"/>
                <a:cs typeface="Times New Roman"/>
                <a:sym typeface="Times New Roman"/>
              </a:endParaRPr>
            </a:p>
          </p:txBody>
        </p:sp>
      </p:grpSp>
      <p:sp>
        <p:nvSpPr>
          <p:cNvPr id="34" name="AutoShape 34"/>
          <p:cNvSpPr/>
          <p:nvPr/>
        </p:nvSpPr>
        <p:spPr>
          <a:xfrm flipH="1">
            <a:off x="6642518" y="5758802"/>
            <a:ext cx="1061142" cy="0"/>
          </a:xfrm>
          <a:prstGeom prst="line">
            <a:avLst/>
          </a:prstGeom>
          <a:ln w="38100" cap="flat">
            <a:solidFill>
              <a:srgbClr val="37648A"/>
            </a:solidFill>
            <a:prstDash val="solid"/>
            <a:headEnd type="none" w="sm" len="sm"/>
            <a:tailEnd type="arrow" w="med" len="sm"/>
          </a:ln>
        </p:spPr>
      </p:sp>
      <p:sp>
        <p:nvSpPr>
          <p:cNvPr id="35" name="AutoShape 35"/>
          <p:cNvSpPr/>
          <p:nvPr/>
        </p:nvSpPr>
        <p:spPr>
          <a:xfrm flipV="1">
            <a:off x="9900243" y="5124450"/>
            <a:ext cx="1595079" cy="19050"/>
          </a:xfrm>
          <a:prstGeom prst="line">
            <a:avLst/>
          </a:prstGeom>
          <a:ln w="38100" cap="flat">
            <a:solidFill>
              <a:srgbClr val="5C9CAF"/>
            </a:solidFill>
            <a:prstDash val="solid"/>
            <a:headEnd type="none" w="sm" len="sm"/>
            <a:tailEnd type="arrow" w="med" len="sm"/>
          </a:ln>
        </p:spPr>
      </p:sp>
      <p:sp>
        <p:nvSpPr>
          <p:cNvPr id="36" name="AutoShape 36"/>
          <p:cNvSpPr/>
          <p:nvPr/>
        </p:nvSpPr>
        <p:spPr>
          <a:xfrm>
            <a:off x="10135199" y="8851431"/>
            <a:ext cx="1288080" cy="0"/>
          </a:xfrm>
          <a:prstGeom prst="line">
            <a:avLst/>
          </a:prstGeom>
          <a:ln w="38100" cap="flat">
            <a:solidFill>
              <a:srgbClr val="EDCE5E"/>
            </a:solidFill>
            <a:prstDash val="solid"/>
            <a:headEnd type="none" w="sm" len="sm"/>
            <a:tailEnd type="arrow" w="med" len="sm"/>
          </a:ln>
        </p:spPr>
      </p:sp>
      <p:grpSp>
        <p:nvGrpSpPr>
          <p:cNvPr id="37" name="Group 37"/>
          <p:cNvGrpSpPr/>
          <p:nvPr/>
        </p:nvGrpSpPr>
        <p:grpSpPr>
          <a:xfrm>
            <a:off x="15309127" y="6935781"/>
            <a:ext cx="247158" cy="221631"/>
            <a:chOff x="0" y="0"/>
            <a:chExt cx="1391196" cy="1247508"/>
          </a:xfrm>
        </p:grpSpPr>
        <p:sp>
          <p:nvSpPr>
            <p:cNvPr id="38" name="Freeform 38"/>
            <p:cNvSpPr/>
            <p:nvPr/>
          </p:nvSpPr>
          <p:spPr>
            <a:xfrm>
              <a:off x="0" y="0"/>
              <a:ext cx="1391158" cy="1247521"/>
            </a:xfrm>
            <a:custGeom>
              <a:avLst/>
              <a:gdLst/>
              <a:ahLst/>
              <a:cxnLst/>
              <a:rect l="l" t="t" r="r" b="b"/>
              <a:pathLst>
                <a:path w="1391158" h="1247521">
                  <a:moveTo>
                    <a:pt x="0" y="311912"/>
                  </a:moveTo>
                  <a:lnTo>
                    <a:pt x="767461" y="311912"/>
                  </a:lnTo>
                  <a:lnTo>
                    <a:pt x="767461" y="0"/>
                  </a:lnTo>
                  <a:lnTo>
                    <a:pt x="1391158" y="623697"/>
                  </a:lnTo>
                  <a:lnTo>
                    <a:pt x="767461" y="1247521"/>
                  </a:lnTo>
                  <a:lnTo>
                    <a:pt x="767461" y="935609"/>
                  </a:lnTo>
                  <a:lnTo>
                    <a:pt x="0" y="935609"/>
                  </a:lnTo>
                  <a:close/>
                </a:path>
              </a:pathLst>
            </a:custGeom>
            <a:solidFill>
              <a:srgbClr val="3D8DC8"/>
            </a:solidFill>
            <a:ln cap="sq">
              <a:noFill/>
              <a:prstDash val="solid"/>
              <a:miter/>
            </a:ln>
          </p:spPr>
        </p:sp>
      </p:grpSp>
      <p:grpSp>
        <p:nvGrpSpPr>
          <p:cNvPr id="39" name="Group 39"/>
          <p:cNvGrpSpPr/>
          <p:nvPr/>
        </p:nvGrpSpPr>
        <p:grpSpPr>
          <a:xfrm rot="-10800000">
            <a:off x="14043887" y="6929043"/>
            <a:ext cx="247158" cy="221631"/>
            <a:chOff x="0" y="0"/>
            <a:chExt cx="1391196" cy="1247508"/>
          </a:xfrm>
        </p:grpSpPr>
        <p:sp>
          <p:nvSpPr>
            <p:cNvPr id="40" name="Freeform 40"/>
            <p:cNvSpPr/>
            <p:nvPr/>
          </p:nvSpPr>
          <p:spPr>
            <a:xfrm>
              <a:off x="0" y="0"/>
              <a:ext cx="1391158" cy="1247521"/>
            </a:xfrm>
            <a:custGeom>
              <a:avLst/>
              <a:gdLst/>
              <a:ahLst/>
              <a:cxnLst/>
              <a:rect l="l" t="t" r="r" b="b"/>
              <a:pathLst>
                <a:path w="1391158" h="1247521">
                  <a:moveTo>
                    <a:pt x="0" y="311912"/>
                  </a:moveTo>
                  <a:lnTo>
                    <a:pt x="767461" y="311912"/>
                  </a:lnTo>
                  <a:lnTo>
                    <a:pt x="767461" y="0"/>
                  </a:lnTo>
                  <a:lnTo>
                    <a:pt x="1391158" y="623697"/>
                  </a:lnTo>
                  <a:lnTo>
                    <a:pt x="767461" y="1247521"/>
                  </a:lnTo>
                  <a:lnTo>
                    <a:pt x="767461" y="935609"/>
                  </a:lnTo>
                  <a:lnTo>
                    <a:pt x="0" y="935609"/>
                  </a:lnTo>
                  <a:close/>
                </a:path>
              </a:pathLst>
            </a:custGeom>
            <a:solidFill>
              <a:srgbClr val="3D8DC8"/>
            </a:solidFill>
            <a:ln cap="sq">
              <a:noFill/>
              <a:prstDash val="solid"/>
              <a:miter/>
            </a:ln>
          </p:spPr>
        </p:sp>
      </p:grpSp>
      <p:sp>
        <p:nvSpPr>
          <p:cNvPr id="41" name="Freeform 41"/>
          <p:cNvSpPr/>
          <p:nvPr/>
        </p:nvSpPr>
        <p:spPr>
          <a:xfrm>
            <a:off x="7721611" y="5601965"/>
            <a:ext cx="657260" cy="571816"/>
          </a:xfrm>
          <a:custGeom>
            <a:avLst/>
            <a:gdLst/>
            <a:ahLst/>
            <a:cxnLst/>
            <a:rect l="l" t="t" r="r" b="b"/>
            <a:pathLst>
              <a:path w="740758" h="644459">
                <a:moveTo>
                  <a:pt x="0" y="0"/>
                </a:moveTo>
                <a:lnTo>
                  <a:pt x="740758" y="0"/>
                </a:lnTo>
                <a:lnTo>
                  <a:pt x="740758" y="644459"/>
                </a:lnTo>
                <a:lnTo>
                  <a:pt x="0" y="64445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dirty="0"/>
          </a:p>
        </p:txBody>
      </p:sp>
      <p:sp>
        <p:nvSpPr>
          <p:cNvPr id="42" name="Freeform 42"/>
          <p:cNvSpPr/>
          <p:nvPr/>
        </p:nvSpPr>
        <p:spPr>
          <a:xfrm>
            <a:off x="10414749" y="6234829"/>
            <a:ext cx="708769" cy="652068"/>
          </a:xfrm>
          <a:custGeom>
            <a:avLst/>
            <a:gdLst/>
            <a:ahLst/>
            <a:cxnLst/>
            <a:rect l="l" t="t" r="r" b="b"/>
            <a:pathLst>
              <a:path w="855209" h="786793">
                <a:moveTo>
                  <a:pt x="0" y="0"/>
                </a:moveTo>
                <a:lnTo>
                  <a:pt x="855210" y="0"/>
                </a:lnTo>
                <a:lnTo>
                  <a:pt x="855210" y="786793"/>
                </a:lnTo>
                <a:lnTo>
                  <a:pt x="0" y="786793"/>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US" dirty="0"/>
          </a:p>
        </p:txBody>
      </p:sp>
      <p:sp>
        <p:nvSpPr>
          <p:cNvPr id="43" name="Freeform 43"/>
          <p:cNvSpPr/>
          <p:nvPr/>
        </p:nvSpPr>
        <p:spPr>
          <a:xfrm>
            <a:off x="8275647" y="8201919"/>
            <a:ext cx="638597" cy="691172"/>
          </a:xfrm>
          <a:custGeom>
            <a:avLst/>
            <a:gdLst/>
            <a:ahLst/>
            <a:cxnLst/>
            <a:rect l="l" t="t" r="r" b="b"/>
            <a:pathLst>
              <a:path w="757318" h="757318">
                <a:moveTo>
                  <a:pt x="0" y="0"/>
                </a:moveTo>
                <a:lnTo>
                  <a:pt x="757318" y="0"/>
                </a:lnTo>
                <a:lnTo>
                  <a:pt x="757318" y="757319"/>
                </a:lnTo>
                <a:lnTo>
                  <a:pt x="0" y="75731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44" name="TextBox 44"/>
          <p:cNvSpPr txBox="1"/>
          <p:nvPr/>
        </p:nvSpPr>
        <p:spPr>
          <a:xfrm>
            <a:off x="15309127" y="7590651"/>
            <a:ext cx="1851360" cy="230832"/>
          </a:xfrm>
          <a:prstGeom prst="rect">
            <a:avLst/>
          </a:prstGeom>
        </p:spPr>
        <p:txBody>
          <a:bodyPr wrap="square" lIns="0" tIns="0" rIns="0" bIns="0" rtlCol="0" anchor="t">
            <a:spAutoFit/>
          </a:bodyPr>
          <a:lstStyle/>
          <a:p>
            <a:pPr algn="ctr">
              <a:lnSpc>
                <a:spcPts val="1846"/>
              </a:lnSpc>
              <a:spcBef>
                <a:spcPct val="0"/>
              </a:spcBef>
            </a:pPr>
            <a:r>
              <a:rPr lang="en-US" sz="1538" b="1" dirty="0">
                <a:solidFill>
                  <a:srgbClr val="1E4C9A"/>
                </a:solidFill>
                <a:latin typeface="Times New Roman"/>
                <a:ea typeface="Times New Roman"/>
                <a:cs typeface="Times New Roman"/>
                <a:sym typeface="Times New Roman"/>
              </a:rPr>
              <a:t>Sports Participants</a:t>
            </a:r>
          </a:p>
        </p:txBody>
      </p:sp>
      <p:sp>
        <p:nvSpPr>
          <p:cNvPr id="45" name="TextBox 45"/>
          <p:cNvSpPr txBox="1"/>
          <p:nvPr/>
        </p:nvSpPr>
        <p:spPr>
          <a:xfrm>
            <a:off x="13939623" y="6230630"/>
            <a:ext cx="1870864" cy="253539"/>
          </a:xfrm>
          <a:prstGeom prst="rect">
            <a:avLst/>
          </a:prstGeom>
        </p:spPr>
        <p:txBody>
          <a:bodyPr lIns="0" tIns="0" rIns="0" bIns="0" rtlCol="0" anchor="t">
            <a:spAutoFit/>
          </a:bodyPr>
          <a:lstStyle/>
          <a:p>
            <a:pPr algn="ctr">
              <a:lnSpc>
                <a:spcPts val="1846"/>
              </a:lnSpc>
              <a:spcBef>
                <a:spcPct val="0"/>
              </a:spcBef>
            </a:pPr>
            <a:r>
              <a:rPr lang="en-US" sz="1538" b="1" dirty="0">
                <a:solidFill>
                  <a:srgbClr val="1E4C9A"/>
                </a:solidFill>
                <a:latin typeface="Times New Roman"/>
                <a:ea typeface="Times New Roman"/>
                <a:cs typeface="Times New Roman"/>
                <a:sym typeface="Times New Roman"/>
              </a:rPr>
              <a:t>Sports Data Platform</a:t>
            </a:r>
          </a:p>
        </p:txBody>
      </p:sp>
      <p:sp>
        <p:nvSpPr>
          <p:cNvPr id="46" name="TextBox 46"/>
          <p:cNvSpPr txBox="1"/>
          <p:nvPr/>
        </p:nvSpPr>
        <p:spPr>
          <a:xfrm>
            <a:off x="12505908" y="7589225"/>
            <a:ext cx="1870863" cy="230832"/>
          </a:xfrm>
          <a:prstGeom prst="rect">
            <a:avLst/>
          </a:prstGeom>
        </p:spPr>
        <p:txBody>
          <a:bodyPr wrap="square" lIns="0" tIns="0" rIns="0" bIns="0" rtlCol="0" anchor="t">
            <a:spAutoFit/>
          </a:bodyPr>
          <a:lstStyle/>
          <a:p>
            <a:pPr algn="ctr">
              <a:lnSpc>
                <a:spcPts val="1846"/>
              </a:lnSpc>
              <a:spcBef>
                <a:spcPct val="0"/>
              </a:spcBef>
            </a:pPr>
            <a:r>
              <a:rPr lang="en-US" sz="1538" b="1" dirty="0">
                <a:solidFill>
                  <a:srgbClr val="1E4C9A"/>
                </a:solidFill>
                <a:latin typeface="Times New Roman"/>
                <a:ea typeface="Times New Roman"/>
                <a:cs typeface="Times New Roman"/>
                <a:sym typeface="Times New Roman"/>
              </a:rPr>
              <a:t>Sports Applications</a:t>
            </a:r>
          </a:p>
        </p:txBody>
      </p:sp>
      <p:sp>
        <p:nvSpPr>
          <p:cNvPr id="47" name="TextBox 47"/>
          <p:cNvSpPr txBox="1"/>
          <p:nvPr/>
        </p:nvSpPr>
        <p:spPr>
          <a:xfrm>
            <a:off x="7139149" y="6391442"/>
            <a:ext cx="1129021" cy="644354"/>
          </a:xfrm>
          <a:prstGeom prst="rect">
            <a:avLst/>
          </a:prstGeom>
        </p:spPr>
        <p:txBody>
          <a:bodyPr lIns="0" tIns="0" rIns="0" bIns="0" rtlCol="0" anchor="t">
            <a:spAutoFit/>
          </a:bodyPr>
          <a:lstStyle/>
          <a:p>
            <a:pPr algn="l">
              <a:lnSpc>
                <a:spcPts val="2506"/>
              </a:lnSpc>
            </a:pPr>
            <a:r>
              <a:rPr lang="en-US" sz="2088">
                <a:solidFill>
                  <a:srgbClr val="FFFFFF"/>
                </a:solidFill>
                <a:latin typeface="Times New Roman"/>
                <a:ea typeface="Times New Roman"/>
                <a:cs typeface="Times New Roman"/>
                <a:sym typeface="Times New Roman"/>
              </a:rPr>
              <a:t>Excellent Service</a:t>
            </a:r>
          </a:p>
        </p:txBody>
      </p:sp>
      <p:sp>
        <p:nvSpPr>
          <p:cNvPr id="48" name="TextBox 48"/>
          <p:cNvSpPr txBox="1"/>
          <p:nvPr/>
        </p:nvSpPr>
        <p:spPr>
          <a:xfrm>
            <a:off x="9473423" y="5270263"/>
            <a:ext cx="1460644" cy="644354"/>
          </a:xfrm>
          <a:prstGeom prst="rect">
            <a:avLst/>
          </a:prstGeom>
        </p:spPr>
        <p:txBody>
          <a:bodyPr lIns="0" tIns="0" rIns="0" bIns="0" rtlCol="0" anchor="t">
            <a:spAutoFit/>
          </a:bodyPr>
          <a:lstStyle/>
          <a:p>
            <a:pPr algn="l">
              <a:lnSpc>
                <a:spcPts val="2506"/>
              </a:lnSpc>
            </a:pPr>
            <a:r>
              <a:rPr lang="en-US" sz="2088">
                <a:solidFill>
                  <a:srgbClr val="FFFFFF"/>
                </a:solidFill>
                <a:latin typeface="Times New Roman"/>
                <a:ea typeface="Times New Roman"/>
                <a:cs typeface="Times New Roman"/>
                <a:sym typeface="Times New Roman"/>
              </a:rPr>
              <a:t>Diverse Applications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63408" y="599237"/>
            <a:ext cx="1103243" cy="551059"/>
            <a:chOff x="0" y="0"/>
            <a:chExt cx="1470990" cy="734746"/>
          </a:xfrm>
        </p:grpSpPr>
        <p:sp>
          <p:nvSpPr>
            <p:cNvPr id="3" name="Freeform 3"/>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3"/>
              <a:stretch>
                <a:fillRect t="-221" r="3" b="-226"/>
              </a:stretch>
            </a:blipFill>
          </p:spPr>
        </p:sp>
      </p:grpSp>
      <p:grpSp>
        <p:nvGrpSpPr>
          <p:cNvPr id="4" name="Group 4"/>
          <p:cNvGrpSpPr/>
          <p:nvPr/>
        </p:nvGrpSpPr>
        <p:grpSpPr>
          <a:xfrm rot="-10800000">
            <a:off x="0" y="6457212"/>
            <a:ext cx="19003407" cy="3890700"/>
            <a:chOff x="0" y="0"/>
            <a:chExt cx="24384000" cy="4992306"/>
          </a:xfrm>
        </p:grpSpPr>
        <p:sp>
          <p:nvSpPr>
            <p:cNvPr id="5" name="Freeform 5" descr="一張含有 黑暗, 黑色, 螢幕擷取畫面, 光線 的圖片  AI 產生的內容可能不正確。"/>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4"/>
              <a:stretch>
                <a:fillRect b="-1"/>
              </a:stretch>
            </a:blipFill>
          </p:spPr>
        </p:sp>
      </p:grpSp>
      <p:sp>
        <p:nvSpPr>
          <p:cNvPr id="6" name="Freeform 6"/>
          <p:cNvSpPr/>
          <p:nvPr/>
        </p:nvSpPr>
        <p:spPr>
          <a:xfrm>
            <a:off x="6590844" y="3667279"/>
            <a:ext cx="5106311" cy="4183304"/>
          </a:xfrm>
          <a:custGeom>
            <a:avLst/>
            <a:gdLst/>
            <a:ahLst/>
            <a:cxnLst/>
            <a:rect l="l" t="t" r="r" b="b"/>
            <a:pathLst>
              <a:path w="5106311" h="4183304">
                <a:moveTo>
                  <a:pt x="0" y="0"/>
                </a:moveTo>
                <a:lnTo>
                  <a:pt x="5106312" y="0"/>
                </a:lnTo>
                <a:lnTo>
                  <a:pt x="5106312" y="4183304"/>
                </a:lnTo>
                <a:lnTo>
                  <a:pt x="0" y="4183304"/>
                </a:lnTo>
                <a:lnTo>
                  <a:pt x="0" y="0"/>
                </a:lnTo>
                <a:close/>
              </a:path>
            </a:pathLst>
          </a:custGeom>
          <a:blipFill>
            <a:blip r:embed="rId5"/>
            <a:stretch>
              <a:fillRect l="-124330" t="-21793" r="-123747" b="-19743"/>
            </a:stretch>
          </a:blipFill>
        </p:spPr>
      </p:sp>
      <p:sp>
        <p:nvSpPr>
          <p:cNvPr id="7" name="TextBox 7"/>
          <p:cNvSpPr txBox="1"/>
          <p:nvPr/>
        </p:nvSpPr>
        <p:spPr>
          <a:xfrm>
            <a:off x="2026577" y="2893924"/>
            <a:ext cx="2067223" cy="428625"/>
          </a:xfrm>
          <a:prstGeom prst="rect">
            <a:avLst/>
          </a:prstGeom>
        </p:spPr>
        <p:txBody>
          <a:bodyPr lIns="0" tIns="0" rIns="0" bIns="0" rtlCol="0" anchor="t">
            <a:spAutoFit/>
          </a:bodyPr>
          <a:lstStyle/>
          <a:p>
            <a:pPr algn="ctr">
              <a:lnSpc>
                <a:spcPts val="3240"/>
              </a:lnSpc>
              <a:spcBef>
                <a:spcPct val="0"/>
              </a:spcBef>
            </a:pPr>
            <a:r>
              <a:rPr lang="en-US" sz="2700" b="1" dirty="0">
                <a:solidFill>
                  <a:srgbClr val="1E4C9A"/>
                </a:solidFill>
                <a:latin typeface="Times New Roman"/>
                <a:ea typeface="Times New Roman"/>
                <a:cs typeface="Times New Roman"/>
                <a:sym typeface="Times New Roman"/>
              </a:rPr>
              <a:t>Baseball Field</a:t>
            </a:r>
          </a:p>
        </p:txBody>
      </p:sp>
      <p:sp>
        <p:nvSpPr>
          <p:cNvPr id="8" name="TextBox 8"/>
          <p:cNvSpPr txBox="1"/>
          <p:nvPr/>
        </p:nvSpPr>
        <p:spPr>
          <a:xfrm>
            <a:off x="12659512" y="2810914"/>
            <a:ext cx="4931308" cy="933450"/>
          </a:xfrm>
          <a:prstGeom prst="rect">
            <a:avLst/>
          </a:prstGeom>
        </p:spPr>
        <p:txBody>
          <a:bodyPr wrap="square" lIns="0" tIns="0" rIns="0" bIns="0" rtlCol="0" anchor="t">
            <a:spAutoFit/>
          </a:bodyPr>
          <a:lstStyle/>
          <a:p>
            <a:pPr algn="l">
              <a:lnSpc>
                <a:spcPts val="2400"/>
              </a:lnSpc>
              <a:spcBef>
                <a:spcPct val="0"/>
              </a:spcBef>
            </a:pPr>
            <a:r>
              <a:rPr lang="en-US" sz="2000" b="1" dirty="0">
                <a:solidFill>
                  <a:srgbClr val="1E4C9A"/>
                </a:solidFill>
                <a:latin typeface="Times New Roman"/>
                <a:ea typeface="Times New Roman"/>
                <a:cs typeface="Times New Roman"/>
                <a:sym typeface="Times New Roman"/>
              </a:rPr>
              <a:t>Real-time capture of high-frame-rate ball displacement and physical dynamics, </a:t>
            </a:r>
          </a:p>
          <a:p>
            <a:pPr algn="l">
              <a:lnSpc>
                <a:spcPts val="2400"/>
              </a:lnSpc>
              <a:spcBef>
                <a:spcPct val="0"/>
              </a:spcBef>
            </a:pPr>
            <a:r>
              <a:rPr lang="en-US" sz="2000" b="1" dirty="0">
                <a:solidFill>
                  <a:srgbClr val="1E4C9A"/>
                </a:solidFill>
                <a:latin typeface="Times New Roman"/>
                <a:ea typeface="Times New Roman"/>
                <a:cs typeface="Times New Roman"/>
                <a:sym typeface="Times New Roman"/>
              </a:rPr>
              <a:t>converted into data representations</a:t>
            </a:r>
          </a:p>
        </p:txBody>
      </p:sp>
      <p:sp>
        <p:nvSpPr>
          <p:cNvPr id="9" name="TextBox 9"/>
          <p:cNvSpPr txBox="1"/>
          <p:nvPr/>
        </p:nvSpPr>
        <p:spPr>
          <a:xfrm>
            <a:off x="6426250" y="2903449"/>
            <a:ext cx="5553556" cy="351058"/>
          </a:xfrm>
          <a:prstGeom prst="rect">
            <a:avLst/>
          </a:prstGeom>
        </p:spPr>
        <p:txBody>
          <a:bodyPr wrap="square" lIns="0" tIns="0" rIns="0" bIns="0" rtlCol="0" anchor="t">
            <a:spAutoFit/>
          </a:bodyPr>
          <a:lstStyle/>
          <a:p>
            <a:pPr algn="ctr">
              <a:lnSpc>
                <a:spcPts val="2880"/>
              </a:lnSpc>
              <a:spcBef>
                <a:spcPct val="0"/>
              </a:spcBef>
            </a:pPr>
            <a:r>
              <a:rPr lang="en-US" sz="2400" b="1" dirty="0">
                <a:solidFill>
                  <a:srgbClr val="1E4C9A"/>
                </a:solidFill>
                <a:latin typeface="Times New Roman"/>
                <a:ea typeface="Times New Roman"/>
                <a:cs typeface="Times New Roman"/>
                <a:sym typeface="Times New Roman"/>
              </a:rPr>
              <a:t>Falcon Vision System (Hawk-Eye System)</a:t>
            </a:r>
          </a:p>
        </p:txBody>
      </p:sp>
      <p:sp>
        <p:nvSpPr>
          <p:cNvPr id="10" name="Freeform 10"/>
          <p:cNvSpPr/>
          <p:nvPr/>
        </p:nvSpPr>
        <p:spPr>
          <a:xfrm>
            <a:off x="484702" y="3221658"/>
            <a:ext cx="5150973" cy="4674582"/>
          </a:xfrm>
          <a:custGeom>
            <a:avLst/>
            <a:gdLst/>
            <a:ahLst/>
            <a:cxnLst/>
            <a:rect l="l" t="t" r="r" b="b"/>
            <a:pathLst>
              <a:path w="5150973" h="4674582">
                <a:moveTo>
                  <a:pt x="0" y="0"/>
                </a:moveTo>
                <a:lnTo>
                  <a:pt x="5150973" y="0"/>
                </a:lnTo>
                <a:lnTo>
                  <a:pt x="5150973" y="4674582"/>
                </a:lnTo>
                <a:lnTo>
                  <a:pt x="0" y="4674582"/>
                </a:lnTo>
                <a:lnTo>
                  <a:pt x="0" y="0"/>
                </a:lnTo>
                <a:close/>
              </a:path>
            </a:pathLst>
          </a:custGeom>
          <a:blipFill>
            <a:blip r:embed="rId6"/>
            <a:stretch>
              <a:fillRect l="-9021" t="-13927" r="-236037" b="-12734"/>
            </a:stretch>
          </a:blipFill>
        </p:spPr>
      </p:sp>
      <p:sp>
        <p:nvSpPr>
          <p:cNvPr id="11" name="Freeform 11"/>
          <p:cNvSpPr/>
          <p:nvPr/>
        </p:nvSpPr>
        <p:spPr>
          <a:xfrm>
            <a:off x="12649656" y="4167822"/>
            <a:ext cx="5076537" cy="3304959"/>
          </a:xfrm>
          <a:custGeom>
            <a:avLst/>
            <a:gdLst/>
            <a:ahLst/>
            <a:cxnLst/>
            <a:rect l="l" t="t" r="r" b="b"/>
            <a:pathLst>
              <a:path w="5076537" h="3304959">
                <a:moveTo>
                  <a:pt x="0" y="0"/>
                </a:moveTo>
                <a:lnTo>
                  <a:pt x="5076536" y="0"/>
                </a:lnTo>
                <a:lnTo>
                  <a:pt x="5076536" y="3304960"/>
                </a:lnTo>
                <a:lnTo>
                  <a:pt x="0" y="3304960"/>
                </a:lnTo>
                <a:lnTo>
                  <a:pt x="0" y="0"/>
                </a:lnTo>
                <a:close/>
              </a:path>
            </a:pathLst>
          </a:custGeom>
          <a:blipFill>
            <a:blip r:embed="rId7"/>
            <a:stretch>
              <a:fillRect l="-240920" t="-42670" r="-9197" b="-36482"/>
            </a:stretch>
          </a:blipFill>
        </p:spPr>
      </p:sp>
      <p:sp>
        <p:nvSpPr>
          <p:cNvPr id="14" name="TextBox 14"/>
          <p:cNvSpPr txBox="1"/>
          <p:nvPr/>
        </p:nvSpPr>
        <p:spPr>
          <a:xfrm>
            <a:off x="677791" y="1156659"/>
            <a:ext cx="17369016" cy="1408747"/>
          </a:xfrm>
          <a:prstGeom prst="rect">
            <a:avLst/>
          </a:prstGeom>
        </p:spPr>
        <p:txBody>
          <a:bodyPr lIns="0" tIns="0" rIns="0" bIns="0" rtlCol="0" anchor="ctr"/>
          <a:lstStyle/>
          <a:p>
            <a:pPr algn="l">
              <a:lnSpc>
                <a:spcPts val="4116"/>
              </a:lnSpc>
            </a:pPr>
            <a:r>
              <a:rPr lang="en-US" sz="4900" b="1" dirty="0">
                <a:solidFill>
                  <a:srgbClr val="002060"/>
                </a:solidFill>
                <a:latin typeface="Times New Roman"/>
                <a:ea typeface="Times New Roman"/>
                <a:cs typeface="Times New Roman"/>
                <a:sym typeface="Times New Roman"/>
              </a:rPr>
              <a:t>Baseball Advanced Data Platform: </a:t>
            </a:r>
            <a:r>
              <a:rPr lang="en-US" sz="4900" b="1" dirty="0" err="1">
                <a:solidFill>
                  <a:srgbClr val="002060"/>
                </a:solidFill>
                <a:latin typeface="Times New Roman"/>
                <a:ea typeface="Times New Roman"/>
                <a:cs typeface="Times New Roman"/>
                <a:sym typeface="Times New Roman"/>
              </a:rPr>
              <a:t>野球先生</a:t>
            </a:r>
            <a:r>
              <a:rPr lang="en-US" sz="4900" b="1" dirty="0">
                <a:solidFill>
                  <a:srgbClr val="002060"/>
                </a:solidFill>
                <a:latin typeface="Times New Roman"/>
                <a:ea typeface="Times New Roman"/>
                <a:cs typeface="Times New Roman"/>
                <a:sym typeface="Times New Roman"/>
              </a:rPr>
              <a:t> (Taiwan's </a:t>
            </a:r>
            <a:r>
              <a:rPr lang="en-US" sz="4900" b="1" dirty="0" err="1">
                <a:solidFill>
                  <a:srgbClr val="002060"/>
                </a:solidFill>
                <a:latin typeface="Times New Roman"/>
                <a:ea typeface="Times New Roman"/>
                <a:cs typeface="Times New Roman"/>
                <a:sym typeface="Times New Roman"/>
              </a:rPr>
              <a:t>Statcast</a:t>
            </a:r>
            <a:r>
              <a:rPr lang="en-US" sz="4900" b="1" dirty="0">
                <a:solidFill>
                  <a:srgbClr val="002060"/>
                </a:solidFill>
                <a:latin typeface="Times New Roman"/>
                <a:ea typeface="Times New Roman"/>
                <a:cs typeface="Times New Roman"/>
                <a:sym typeface="Times New Roman"/>
              </a:rPr>
              <a:t>)</a:t>
            </a:r>
          </a:p>
        </p:txBody>
      </p:sp>
      <p:sp>
        <p:nvSpPr>
          <p:cNvPr id="15" name="Freeform 15"/>
          <p:cNvSpPr/>
          <p:nvPr/>
        </p:nvSpPr>
        <p:spPr>
          <a:xfrm>
            <a:off x="3060188" y="3794440"/>
            <a:ext cx="5553556" cy="2510262"/>
          </a:xfrm>
          <a:custGeom>
            <a:avLst/>
            <a:gdLst/>
            <a:ahLst/>
            <a:cxnLst/>
            <a:rect l="l" t="t" r="r" b="b"/>
            <a:pathLst>
              <a:path w="5553556" h="2510262">
                <a:moveTo>
                  <a:pt x="0" y="2510262"/>
                </a:moveTo>
                <a:quadBezTo>
                  <a:pt x="1666638" y="-654376"/>
                  <a:pt x="5553556" y="170583"/>
                </a:quadBezTo>
              </a:path>
            </a:pathLst>
          </a:custGeom>
          <a:ln w="19050" cap="flat">
            <a:solidFill>
              <a:srgbClr val="C00000"/>
            </a:solidFill>
            <a:prstDash val="solid"/>
            <a:headEnd type="none" w="sm" len="sm"/>
            <a:tailEnd type="triangle" w="lg" len="med"/>
          </a:ln>
        </p:spPr>
      </p:sp>
      <p:sp>
        <p:nvSpPr>
          <p:cNvPr id="16" name="Freeform 16"/>
          <p:cNvSpPr/>
          <p:nvPr/>
        </p:nvSpPr>
        <p:spPr>
          <a:xfrm>
            <a:off x="2706423" y="4623964"/>
            <a:ext cx="3884421" cy="1680738"/>
          </a:xfrm>
          <a:custGeom>
            <a:avLst/>
            <a:gdLst/>
            <a:ahLst/>
            <a:cxnLst/>
            <a:rect l="l" t="t" r="r" b="b"/>
            <a:pathLst>
              <a:path w="3884421" h="1680738">
                <a:moveTo>
                  <a:pt x="0" y="1680738"/>
                </a:moveTo>
                <a:quadBezTo>
                  <a:pt x="1172397" y="-1002118"/>
                  <a:pt x="3884421" y="597500"/>
                </a:quadBezTo>
              </a:path>
            </a:pathLst>
          </a:custGeom>
          <a:ln w="19050" cap="flat">
            <a:solidFill>
              <a:srgbClr val="C00000"/>
            </a:solidFill>
            <a:prstDash val="solid"/>
            <a:headEnd type="none" w="sm" len="sm"/>
            <a:tailEnd type="triangle" w="lg" len="med"/>
          </a:ln>
        </p:spPr>
      </p:sp>
      <p:sp>
        <p:nvSpPr>
          <p:cNvPr id="17" name="Freeform 17"/>
          <p:cNvSpPr/>
          <p:nvPr/>
        </p:nvSpPr>
        <p:spPr>
          <a:xfrm>
            <a:off x="2466651" y="6531538"/>
            <a:ext cx="4673260" cy="1300680"/>
          </a:xfrm>
          <a:custGeom>
            <a:avLst/>
            <a:gdLst/>
            <a:ahLst/>
            <a:cxnLst/>
            <a:rect l="l" t="t" r="r" b="b"/>
            <a:pathLst>
              <a:path w="4673260" h="1300680">
                <a:moveTo>
                  <a:pt x="0" y="0"/>
                </a:moveTo>
                <a:quadBezTo>
                  <a:pt x="760781" y="1859582"/>
                  <a:pt x="4673260" y="1060519"/>
                </a:quadBezTo>
              </a:path>
            </a:pathLst>
          </a:custGeom>
          <a:ln w="19050" cap="flat">
            <a:solidFill>
              <a:srgbClr val="C00000"/>
            </a:solidFill>
            <a:prstDash val="solid"/>
            <a:headEnd type="none" w="sm" len="sm"/>
            <a:tailEnd type="triangle" w="lg" len="med"/>
          </a:ln>
        </p:spPr>
      </p:sp>
      <p:grpSp>
        <p:nvGrpSpPr>
          <p:cNvPr id="18" name="Group 18"/>
          <p:cNvGrpSpPr/>
          <p:nvPr/>
        </p:nvGrpSpPr>
        <p:grpSpPr>
          <a:xfrm>
            <a:off x="5635675" y="5558949"/>
            <a:ext cx="818218" cy="818218"/>
            <a:chOff x="0" y="0"/>
            <a:chExt cx="812800" cy="812800"/>
          </a:xfrm>
        </p:grpSpPr>
        <p:sp>
          <p:nvSpPr>
            <p:cNvPr id="19" name="Freeform 19"/>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D6EBF9"/>
            </a:solidFill>
            <a:ln w="9525" cap="sq">
              <a:solidFill>
                <a:srgbClr val="000000"/>
              </a:solidFill>
              <a:prstDash val="solid"/>
              <a:miter/>
            </a:ln>
          </p:spPr>
        </p:sp>
        <p:sp>
          <p:nvSpPr>
            <p:cNvPr id="20" name="TextBox 20"/>
            <p:cNvSpPr txBox="1"/>
            <p:nvPr/>
          </p:nvSpPr>
          <p:spPr>
            <a:xfrm>
              <a:off x="0" y="193675"/>
              <a:ext cx="711200" cy="415925"/>
            </a:xfrm>
            <a:prstGeom prst="rect">
              <a:avLst/>
            </a:prstGeom>
          </p:spPr>
          <p:txBody>
            <a:bodyPr lIns="50800" tIns="50800" rIns="50800" bIns="50800" rtlCol="0" anchor="ctr"/>
            <a:lstStyle/>
            <a:p>
              <a:pPr algn="ctr">
                <a:lnSpc>
                  <a:spcPts val="2879"/>
                </a:lnSpc>
              </a:pPr>
              <a:endParaRPr/>
            </a:p>
          </p:txBody>
        </p:sp>
      </p:grpSp>
      <p:sp>
        <p:nvSpPr>
          <p:cNvPr id="21" name="TextBox 21"/>
          <p:cNvSpPr txBox="1"/>
          <p:nvPr/>
        </p:nvSpPr>
        <p:spPr>
          <a:xfrm>
            <a:off x="1061914" y="7947988"/>
            <a:ext cx="3787630" cy="363984"/>
          </a:xfrm>
          <a:prstGeom prst="rect">
            <a:avLst/>
          </a:prstGeom>
        </p:spPr>
        <p:txBody>
          <a:bodyPr lIns="0" tIns="0" rIns="0" bIns="0" rtlCol="0" anchor="t">
            <a:spAutoFit/>
          </a:bodyPr>
          <a:lstStyle/>
          <a:p>
            <a:pPr algn="l">
              <a:lnSpc>
                <a:spcPts val="2856"/>
              </a:lnSpc>
            </a:pPr>
            <a:r>
              <a:rPr lang="en-US" sz="2380" b="1">
                <a:solidFill>
                  <a:srgbClr val="1DAE93"/>
                </a:solidFill>
                <a:latin typeface="Times New Roman"/>
                <a:ea typeface="Times New Roman"/>
                <a:cs typeface="Times New Roman"/>
                <a:sym typeface="Times New Roman"/>
              </a:rPr>
              <a:t>Falcon Vision System Setup</a:t>
            </a:r>
          </a:p>
        </p:txBody>
      </p:sp>
      <p:sp>
        <p:nvSpPr>
          <p:cNvPr id="22" name="TextBox 22"/>
          <p:cNvSpPr txBox="1"/>
          <p:nvPr/>
        </p:nvSpPr>
        <p:spPr>
          <a:xfrm>
            <a:off x="1061914" y="8424778"/>
            <a:ext cx="4324152" cy="1553089"/>
          </a:xfrm>
          <a:prstGeom prst="rect">
            <a:avLst/>
          </a:prstGeom>
        </p:spPr>
        <p:txBody>
          <a:bodyPr lIns="0" tIns="0" rIns="0" bIns="0" rtlCol="0" anchor="t">
            <a:spAutoFit/>
          </a:bodyPr>
          <a:lstStyle/>
          <a:p>
            <a:pPr algn="l">
              <a:lnSpc>
                <a:spcPts val="2456"/>
              </a:lnSpc>
            </a:pPr>
            <a:r>
              <a:rPr lang="en-US" sz="2046" b="1" dirty="0">
                <a:solidFill>
                  <a:srgbClr val="005A9E"/>
                </a:solidFill>
                <a:latin typeface="Times New Roman"/>
                <a:ea typeface="Times New Roman"/>
                <a:cs typeface="Times New Roman"/>
                <a:sym typeface="Times New Roman"/>
              </a:rPr>
              <a:t>High-speed cameras deployed in a 5+7 configuration, </a:t>
            </a:r>
          </a:p>
          <a:p>
            <a:pPr algn="l">
              <a:lnSpc>
                <a:spcPts val="2456"/>
              </a:lnSpc>
            </a:pPr>
            <a:r>
              <a:rPr lang="en-US" sz="2046" b="1" dirty="0">
                <a:solidFill>
                  <a:srgbClr val="005A9E"/>
                </a:solidFill>
                <a:latin typeface="Times New Roman"/>
                <a:ea typeface="Times New Roman"/>
                <a:cs typeface="Times New Roman"/>
                <a:sym typeface="Times New Roman"/>
              </a:rPr>
              <a:t>comprehensively capturing pitching, batting, defense, and </a:t>
            </a:r>
          </a:p>
          <a:p>
            <a:pPr algn="l">
              <a:lnSpc>
                <a:spcPts val="2456"/>
              </a:lnSpc>
            </a:pPr>
            <a:r>
              <a:rPr lang="en-US" sz="2046" b="1" dirty="0">
                <a:solidFill>
                  <a:srgbClr val="005A9E"/>
                </a:solidFill>
                <a:latin typeface="Times New Roman"/>
                <a:ea typeface="Times New Roman"/>
                <a:cs typeface="Times New Roman"/>
                <a:sym typeface="Times New Roman"/>
              </a:rPr>
              <a:t>baserunning footage</a:t>
            </a:r>
          </a:p>
        </p:txBody>
      </p:sp>
      <p:sp>
        <p:nvSpPr>
          <p:cNvPr id="23" name="TextBox 23"/>
          <p:cNvSpPr txBox="1"/>
          <p:nvPr/>
        </p:nvSpPr>
        <p:spPr>
          <a:xfrm>
            <a:off x="7139911" y="7831533"/>
            <a:ext cx="4221261" cy="717716"/>
          </a:xfrm>
          <a:prstGeom prst="rect">
            <a:avLst/>
          </a:prstGeom>
        </p:spPr>
        <p:txBody>
          <a:bodyPr lIns="0" tIns="0" rIns="0" bIns="0" rtlCol="0" anchor="t">
            <a:spAutoFit/>
          </a:bodyPr>
          <a:lstStyle/>
          <a:p>
            <a:pPr algn="l">
              <a:lnSpc>
                <a:spcPts val="2763"/>
              </a:lnSpc>
            </a:pPr>
            <a:r>
              <a:rPr lang="en-US" sz="2302" b="1">
                <a:solidFill>
                  <a:srgbClr val="1DAE93"/>
                </a:solidFill>
                <a:latin typeface="Times New Roman"/>
                <a:ea typeface="Times New Roman"/>
                <a:cs typeface="Times New Roman"/>
                <a:sym typeface="Times New Roman"/>
              </a:rPr>
              <a:t>Optical tracking capture and advanced computational analysis</a:t>
            </a:r>
          </a:p>
        </p:txBody>
      </p:sp>
      <p:sp>
        <p:nvSpPr>
          <p:cNvPr id="24" name="TextBox 24"/>
          <p:cNvSpPr txBox="1"/>
          <p:nvPr/>
        </p:nvSpPr>
        <p:spPr>
          <a:xfrm>
            <a:off x="7139911" y="8653290"/>
            <a:ext cx="4444775" cy="1244377"/>
          </a:xfrm>
          <a:prstGeom prst="rect">
            <a:avLst/>
          </a:prstGeom>
        </p:spPr>
        <p:txBody>
          <a:bodyPr lIns="0" tIns="0" rIns="0" bIns="0" rtlCol="0" anchor="t">
            <a:spAutoFit/>
          </a:bodyPr>
          <a:lstStyle/>
          <a:p>
            <a:pPr algn="l">
              <a:lnSpc>
                <a:spcPts val="2456"/>
              </a:lnSpc>
            </a:pPr>
            <a:r>
              <a:rPr lang="en-US" sz="2046" b="1" dirty="0">
                <a:solidFill>
                  <a:srgbClr val="005A9E"/>
                </a:solidFill>
                <a:latin typeface="Times New Roman"/>
                <a:ea typeface="Times New Roman"/>
                <a:cs typeface="Times New Roman"/>
                <a:sym typeface="Times New Roman"/>
              </a:rPr>
              <a:t>Real-time capture of high-frame-rate ball displacement and physical dynamics, converted into data representations</a:t>
            </a:r>
          </a:p>
        </p:txBody>
      </p:sp>
      <p:sp>
        <p:nvSpPr>
          <p:cNvPr id="25" name="TextBox 25"/>
          <p:cNvSpPr txBox="1"/>
          <p:nvPr/>
        </p:nvSpPr>
        <p:spPr>
          <a:xfrm>
            <a:off x="12754956" y="7877190"/>
            <a:ext cx="4835864" cy="717716"/>
          </a:xfrm>
          <a:prstGeom prst="rect">
            <a:avLst/>
          </a:prstGeom>
        </p:spPr>
        <p:txBody>
          <a:bodyPr lIns="0" tIns="0" rIns="0" bIns="0" rtlCol="0" anchor="t">
            <a:spAutoFit/>
          </a:bodyPr>
          <a:lstStyle/>
          <a:p>
            <a:pPr algn="l">
              <a:lnSpc>
                <a:spcPts val="2763"/>
              </a:lnSpc>
            </a:pPr>
            <a:r>
              <a:rPr lang="en-US" sz="2302" b="1" dirty="0">
                <a:solidFill>
                  <a:srgbClr val="1DAE93"/>
                </a:solidFill>
                <a:latin typeface="Times New Roman"/>
                <a:ea typeface="Times New Roman"/>
                <a:cs typeface="Times New Roman"/>
                <a:sym typeface="Times New Roman"/>
              </a:rPr>
              <a:t>“</a:t>
            </a:r>
            <a:r>
              <a:rPr lang="en-US" sz="2302" b="1" dirty="0" err="1">
                <a:solidFill>
                  <a:srgbClr val="1DAE93"/>
                </a:solidFill>
                <a:latin typeface="Times New Roman"/>
                <a:ea typeface="Times New Roman"/>
                <a:cs typeface="Times New Roman"/>
                <a:sym typeface="Times New Roman"/>
              </a:rPr>
              <a:t>野球先生</a:t>
            </a:r>
            <a:r>
              <a:rPr lang="en-US" sz="2302" b="1" dirty="0">
                <a:solidFill>
                  <a:srgbClr val="1DAE93"/>
                </a:solidFill>
                <a:latin typeface="Times New Roman"/>
                <a:ea typeface="Times New Roman"/>
                <a:cs typeface="Times New Roman"/>
                <a:sym typeface="Times New Roman"/>
              </a:rPr>
              <a:t>”</a:t>
            </a:r>
          </a:p>
          <a:p>
            <a:pPr algn="l">
              <a:lnSpc>
                <a:spcPts val="2763"/>
              </a:lnSpc>
            </a:pPr>
            <a:r>
              <a:rPr lang="en-US" sz="2302" b="1" dirty="0">
                <a:solidFill>
                  <a:srgbClr val="1DAE93"/>
                </a:solidFill>
                <a:latin typeface="Times New Roman"/>
                <a:ea typeface="Times New Roman"/>
                <a:cs typeface="Times New Roman"/>
                <a:sym typeface="Times New Roman"/>
              </a:rPr>
              <a:t> Advanced Data Public Information</a:t>
            </a:r>
          </a:p>
        </p:txBody>
      </p:sp>
      <p:sp>
        <p:nvSpPr>
          <p:cNvPr id="26" name="TextBox 26"/>
          <p:cNvSpPr txBox="1"/>
          <p:nvPr/>
        </p:nvSpPr>
        <p:spPr>
          <a:xfrm>
            <a:off x="12754956" y="8653290"/>
            <a:ext cx="3993719" cy="626951"/>
          </a:xfrm>
          <a:prstGeom prst="rect">
            <a:avLst/>
          </a:prstGeom>
        </p:spPr>
        <p:txBody>
          <a:bodyPr lIns="0" tIns="0" rIns="0" bIns="0" rtlCol="0" anchor="t">
            <a:spAutoFit/>
          </a:bodyPr>
          <a:lstStyle/>
          <a:p>
            <a:pPr algn="l">
              <a:lnSpc>
                <a:spcPts val="2456"/>
              </a:lnSpc>
            </a:pPr>
            <a:r>
              <a:rPr lang="en-US" sz="2046" b="1">
                <a:solidFill>
                  <a:srgbClr val="005A9E"/>
                </a:solidFill>
                <a:latin typeface="Times New Roman"/>
                <a:ea typeface="Times New Roman"/>
                <a:cs typeface="Times New Roman"/>
                <a:sym typeface="Times New Roman"/>
              </a:rPr>
              <a:t>Providing a professional, visualized </a:t>
            </a:r>
          </a:p>
          <a:p>
            <a:pPr algn="l">
              <a:lnSpc>
                <a:spcPts val="2456"/>
              </a:lnSpc>
            </a:pPr>
            <a:r>
              <a:rPr lang="en-US" sz="2046" b="1">
                <a:solidFill>
                  <a:srgbClr val="005A9E"/>
                </a:solidFill>
                <a:latin typeface="Times New Roman"/>
                <a:ea typeface="Times New Roman"/>
                <a:cs typeface="Times New Roman"/>
                <a:sym typeface="Times New Roman"/>
              </a:rPr>
              <a:t>sports-science data experience</a:t>
            </a:r>
          </a:p>
        </p:txBody>
      </p:sp>
      <p:grpSp>
        <p:nvGrpSpPr>
          <p:cNvPr id="27" name="Group 27"/>
          <p:cNvGrpSpPr/>
          <p:nvPr/>
        </p:nvGrpSpPr>
        <p:grpSpPr>
          <a:xfrm>
            <a:off x="11764296" y="5486484"/>
            <a:ext cx="818218" cy="818218"/>
            <a:chOff x="0" y="0"/>
            <a:chExt cx="812800" cy="812800"/>
          </a:xfrm>
        </p:grpSpPr>
        <p:sp>
          <p:nvSpPr>
            <p:cNvPr id="28" name="Freeform 28"/>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D6EBF9"/>
            </a:solidFill>
            <a:ln w="9525" cap="sq">
              <a:solidFill>
                <a:srgbClr val="000000"/>
              </a:solidFill>
              <a:prstDash val="solid"/>
              <a:miter/>
            </a:ln>
          </p:spPr>
        </p:sp>
        <p:sp>
          <p:nvSpPr>
            <p:cNvPr id="29" name="TextBox 29"/>
            <p:cNvSpPr txBox="1"/>
            <p:nvPr/>
          </p:nvSpPr>
          <p:spPr>
            <a:xfrm>
              <a:off x="0" y="193675"/>
              <a:ext cx="711200" cy="415925"/>
            </a:xfrm>
            <a:prstGeom prst="rect">
              <a:avLst/>
            </a:prstGeom>
          </p:spPr>
          <p:txBody>
            <a:bodyPr lIns="50800" tIns="50800" rIns="50800" bIns="50800" rtlCol="0" anchor="ctr"/>
            <a:lstStyle/>
            <a:p>
              <a:pPr algn="ctr">
                <a:lnSpc>
                  <a:spcPts val="2879"/>
                </a:lnSpc>
              </a:pPr>
              <a:endParaRPr/>
            </a:p>
          </p:txBody>
        </p:sp>
      </p:grpSp>
      <p:sp>
        <p:nvSpPr>
          <p:cNvPr id="30" name="Freeform 30"/>
          <p:cNvSpPr/>
          <p:nvPr/>
        </p:nvSpPr>
        <p:spPr>
          <a:xfrm>
            <a:off x="10179800" y="6659607"/>
            <a:ext cx="2278371" cy="617355"/>
          </a:xfrm>
          <a:custGeom>
            <a:avLst/>
            <a:gdLst/>
            <a:ahLst/>
            <a:cxnLst/>
            <a:rect l="l" t="t" r="r" b="b"/>
            <a:pathLst>
              <a:path w="2278371" h="617355">
                <a:moveTo>
                  <a:pt x="0" y="0"/>
                </a:moveTo>
                <a:quadBezTo>
                  <a:pt x="1029407" y="716591"/>
                  <a:pt x="2278371" y="601404"/>
                </a:quadBezTo>
              </a:path>
            </a:pathLst>
          </a:custGeom>
          <a:ln w="19050" cap="flat">
            <a:solidFill>
              <a:srgbClr val="C00000"/>
            </a:solidFill>
            <a:prstDash val="solid"/>
            <a:headEnd type="none" w="sm" len="sm"/>
            <a:tailEnd type="triangle" w="lg" len="med"/>
          </a:ln>
        </p:spPr>
      </p:sp>
      <p:sp>
        <p:nvSpPr>
          <p:cNvPr id="31" name="Freeform 31"/>
          <p:cNvSpPr/>
          <p:nvPr/>
        </p:nvSpPr>
        <p:spPr>
          <a:xfrm>
            <a:off x="10179800" y="6797120"/>
            <a:ext cx="3558671" cy="629977"/>
          </a:xfrm>
          <a:custGeom>
            <a:avLst/>
            <a:gdLst/>
            <a:ahLst/>
            <a:cxnLst/>
            <a:rect l="l" t="t" r="r" b="b"/>
            <a:pathLst>
              <a:path w="3558671" h="629977">
                <a:moveTo>
                  <a:pt x="0" y="0"/>
                </a:moveTo>
                <a:quadBezTo>
                  <a:pt x="1699847" y="1083378"/>
                  <a:pt x="3558671" y="303660"/>
                </a:quadBezTo>
              </a:path>
            </a:pathLst>
          </a:custGeom>
          <a:ln w="19050" cap="flat">
            <a:solidFill>
              <a:srgbClr val="002060"/>
            </a:solidFill>
            <a:prstDash val="solid"/>
            <a:headEnd type="none" w="sm" len="sm"/>
            <a:tailEnd type="triangle" w="lg" len="med"/>
          </a:ln>
        </p:spPr>
      </p:sp>
      <p:sp>
        <p:nvSpPr>
          <p:cNvPr id="32" name="Freeform 32"/>
          <p:cNvSpPr/>
          <p:nvPr/>
        </p:nvSpPr>
        <p:spPr>
          <a:xfrm>
            <a:off x="9705951" y="6927075"/>
            <a:ext cx="4303031" cy="830754"/>
          </a:xfrm>
          <a:custGeom>
            <a:avLst/>
            <a:gdLst/>
            <a:ahLst/>
            <a:cxnLst/>
            <a:rect l="l" t="t" r="r" b="b"/>
            <a:pathLst>
              <a:path w="4303031" h="830754">
                <a:moveTo>
                  <a:pt x="0" y="0"/>
                </a:moveTo>
                <a:quadBezTo>
                  <a:pt x="1893705" y="1412586"/>
                  <a:pt x="4303031" y="423259"/>
                </a:quadBezTo>
              </a:path>
            </a:pathLst>
          </a:custGeom>
          <a:ln w="19050" cap="flat">
            <a:solidFill>
              <a:srgbClr val="002060"/>
            </a:solidFill>
            <a:prstDash val="solid"/>
            <a:headEnd type="none" w="sm" len="sm"/>
            <a:tailEnd type="triangle" w="lg" len="med"/>
          </a:ln>
        </p:spPr>
      </p:sp>
      <p:sp>
        <p:nvSpPr>
          <p:cNvPr id="33" name="Freeform 33"/>
          <p:cNvSpPr/>
          <p:nvPr/>
        </p:nvSpPr>
        <p:spPr>
          <a:xfrm>
            <a:off x="9642930" y="6989833"/>
            <a:ext cx="4095541" cy="881800"/>
          </a:xfrm>
          <a:custGeom>
            <a:avLst/>
            <a:gdLst/>
            <a:ahLst/>
            <a:cxnLst/>
            <a:rect l="l" t="t" r="r" b="b"/>
            <a:pathLst>
              <a:path w="4095541" h="881800">
                <a:moveTo>
                  <a:pt x="0" y="0"/>
                </a:moveTo>
                <a:quadBezTo>
                  <a:pt x="1690211" y="1378316"/>
                  <a:pt x="4095541" y="602224"/>
                </a:quadBezTo>
              </a:path>
            </a:pathLst>
          </a:custGeom>
          <a:ln w="19050" cap="flat">
            <a:solidFill>
              <a:srgbClr val="002060"/>
            </a:solidFill>
            <a:prstDash val="solid"/>
            <a:headEnd type="none" w="sm" len="sm"/>
            <a:tailEnd type="triangle" w="lg" len="med"/>
          </a:ln>
        </p:spPr>
      </p:sp>
      <p:sp>
        <p:nvSpPr>
          <p:cNvPr id="34" name="Freeform 34"/>
          <p:cNvSpPr/>
          <p:nvPr/>
        </p:nvSpPr>
        <p:spPr>
          <a:xfrm>
            <a:off x="9832064" y="6856058"/>
            <a:ext cx="3703536" cy="775323"/>
          </a:xfrm>
          <a:custGeom>
            <a:avLst/>
            <a:gdLst/>
            <a:ahLst/>
            <a:cxnLst/>
            <a:rect l="l" t="t" r="r" b="b"/>
            <a:pathLst>
              <a:path w="3703536" h="775323">
                <a:moveTo>
                  <a:pt x="0" y="0"/>
                </a:moveTo>
                <a:quadBezTo>
                  <a:pt x="1715637" y="1198942"/>
                  <a:pt x="3703536" y="543866"/>
                </a:quadBezTo>
              </a:path>
            </a:pathLst>
          </a:custGeom>
          <a:ln w="19050" cap="flat">
            <a:solidFill>
              <a:srgbClr val="C00000"/>
            </a:solidFill>
            <a:prstDash val="solid"/>
            <a:headEnd type="none" w="sm" len="sm"/>
            <a:tailEnd type="triangle" w="lg" len="med"/>
          </a:ln>
        </p:spPr>
      </p:sp>
      <p:grpSp>
        <p:nvGrpSpPr>
          <p:cNvPr id="35" name="Group 2">
            <a:extLst>
              <a:ext uri="{FF2B5EF4-FFF2-40B4-BE49-F238E27FC236}">
                <a16:creationId xmlns:a16="http://schemas.microsoft.com/office/drawing/2014/main" id="{3892358B-25CF-DD6C-BE15-034E3F8F9E0F}"/>
              </a:ext>
            </a:extLst>
          </p:cNvPr>
          <p:cNvGrpSpPr/>
          <p:nvPr/>
        </p:nvGrpSpPr>
        <p:grpSpPr>
          <a:xfrm>
            <a:off x="0" y="25403"/>
            <a:ext cx="18288000" cy="3744230"/>
            <a:chOff x="0" y="0"/>
            <a:chExt cx="24384000" cy="4992306"/>
          </a:xfrm>
        </p:grpSpPr>
        <p:sp>
          <p:nvSpPr>
            <p:cNvPr id="36" name="Freeform 3" descr="一張含有 黑暗, 黑色, 螢幕擷取畫面, 光線 的圖片  AI 產生的內容可能不正確。">
              <a:extLst>
                <a:ext uri="{FF2B5EF4-FFF2-40B4-BE49-F238E27FC236}">
                  <a16:creationId xmlns:a16="http://schemas.microsoft.com/office/drawing/2014/main" id="{DCD68F83-065B-2493-E827-BBE0AF05FF68}"/>
                </a:ext>
              </a:extLst>
            </p:cNvPr>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4"/>
              <a:stretch>
                <a:fillRect b="-1"/>
              </a:stretch>
            </a:blipFill>
          </p:spPr>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772" t="-19959" r="-25921" b="-8585"/>
            </a:stretch>
          </a:blipFill>
        </p:spPr>
      </p:sp>
      <p:sp>
        <p:nvSpPr>
          <p:cNvPr id="3" name="Freeform 3"/>
          <p:cNvSpPr/>
          <p:nvPr/>
        </p:nvSpPr>
        <p:spPr>
          <a:xfrm rot="-5400000">
            <a:off x="17451474" y="327250"/>
            <a:ext cx="111585" cy="495934"/>
          </a:xfrm>
          <a:custGeom>
            <a:avLst/>
            <a:gdLst/>
            <a:ahLst/>
            <a:cxnLst/>
            <a:rect l="l" t="t" r="r" b="b"/>
            <a:pathLst>
              <a:path w="111585" h="495934">
                <a:moveTo>
                  <a:pt x="0" y="0"/>
                </a:moveTo>
                <a:lnTo>
                  <a:pt x="111585" y="0"/>
                </a:lnTo>
                <a:lnTo>
                  <a:pt x="111585" y="495934"/>
                </a:lnTo>
                <a:lnTo>
                  <a:pt x="0" y="495934"/>
                </a:lnTo>
                <a:lnTo>
                  <a:pt x="0" y="0"/>
                </a:lnTo>
                <a:close/>
              </a:path>
            </a:pathLst>
          </a:custGeom>
          <a:blipFill>
            <a:blip r:embed="rId3">
              <a:alphaModFix amt="23000"/>
              <a:extLst>
                <a:ext uri="{96DAC541-7B7A-43D3-8B79-37D633B846F1}">
                  <asvg:svgBlip xmlns:asvg="http://schemas.microsoft.com/office/drawing/2016/SVG/main" r:embed="rId4"/>
                </a:ext>
              </a:extLst>
            </a:blip>
            <a:stretch>
              <a:fillRect/>
            </a:stretch>
          </a:blipFill>
          <a:ln cap="sq">
            <a:noFill/>
            <a:prstDash val="solid"/>
            <a:miter/>
          </a:ln>
        </p:spPr>
      </p:sp>
      <p:grpSp>
        <p:nvGrpSpPr>
          <p:cNvPr id="4" name="Group 4"/>
          <p:cNvGrpSpPr/>
          <p:nvPr/>
        </p:nvGrpSpPr>
        <p:grpSpPr>
          <a:xfrm>
            <a:off x="563310" y="1869909"/>
            <a:ext cx="8497623" cy="4197299"/>
            <a:chOff x="0" y="0"/>
            <a:chExt cx="2238057" cy="1105462"/>
          </a:xfrm>
        </p:grpSpPr>
        <p:sp>
          <p:nvSpPr>
            <p:cNvPr id="5" name="Freeform 5"/>
            <p:cNvSpPr/>
            <p:nvPr/>
          </p:nvSpPr>
          <p:spPr>
            <a:xfrm>
              <a:off x="0" y="0"/>
              <a:ext cx="2238057" cy="1105461"/>
            </a:xfrm>
            <a:custGeom>
              <a:avLst/>
              <a:gdLst/>
              <a:ahLst/>
              <a:cxnLst/>
              <a:rect l="l" t="t" r="r" b="b"/>
              <a:pathLst>
                <a:path w="2238057" h="1105461">
                  <a:moveTo>
                    <a:pt x="0" y="0"/>
                  </a:moveTo>
                  <a:lnTo>
                    <a:pt x="2238057" y="0"/>
                  </a:lnTo>
                  <a:lnTo>
                    <a:pt x="2238057" y="1105461"/>
                  </a:lnTo>
                  <a:lnTo>
                    <a:pt x="0" y="1105461"/>
                  </a:lnTo>
                  <a:close/>
                </a:path>
              </a:pathLst>
            </a:custGeom>
            <a:ln w="19050" cap="sq">
              <a:solidFill>
                <a:srgbClr val="67A0DA"/>
              </a:solidFill>
              <a:prstDash val="lgDash"/>
              <a:miter/>
            </a:ln>
          </p:spPr>
        </p:sp>
        <p:sp>
          <p:nvSpPr>
            <p:cNvPr id="6" name="TextBox 6"/>
            <p:cNvSpPr txBox="1"/>
            <p:nvPr/>
          </p:nvSpPr>
          <p:spPr>
            <a:xfrm>
              <a:off x="0" y="-28575"/>
              <a:ext cx="2238057" cy="1134037"/>
            </a:xfrm>
            <a:prstGeom prst="rect">
              <a:avLst/>
            </a:prstGeom>
          </p:spPr>
          <p:txBody>
            <a:bodyPr lIns="50800" tIns="50800" rIns="50800" bIns="50800" rtlCol="0" anchor="ctr"/>
            <a:lstStyle/>
            <a:p>
              <a:pPr algn="ctr">
                <a:lnSpc>
                  <a:spcPts val="2833"/>
                </a:lnSpc>
              </a:pPr>
              <a:endParaRPr/>
            </a:p>
          </p:txBody>
        </p:sp>
      </p:grpSp>
      <p:grpSp>
        <p:nvGrpSpPr>
          <p:cNvPr id="7" name="Group 7"/>
          <p:cNvGrpSpPr/>
          <p:nvPr/>
        </p:nvGrpSpPr>
        <p:grpSpPr>
          <a:xfrm>
            <a:off x="9222858" y="1869909"/>
            <a:ext cx="8284409" cy="5666991"/>
            <a:chOff x="0" y="0"/>
            <a:chExt cx="2181902" cy="1492541"/>
          </a:xfrm>
        </p:grpSpPr>
        <p:sp>
          <p:nvSpPr>
            <p:cNvPr id="8" name="Freeform 8"/>
            <p:cNvSpPr/>
            <p:nvPr/>
          </p:nvSpPr>
          <p:spPr>
            <a:xfrm>
              <a:off x="0" y="0"/>
              <a:ext cx="2181902" cy="1492541"/>
            </a:xfrm>
            <a:custGeom>
              <a:avLst/>
              <a:gdLst/>
              <a:ahLst/>
              <a:cxnLst/>
              <a:rect l="l" t="t" r="r" b="b"/>
              <a:pathLst>
                <a:path w="2181902" h="1492541">
                  <a:moveTo>
                    <a:pt x="0" y="0"/>
                  </a:moveTo>
                  <a:lnTo>
                    <a:pt x="2181902" y="0"/>
                  </a:lnTo>
                  <a:lnTo>
                    <a:pt x="2181902" y="1492541"/>
                  </a:lnTo>
                  <a:lnTo>
                    <a:pt x="0" y="1492541"/>
                  </a:lnTo>
                  <a:close/>
                </a:path>
              </a:pathLst>
            </a:custGeom>
            <a:ln w="19050" cap="sq">
              <a:solidFill>
                <a:srgbClr val="67A0DA"/>
              </a:solidFill>
              <a:prstDash val="lgDash"/>
              <a:miter/>
            </a:ln>
          </p:spPr>
        </p:sp>
        <p:sp>
          <p:nvSpPr>
            <p:cNvPr id="9" name="TextBox 9"/>
            <p:cNvSpPr txBox="1"/>
            <p:nvPr/>
          </p:nvSpPr>
          <p:spPr>
            <a:xfrm>
              <a:off x="0" y="-28575"/>
              <a:ext cx="2181902" cy="1521116"/>
            </a:xfrm>
            <a:prstGeom prst="rect">
              <a:avLst/>
            </a:prstGeom>
          </p:spPr>
          <p:txBody>
            <a:bodyPr lIns="50800" tIns="50800" rIns="50800" bIns="50800" rtlCol="0" anchor="ctr"/>
            <a:lstStyle/>
            <a:p>
              <a:pPr algn="ctr">
                <a:lnSpc>
                  <a:spcPts val="2833"/>
                </a:lnSpc>
              </a:pPr>
              <a:endParaRPr/>
            </a:p>
          </p:txBody>
        </p:sp>
      </p:grpSp>
      <p:grpSp>
        <p:nvGrpSpPr>
          <p:cNvPr id="10" name="Group 10"/>
          <p:cNvGrpSpPr/>
          <p:nvPr/>
        </p:nvGrpSpPr>
        <p:grpSpPr>
          <a:xfrm>
            <a:off x="563310" y="6366116"/>
            <a:ext cx="8497623" cy="3740930"/>
            <a:chOff x="0" y="0"/>
            <a:chExt cx="2238057" cy="985266"/>
          </a:xfrm>
        </p:grpSpPr>
        <p:sp>
          <p:nvSpPr>
            <p:cNvPr id="11" name="Freeform 11"/>
            <p:cNvSpPr/>
            <p:nvPr/>
          </p:nvSpPr>
          <p:spPr>
            <a:xfrm>
              <a:off x="0" y="0"/>
              <a:ext cx="2238057" cy="985266"/>
            </a:xfrm>
            <a:custGeom>
              <a:avLst/>
              <a:gdLst/>
              <a:ahLst/>
              <a:cxnLst/>
              <a:rect l="l" t="t" r="r" b="b"/>
              <a:pathLst>
                <a:path w="2238057" h="985266">
                  <a:moveTo>
                    <a:pt x="0" y="0"/>
                  </a:moveTo>
                  <a:lnTo>
                    <a:pt x="2238057" y="0"/>
                  </a:lnTo>
                  <a:lnTo>
                    <a:pt x="2238057" y="985266"/>
                  </a:lnTo>
                  <a:lnTo>
                    <a:pt x="0" y="985266"/>
                  </a:lnTo>
                  <a:close/>
                </a:path>
              </a:pathLst>
            </a:custGeom>
            <a:ln w="19050" cap="sq">
              <a:solidFill>
                <a:srgbClr val="67A0DA"/>
              </a:solidFill>
              <a:prstDash val="lgDash"/>
              <a:miter/>
            </a:ln>
          </p:spPr>
        </p:sp>
        <p:sp>
          <p:nvSpPr>
            <p:cNvPr id="12" name="TextBox 12"/>
            <p:cNvSpPr txBox="1"/>
            <p:nvPr/>
          </p:nvSpPr>
          <p:spPr>
            <a:xfrm>
              <a:off x="0" y="-28575"/>
              <a:ext cx="2238057" cy="1013841"/>
            </a:xfrm>
            <a:prstGeom prst="rect">
              <a:avLst/>
            </a:prstGeom>
          </p:spPr>
          <p:txBody>
            <a:bodyPr lIns="50800" tIns="50800" rIns="50800" bIns="50800" rtlCol="0" anchor="ctr"/>
            <a:lstStyle/>
            <a:p>
              <a:pPr algn="ctr">
                <a:lnSpc>
                  <a:spcPts val="2833"/>
                </a:lnSpc>
              </a:pPr>
              <a:endParaRPr/>
            </a:p>
          </p:txBody>
        </p:sp>
      </p:grpSp>
      <p:grpSp>
        <p:nvGrpSpPr>
          <p:cNvPr id="13" name="Group 13"/>
          <p:cNvGrpSpPr/>
          <p:nvPr/>
        </p:nvGrpSpPr>
        <p:grpSpPr>
          <a:xfrm>
            <a:off x="1363408" y="599237"/>
            <a:ext cx="1103243" cy="551059"/>
            <a:chOff x="0" y="0"/>
            <a:chExt cx="1470990" cy="734746"/>
          </a:xfrm>
        </p:grpSpPr>
        <p:sp>
          <p:nvSpPr>
            <p:cNvPr id="14" name="Freeform 14"/>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5"/>
              <a:stretch>
                <a:fillRect t="-221" r="3" b="-226"/>
              </a:stretch>
            </a:blipFill>
          </p:spPr>
        </p:sp>
      </p:grpSp>
      <p:grpSp>
        <p:nvGrpSpPr>
          <p:cNvPr id="15" name="Group 15"/>
          <p:cNvGrpSpPr/>
          <p:nvPr/>
        </p:nvGrpSpPr>
        <p:grpSpPr>
          <a:xfrm>
            <a:off x="563310" y="690306"/>
            <a:ext cx="17369016" cy="1508760"/>
            <a:chOff x="0" y="0"/>
            <a:chExt cx="23158687" cy="2011680"/>
          </a:xfrm>
        </p:grpSpPr>
        <p:sp>
          <p:nvSpPr>
            <p:cNvPr id="16" name="Freeform 16"/>
            <p:cNvSpPr/>
            <p:nvPr/>
          </p:nvSpPr>
          <p:spPr>
            <a:xfrm>
              <a:off x="0" y="0"/>
              <a:ext cx="23158687" cy="2011680"/>
            </a:xfrm>
            <a:custGeom>
              <a:avLst/>
              <a:gdLst/>
              <a:ahLst/>
              <a:cxnLst/>
              <a:rect l="l" t="t" r="r" b="b"/>
              <a:pathLst>
                <a:path w="23158687" h="2011680">
                  <a:moveTo>
                    <a:pt x="0" y="0"/>
                  </a:moveTo>
                  <a:lnTo>
                    <a:pt x="23158687" y="0"/>
                  </a:lnTo>
                  <a:lnTo>
                    <a:pt x="23158687" y="2011680"/>
                  </a:lnTo>
                  <a:lnTo>
                    <a:pt x="0" y="2011680"/>
                  </a:lnTo>
                  <a:close/>
                </a:path>
              </a:pathLst>
            </a:custGeom>
            <a:blipFill>
              <a:blip r:embed="rId6">
                <a:alphaModFix amt="0"/>
              </a:blip>
              <a:stretch>
                <a:fillRect t="-192578" r="-8142" b="-192578"/>
              </a:stretch>
            </a:blipFill>
          </p:spPr>
        </p:sp>
        <p:sp>
          <p:nvSpPr>
            <p:cNvPr id="17" name="TextBox 17"/>
            <p:cNvSpPr txBox="1"/>
            <p:nvPr/>
          </p:nvSpPr>
          <p:spPr>
            <a:xfrm>
              <a:off x="0" y="133350"/>
              <a:ext cx="23158687" cy="1878330"/>
            </a:xfrm>
            <a:prstGeom prst="rect">
              <a:avLst/>
            </a:prstGeom>
          </p:spPr>
          <p:txBody>
            <a:bodyPr lIns="0" tIns="0" rIns="0" bIns="0" rtlCol="0" anchor="ctr"/>
            <a:lstStyle/>
            <a:p>
              <a:pPr algn="l">
                <a:lnSpc>
                  <a:spcPts val="4116"/>
                </a:lnSpc>
              </a:pPr>
              <a:r>
                <a:rPr lang="en-US" altLang="zh-TW" sz="4900" b="1" dirty="0">
                  <a:solidFill>
                    <a:srgbClr val="002060"/>
                  </a:solidFill>
                  <a:latin typeface="Times New Roman"/>
                  <a:cs typeface="Times New Roman"/>
                </a:rPr>
                <a:t>From Baseball Data to Smart Applications</a:t>
              </a:r>
              <a:endParaRPr lang="en-US" sz="4900" b="1" dirty="0">
                <a:solidFill>
                  <a:srgbClr val="002060"/>
                </a:solidFill>
                <a:latin typeface="Times New Roman"/>
                <a:ea typeface="Times New Roman"/>
                <a:cs typeface="Times New Roman"/>
                <a:sym typeface="Times New Roman"/>
              </a:endParaRPr>
            </a:p>
          </p:txBody>
        </p:sp>
      </p:grpSp>
      <p:grpSp>
        <p:nvGrpSpPr>
          <p:cNvPr id="18" name="Group 18"/>
          <p:cNvGrpSpPr/>
          <p:nvPr/>
        </p:nvGrpSpPr>
        <p:grpSpPr>
          <a:xfrm>
            <a:off x="767648" y="3164220"/>
            <a:ext cx="2952359" cy="594331"/>
            <a:chOff x="0" y="0"/>
            <a:chExt cx="3936478" cy="792442"/>
          </a:xfrm>
        </p:grpSpPr>
        <p:sp>
          <p:nvSpPr>
            <p:cNvPr id="19" name="Freeform 19"/>
            <p:cNvSpPr/>
            <p:nvPr/>
          </p:nvSpPr>
          <p:spPr>
            <a:xfrm>
              <a:off x="0" y="0"/>
              <a:ext cx="3936491" cy="792433"/>
            </a:xfrm>
            <a:custGeom>
              <a:avLst/>
              <a:gdLst/>
              <a:ahLst/>
              <a:cxnLst/>
              <a:rect l="l" t="t" r="r" b="b"/>
              <a:pathLst>
                <a:path w="3936491" h="792433">
                  <a:moveTo>
                    <a:pt x="0" y="0"/>
                  </a:moveTo>
                  <a:lnTo>
                    <a:pt x="3936491" y="0"/>
                  </a:lnTo>
                  <a:lnTo>
                    <a:pt x="3936491" y="792433"/>
                  </a:lnTo>
                  <a:lnTo>
                    <a:pt x="0" y="792433"/>
                  </a:lnTo>
                  <a:close/>
                </a:path>
              </a:pathLst>
            </a:custGeom>
            <a:blipFill>
              <a:blip r:embed="rId6">
                <a:alphaModFix amt="0"/>
              </a:blip>
              <a:stretch>
                <a:fillRect l="-1791" r="23896" b="-50795"/>
              </a:stretch>
            </a:blipFill>
            <a:ln w="19050" cap="sq">
              <a:solidFill>
                <a:srgbClr val="4472C4"/>
              </a:solidFill>
              <a:prstDash val="solid"/>
              <a:miter/>
            </a:ln>
          </p:spPr>
        </p:sp>
        <p:sp>
          <p:nvSpPr>
            <p:cNvPr id="20" name="TextBox 20"/>
            <p:cNvSpPr txBox="1"/>
            <p:nvPr/>
          </p:nvSpPr>
          <p:spPr>
            <a:xfrm>
              <a:off x="0" y="-9525"/>
              <a:ext cx="3936478" cy="801967"/>
            </a:xfrm>
            <a:prstGeom prst="rect">
              <a:avLst/>
            </a:prstGeom>
          </p:spPr>
          <p:txBody>
            <a:bodyPr lIns="50800" tIns="50800" rIns="50800" bIns="50800" rtlCol="0" anchor="t"/>
            <a:lstStyle/>
            <a:p>
              <a:pPr algn="l">
                <a:lnSpc>
                  <a:spcPts val="2879"/>
                </a:lnSpc>
              </a:pPr>
              <a:r>
                <a:rPr lang="en-US" sz="2400">
                  <a:solidFill>
                    <a:srgbClr val="1E4C9A"/>
                  </a:solidFill>
                  <a:latin typeface="Times New Roman"/>
                  <a:ea typeface="Times New Roman"/>
                  <a:cs typeface="Times New Roman"/>
                  <a:sym typeface="Times New Roman"/>
                </a:rPr>
                <a:t>Optical Sensor Dataset</a:t>
              </a:r>
            </a:p>
          </p:txBody>
        </p:sp>
      </p:grpSp>
      <p:grpSp>
        <p:nvGrpSpPr>
          <p:cNvPr id="21" name="Group 21"/>
          <p:cNvGrpSpPr/>
          <p:nvPr/>
        </p:nvGrpSpPr>
        <p:grpSpPr>
          <a:xfrm>
            <a:off x="767648" y="3835959"/>
            <a:ext cx="2791623" cy="593080"/>
            <a:chOff x="0" y="0"/>
            <a:chExt cx="3722163" cy="790773"/>
          </a:xfrm>
        </p:grpSpPr>
        <p:sp>
          <p:nvSpPr>
            <p:cNvPr id="22" name="Freeform 22"/>
            <p:cNvSpPr/>
            <p:nvPr/>
          </p:nvSpPr>
          <p:spPr>
            <a:xfrm>
              <a:off x="0" y="0"/>
              <a:ext cx="3722176" cy="790765"/>
            </a:xfrm>
            <a:custGeom>
              <a:avLst/>
              <a:gdLst/>
              <a:ahLst/>
              <a:cxnLst/>
              <a:rect l="l" t="t" r="r" b="b"/>
              <a:pathLst>
                <a:path w="3722176" h="790765">
                  <a:moveTo>
                    <a:pt x="0" y="0"/>
                  </a:moveTo>
                  <a:lnTo>
                    <a:pt x="3722176" y="0"/>
                  </a:lnTo>
                  <a:lnTo>
                    <a:pt x="3722176" y="790765"/>
                  </a:lnTo>
                  <a:lnTo>
                    <a:pt x="0" y="790765"/>
                  </a:lnTo>
                  <a:close/>
                </a:path>
              </a:pathLst>
            </a:custGeom>
            <a:blipFill>
              <a:blip r:embed="rId6">
                <a:alphaModFix amt="0"/>
              </a:blip>
              <a:stretch>
                <a:fillRect l="-1894" r="19514" b="-51113"/>
              </a:stretch>
            </a:blipFill>
            <a:ln w="19050" cap="sq">
              <a:solidFill>
                <a:srgbClr val="4472C4"/>
              </a:solidFill>
              <a:prstDash val="solid"/>
              <a:miter/>
            </a:ln>
          </p:spPr>
        </p:sp>
        <p:sp>
          <p:nvSpPr>
            <p:cNvPr id="23" name="TextBox 23"/>
            <p:cNvSpPr txBox="1"/>
            <p:nvPr/>
          </p:nvSpPr>
          <p:spPr>
            <a:xfrm>
              <a:off x="0" y="-9525"/>
              <a:ext cx="3722163" cy="800298"/>
            </a:xfrm>
            <a:prstGeom prst="rect">
              <a:avLst/>
            </a:prstGeom>
          </p:spPr>
          <p:txBody>
            <a:bodyPr lIns="50800" tIns="50800" rIns="50800" bIns="50800" rtlCol="0" anchor="t"/>
            <a:lstStyle/>
            <a:p>
              <a:pPr algn="l">
                <a:lnSpc>
                  <a:spcPts val="2879"/>
                </a:lnSpc>
              </a:pPr>
              <a:r>
                <a:rPr lang="en-US" sz="2400" dirty="0">
                  <a:solidFill>
                    <a:srgbClr val="1E4C9A"/>
                  </a:solidFill>
                  <a:latin typeface="Times New Roman"/>
                  <a:ea typeface="Times New Roman"/>
                  <a:cs typeface="Times New Roman"/>
                  <a:sym typeface="Times New Roman"/>
                </a:rPr>
                <a:t>Radar Sensor Dataset</a:t>
              </a:r>
            </a:p>
          </p:txBody>
        </p:sp>
      </p:grpSp>
      <p:grpSp>
        <p:nvGrpSpPr>
          <p:cNvPr id="24" name="Group 24"/>
          <p:cNvGrpSpPr/>
          <p:nvPr/>
        </p:nvGrpSpPr>
        <p:grpSpPr>
          <a:xfrm>
            <a:off x="741507" y="4509731"/>
            <a:ext cx="3054277" cy="593080"/>
            <a:chOff x="0" y="0"/>
            <a:chExt cx="4072369" cy="790773"/>
          </a:xfrm>
        </p:grpSpPr>
        <p:sp>
          <p:nvSpPr>
            <p:cNvPr id="25" name="Freeform 25"/>
            <p:cNvSpPr/>
            <p:nvPr/>
          </p:nvSpPr>
          <p:spPr>
            <a:xfrm>
              <a:off x="0" y="0"/>
              <a:ext cx="4072408" cy="790765"/>
            </a:xfrm>
            <a:custGeom>
              <a:avLst/>
              <a:gdLst/>
              <a:ahLst/>
              <a:cxnLst/>
              <a:rect l="l" t="t" r="r" b="b"/>
              <a:pathLst>
                <a:path w="4072408" h="790765">
                  <a:moveTo>
                    <a:pt x="0" y="0"/>
                  </a:moveTo>
                  <a:lnTo>
                    <a:pt x="4072408" y="0"/>
                  </a:lnTo>
                  <a:lnTo>
                    <a:pt x="4072408" y="790765"/>
                  </a:lnTo>
                  <a:lnTo>
                    <a:pt x="0" y="790765"/>
                  </a:lnTo>
                  <a:close/>
                </a:path>
              </a:pathLst>
            </a:custGeom>
            <a:blipFill>
              <a:blip r:embed="rId6">
                <a:alphaModFix amt="0"/>
              </a:blip>
              <a:stretch>
                <a:fillRect t="-15012" r="9743" b="-66126"/>
              </a:stretch>
            </a:blipFill>
            <a:ln w="19050" cap="sq">
              <a:solidFill>
                <a:srgbClr val="4472C4"/>
              </a:solidFill>
              <a:prstDash val="solid"/>
              <a:miter/>
            </a:ln>
          </p:spPr>
        </p:sp>
        <p:sp>
          <p:nvSpPr>
            <p:cNvPr id="26" name="TextBox 26"/>
            <p:cNvSpPr txBox="1"/>
            <p:nvPr/>
          </p:nvSpPr>
          <p:spPr>
            <a:xfrm>
              <a:off x="0" y="-9525"/>
              <a:ext cx="4072369" cy="800298"/>
            </a:xfrm>
            <a:prstGeom prst="rect">
              <a:avLst/>
            </a:prstGeom>
          </p:spPr>
          <p:txBody>
            <a:bodyPr lIns="50800" tIns="50800" rIns="50800" bIns="50800" rtlCol="0" anchor="t"/>
            <a:lstStyle/>
            <a:p>
              <a:pPr algn="l">
                <a:lnSpc>
                  <a:spcPts val="2879"/>
                </a:lnSpc>
              </a:pPr>
              <a:r>
                <a:rPr lang="en-US" sz="2400">
                  <a:solidFill>
                    <a:srgbClr val="1E4C9A"/>
                  </a:solidFill>
                  <a:latin typeface="Times New Roman"/>
                  <a:ea typeface="Times New Roman"/>
                  <a:cs typeface="Times New Roman"/>
                  <a:sym typeface="Times New Roman"/>
                </a:rPr>
                <a:t>Match Records Dataset</a:t>
              </a:r>
            </a:p>
          </p:txBody>
        </p:sp>
      </p:grpSp>
      <p:grpSp>
        <p:nvGrpSpPr>
          <p:cNvPr id="27" name="Group 27"/>
          <p:cNvGrpSpPr/>
          <p:nvPr/>
        </p:nvGrpSpPr>
        <p:grpSpPr>
          <a:xfrm>
            <a:off x="767648" y="5171867"/>
            <a:ext cx="3398006" cy="600224"/>
            <a:chOff x="0" y="-9525"/>
            <a:chExt cx="4530675" cy="800298"/>
          </a:xfrm>
        </p:grpSpPr>
        <p:sp>
          <p:nvSpPr>
            <p:cNvPr id="28" name="Freeform 28"/>
            <p:cNvSpPr/>
            <p:nvPr/>
          </p:nvSpPr>
          <p:spPr>
            <a:xfrm>
              <a:off x="0" y="0"/>
              <a:ext cx="4530675" cy="790765"/>
            </a:xfrm>
            <a:custGeom>
              <a:avLst/>
              <a:gdLst/>
              <a:ahLst/>
              <a:cxnLst/>
              <a:rect l="l" t="t" r="r" b="b"/>
              <a:pathLst>
                <a:path w="4530675" h="790765">
                  <a:moveTo>
                    <a:pt x="0" y="0"/>
                  </a:moveTo>
                  <a:lnTo>
                    <a:pt x="4530675" y="0"/>
                  </a:lnTo>
                  <a:lnTo>
                    <a:pt x="4530675" y="790765"/>
                  </a:lnTo>
                  <a:lnTo>
                    <a:pt x="0" y="790765"/>
                  </a:lnTo>
                  <a:close/>
                </a:path>
              </a:pathLst>
            </a:custGeom>
            <a:blipFill>
              <a:blip r:embed="rId6">
                <a:alphaModFix amt="0"/>
              </a:blip>
              <a:stretch>
                <a:fillRect t="-34187" r="1697" b="-85300"/>
              </a:stretch>
            </a:blipFill>
            <a:ln w="19050" cap="sq">
              <a:solidFill>
                <a:srgbClr val="4472C4"/>
              </a:solidFill>
              <a:prstDash val="solid"/>
              <a:miter/>
            </a:ln>
          </p:spPr>
        </p:sp>
        <p:sp>
          <p:nvSpPr>
            <p:cNvPr id="29" name="TextBox 29"/>
            <p:cNvSpPr txBox="1"/>
            <p:nvPr/>
          </p:nvSpPr>
          <p:spPr>
            <a:xfrm>
              <a:off x="0" y="-9525"/>
              <a:ext cx="4530675" cy="800298"/>
            </a:xfrm>
            <a:prstGeom prst="rect">
              <a:avLst/>
            </a:prstGeom>
          </p:spPr>
          <p:txBody>
            <a:bodyPr lIns="50800" tIns="50800" rIns="50800" bIns="50800" rtlCol="0" anchor="t"/>
            <a:lstStyle/>
            <a:p>
              <a:pPr algn="l">
                <a:lnSpc>
                  <a:spcPts val="2879"/>
                </a:lnSpc>
              </a:pPr>
              <a:r>
                <a:rPr lang="en-US" sz="2400" dirty="0">
                  <a:solidFill>
                    <a:srgbClr val="1E4C9A"/>
                  </a:solidFill>
                  <a:latin typeface="Times New Roman"/>
                  <a:ea typeface="Times New Roman"/>
                  <a:cs typeface="Times New Roman"/>
                  <a:sym typeface="Times New Roman"/>
                </a:rPr>
                <a:t>Event Registration Dataset</a:t>
              </a:r>
            </a:p>
          </p:txBody>
        </p:sp>
      </p:grpSp>
      <p:grpSp>
        <p:nvGrpSpPr>
          <p:cNvPr id="30" name="Group 30"/>
          <p:cNvGrpSpPr/>
          <p:nvPr/>
        </p:nvGrpSpPr>
        <p:grpSpPr>
          <a:xfrm>
            <a:off x="5300203" y="3352224"/>
            <a:ext cx="2427066" cy="903361"/>
            <a:chOff x="0" y="-9525"/>
            <a:chExt cx="3236087" cy="1204481"/>
          </a:xfrm>
        </p:grpSpPr>
        <p:sp>
          <p:nvSpPr>
            <p:cNvPr id="31" name="Freeform 31"/>
            <p:cNvSpPr/>
            <p:nvPr/>
          </p:nvSpPr>
          <p:spPr>
            <a:xfrm>
              <a:off x="0" y="0"/>
              <a:ext cx="3236087" cy="1194943"/>
            </a:xfrm>
            <a:custGeom>
              <a:avLst/>
              <a:gdLst/>
              <a:ahLst/>
              <a:cxnLst/>
              <a:rect l="l" t="t" r="r" b="b"/>
              <a:pathLst>
                <a:path w="3236087" h="1194943">
                  <a:moveTo>
                    <a:pt x="0" y="0"/>
                  </a:moveTo>
                  <a:lnTo>
                    <a:pt x="3236087" y="0"/>
                  </a:lnTo>
                  <a:lnTo>
                    <a:pt x="3236087" y="1194943"/>
                  </a:lnTo>
                  <a:lnTo>
                    <a:pt x="0" y="1194943"/>
                  </a:lnTo>
                  <a:close/>
                </a:path>
              </a:pathLst>
            </a:custGeom>
            <a:blipFill>
              <a:blip r:embed="rId6">
                <a:alphaModFix amt="0"/>
              </a:blip>
              <a:stretch>
                <a:fillRect t="-2767" r="1" b="-2768"/>
              </a:stretch>
            </a:blipFill>
            <a:ln w="19050" cap="sq">
              <a:solidFill>
                <a:srgbClr val="4472C4"/>
              </a:solidFill>
              <a:prstDash val="solid"/>
              <a:miter/>
            </a:ln>
          </p:spPr>
        </p:sp>
        <p:sp>
          <p:nvSpPr>
            <p:cNvPr id="32" name="TextBox 32"/>
            <p:cNvSpPr txBox="1"/>
            <p:nvPr/>
          </p:nvSpPr>
          <p:spPr>
            <a:xfrm>
              <a:off x="1" y="-9525"/>
              <a:ext cx="3020346" cy="1204481"/>
            </a:xfrm>
            <a:prstGeom prst="rect">
              <a:avLst/>
            </a:prstGeom>
          </p:spPr>
          <p:txBody>
            <a:bodyPr lIns="50800" tIns="50800" rIns="50800" bIns="50800" rtlCol="0" anchor="t"/>
            <a:lstStyle/>
            <a:p>
              <a:pPr algn="ctr">
                <a:lnSpc>
                  <a:spcPts val="2879"/>
                </a:lnSpc>
              </a:pPr>
              <a:r>
                <a:rPr lang="en-US" sz="2400" dirty="0">
                  <a:solidFill>
                    <a:srgbClr val="1E4C9A"/>
                  </a:solidFill>
                  <a:latin typeface="Times New Roman"/>
                  <a:ea typeface="Times New Roman"/>
                  <a:cs typeface="Times New Roman"/>
                  <a:sym typeface="Times New Roman"/>
                </a:rPr>
                <a:t>Advanced Match Dataset</a:t>
              </a:r>
            </a:p>
          </p:txBody>
        </p:sp>
      </p:grpSp>
      <p:grpSp>
        <p:nvGrpSpPr>
          <p:cNvPr id="33" name="Group 33"/>
          <p:cNvGrpSpPr/>
          <p:nvPr/>
        </p:nvGrpSpPr>
        <p:grpSpPr>
          <a:xfrm>
            <a:off x="563310" y="1869909"/>
            <a:ext cx="8497652" cy="650746"/>
            <a:chOff x="0" y="0"/>
            <a:chExt cx="11330202" cy="867661"/>
          </a:xfrm>
        </p:grpSpPr>
        <p:sp>
          <p:nvSpPr>
            <p:cNvPr id="34" name="Freeform 34"/>
            <p:cNvSpPr/>
            <p:nvPr/>
          </p:nvSpPr>
          <p:spPr>
            <a:xfrm>
              <a:off x="0" y="0"/>
              <a:ext cx="11330202" cy="760516"/>
            </a:xfrm>
            <a:custGeom>
              <a:avLst/>
              <a:gdLst/>
              <a:ahLst/>
              <a:cxnLst/>
              <a:rect l="l" t="t" r="r" b="b"/>
              <a:pathLst>
                <a:path w="11330202" h="760516">
                  <a:moveTo>
                    <a:pt x="0" y="0"/>
                  </a:moveTo>
                  <a:lnTo>
                    <a:pt x="11330202" y="0"/>
                  </a:lnTo>
                  <a:lnTo>
                    <a:pt x="11330202" y="760516"/>
                  </a:lnTo>
                  <a:lnTo>
                    <a:pt x="0" y="760516"/>
                  </a:lnTo>
                  <a:close/>
                </a:path>
              </a:pathLst>
            </a:custGeom>
            <a:solidFill>
              <a:srgbClr val="3D8DC8"/>
            </a:solidFill>
          </p:spPr>
        </p:sp>
        <p:sp>
          <p:nvSpPr>
            <p:cNvPr id="35" name="TextBox 35"/>
            <p:cNvSpPr txBox="1"/>
            <p:nvPr/>
          </p:nvSpPr>
          <p:spPr>
            <a:xfrm>
              <a:off x="0" y="97588"/>
              <a:ext cx="11330163" cy="770073"/>
            </a:xfrm>
            <a:prstGeom prst="rect">
              <a:avLst/>
            </a:prstGeom>
          </p:spPr>
          <p:txBody>
            <a:bodyPr lIns="50800" tIns="50800" rIns="50800" bIns="50800" rtlCol="0" anchor="t"/>
            <a:lstStyle/>
            <a:p>
              <a:pPr algn="ctr">
                <a:lnSpc>
                  <a:spcPts val="2880"/>
                </a:lnSpc>
              </a:pPr>
              <a:r>
                <a:rPr lang="en-US" altLang="zh-TW" sz="2400" b="1" dirty="0">
                  <a:solidFill>
                    <a:srgbClr val="FFFFFF"/>
                  </a:solidFill>
                  <a:latin typeface="Times New Roman"/>
                  <a:cs typeface="Times New Roman"/>
                </a:rPr>
                <a:t>Data Management &amp; Operations</a:t>
              </a:r>
              <a:endParaRPr lang="en-US" sz="2400" b="1" dirty="0">
                <a:solidFill>
                  <a:srgbClr val="FFFFFF"/>
                </a:solidFill>
                <a:latin typeface="Times New Roman"/>
                <a:cs typeface="Times New Roman"/>
                <a:sym typeface="Times New Roman"/>
              </a:endParaRPr>
            </a:p>
          </p:txBody>
        </p:sp>
      </p:grpSp>
      <p:grpSp>
        <p:nvGrpSpPr>
          <p:cNvPr id="36" name="Group 36"/>
          <p:cNvGrpSpPr/>
          <p:nvPr/>
        </p:nvGrpSpPr>
        <p:grpSpPr>
          <a:xfrm>
            <a:off x="8779010" y="4167180"/>
            <a:ext cx="1043397" cy="935631"/>
            <a:chOff x="0" y="0"/>
            <a:chExt cx="1391196" cy="1247508"/>
          </a:xfrm>
        </p:grpSpPr>
        <p:sp>
          <p:nvSpPr>
            <p:cNvPr id="37" name="Freeform 37"/>
            <p:cNvSpPr/>
            <p:nvPr/>
          </p:nvSpPr>
          <p:spPr>
            <a:xfrm>
              <a:off x="0" y="0"/>
              <a:ext cx="1391158" cy="1247521"/>
            </a:xfrm>
            <a:custGeom>
              <a:avLst/>
              <a:gdLst/>
              <a:ahLst/>
              <a:cxnLst/>
              <a:rect l="l" t="t" r="r" b="b"/>
              <a:pathLst>
                <a:path w="1391158" h="1247521">
                  <a:moveTo>
                    <a:pt x="0" y="311912"/>
                  </a:moveTo>
                  <a:lnTo>
                    <a:pt x="767461" y="311912"/>
                  </a:lnTo>
                  <a:lnTo>
                    <a:pt x="767461" y="0"/>
                  </a:lnTo>
                  <a:lnTo>
                    <a:pt x="1391158" y="623697"/>
                  </a:lnTo>
                  <a:lnTo>
                    <a:pt x="767461" y="1247521"/>
                  </a:lnTo>
                  <a:lnTo>
                    <a:pt x="767461" y="935609"/>
                  </a:lnTo>
                  <a:lnTo>
                    <a:pt x="0" y="935609"/>
                  </a:lnTo>
                  <a:close/>
                </a:path>
              </a:pathLst>
            </a:custGeom>
            <a:solidFill>
              <a:srgbClr val="3D8DC8"/>
            </a:solidFill>
            <a:ln cap="sq">
              <a:noFill/>
              <a:prstDash val="solid"/>
              <a:miter/>
            </a:ln>
          </p:spPr>
        </p:sp>
      </p:grpSp>
      <p:grpSp>
        <p:nvGrpSpPr>
          <p:cNvPr id="38" name="Group 38"/>
          <p:cNvGrpSpPr/>
          <p:nvPr/>
        </p:nvGrpSpPr>
        <p:grpSpPr>
          <a:xfrm>
            <a:off x="9225887" y="1862765"/>
            <a:ext cx="8281380" cy="924095"/>
            <a:chOff x="0" y="-9525"/>
            <a:chExt cx="11041840" cy="1232126"/>
          </a:xfrm>
        </p:grpSpPr>
        <p:sp>
          <p:nvSpPr>
            <p:cNvPr id="39" name="Freeform 39"/>
            <p:cNvSpPr/>
            <p:nvPr/>
          </p:nvSpPr>
          <p:spPr>
            <a:xfrm>
              <a:off x="0" y="0"/>
              <a:ext cx="11041790" cy="1222601"/>
            </a:xfrm>
            <a:custGeom>
              <a:avLst/>
              <a:gdLst/>
              <a:ahLst/>
              <a:cxnLst/>
              <a:rect l="l" t="t" r="r" b="b"/>
              <a:pathLst>
                <a:path w="11041789" h="1222600">
                  <a:moveTo>
                    <a:pt x="0" y="0"/>
                  </a:moveTo>
                  <a:lnTo>
                    <a:pt x="11041789" y="0"/>
                  </a:lnTo>
                  <a:lnTo>
                    <a:pt x="11041789" y="1222600"/>
                  </a:lnTo>
                  <a:lnTo>
                    <a:pt x="0" y="1222600"/>
                  </a:lnTo>
                  <a:close/>
                </a:path>
              </a:pathLst>
            </a:custGeom>
            <a:solidFill>
              <a:srgbClr val="3D8DC8"/>
            </a:solidFill>
          </p:spPr>
          <p:txBody>
            <a:bodyPr/>
            <a:lstStyle/>
            <a:p>
              <a:endParaRPr lang="en-US" dirty="0"/>
            </a:p>
          </p:txBody>
        </p:sp>
        <p:sp>
          <p:nvSpPr>
            <p:cNvPr id="40" name="TextBox 40"/>
            <p:cNvSpPr txBox="1"/>
            <p:nvPr/>
          </p:nvSpPr>
          <p:spPr>
            <a:xfrm>
              <a:off x="0" y="-9525"/>
              <a:ext cx="11041840" cy="1232099"/>
            </a:xfrm>
            <a:prstGeom prst="rect">
              <a:avLst/>
            </a:prstGeom>
          </p:spPr>
          <p:txBody>
            <a:bodyPr lIns="50800" tIns="50800" rIns="50800" bIns="50800" rtlCol="0" anchor="t"/>
            <a:lstStyle/>
            <a:p>
              <a:pPr algn="ctr">
                <a:lnSpc>
                  <a:spcPts val="2880"/>
                </a:lnSpc>
              </a:pPr>
              <a:r>
                <a:rPr lang="en-US" sz="2400" b="1" dirty="0">
                  <a:solidFill>
                    <a:srgbClr val="FFFFFF"/>
                  </a:solidFill>
                  <a:latin typeface="Times New Roman"/>
                  <a:ea typeface="Times New Roman"/>
                  <a:cs typeface="Times New Roman"/>
                  <a:sym typeface="Times New Roman"/>
                </a:rPr>
                <a:t>Industry Support/ </a:t>
              </a:r>
              <a:r>
                <a:rPr lang="en-US" sz="2400" b="1" dirty="0">
                  <a:solidFill>
                    <a:srgbClr val="FFFFFF"/>
                  </a:solidFill>
                  <a:latin typeface="Times New Roman"/>
                  <a:cs typeface="Times New Roman"/>
                  <a:sym typeface="Times New Roman"/>
                </a:rPr>
                <a:t>Data </a:t>
              </a:r>
              <a:r>
                <a:rPr lang="en-US" altLang="zh-TW" sz="2400" b="1" dirty="0">
                  <a:solidFill>
                    <a:srgbClr val="FFFFFF"/>
                  </a:solidFill>
                  <a:latin typeface="Times New Roman"/>
                  <a:cs typeface="Times New Roman"/>
                </a:rPr>
                <a:t>Value Creation</a:t>
              </a:r>
              <a:r>
                <a:rPr lang="en-US" sz="2400" b="1" dirty="0">
                  <a:solidFill>
                    <a:srgbClr val="FFFFFF"/>
                  </a:solidFill>
                  <a:latin typeface="Times New Roman"/>
                  <a:cs typeface="Times New Roman"/>
                  <a:sym typeface="Times New Roman"/>
                </a:rPr>
                <a:t> </a:t>
              </a:r>
            </a:p>
            <a:p>
              <a:pPr algn="ctr">
                <a:lnSpc>
                  <a:spcPts val="2880"/>
                </a:lnSpc>
              </a:pPr>
              <a:r>
                <a:rPr lang="en-US" sz="2400" b="1" dirty="0">
                  <a:solidFill>
                    <a:srgbClr val="FFFFFF"/>
                  </a:solidFill>
                  <a:latin typeface="Times New Roman"/>
                  <a:ea typeface="Times New Roman"/>
                  <a:cs typeface="Times New Roman"/>
                  <a:sym typeface="Times New Roman"/>
                </a:rPr>
                <a:t>(MODA</a:t>
              </a:r>
              <a:r>
                <a:rPr lang="zh-TW" altLang="en-US" sz="2400" b="1" dirty="0">
                  <a:solidFill>
                    <a:srgbClr val="FFFFFF"/>
                  </a:solidFill>
                  <a:latin typeface="Times New Roman"/>
                  <a:ea typeface="Times New Roman"/>
                  <a:cs typeface="Times New Roman"/>
                  <a:sym typeface="Times New Roman"/>
                </a:rPr>
                <a:t> </a:t>
              </a:r>
              <a:r>
                <a:rPr lang="en-US" sz="2400" b="1" dirty="0">
                  <a:solidFill>
                    <a:srgbClr val="FFFFFF"/>
                  </a:solidFill>
                  <a:latin typeface="Times New Roman"/>
                  <a:ea typeface="Times New Roman"/>
                  <a:cs typeface="Times New Roman"/>
                  <a:sym typeface="Times New Roman"/>
                </a:rPr>
                <a:t>+</a:t>
              </a:r>
              <a:r>
                <a:rPr lang="zh-TW" altLang="en-US" sz="2400" b="1" dirty="0">
                  <a:solidFill>
                    <a:srgbClr val="FFFFFF"/>
                  </a:solidFill>
                  <a:latin typeface="Times New Roman"/>
                  <a:ea typeface="Times New Roman"/>
                  <a:cs typeface="Times New Roman"/>
                  <a:sym typeface="Times New Roman"/>
                </a:rPr>
                <a:t> </a:t>
              </a:r>
              <a:r>
                <a:rPr lang="en-US" sz="2400" b="1" dirty="0">
                  <a:solidFill>
                    <a:srgbClr val="FFFFFF"/>
                  </a:solidFill>
                  <a:latin typeface="Times New Roman"/>
                  <a:ea typeface="Times New Roman"/>
                  <a:cs typeface="Times New Roman"/>
                  <a:sym typeface="Times New Roman"/>
                </a:rPr>
                <a:t>Sports Administration)</a:t>
              </a:r>
            </a:p>
          </p:txBody>
        </p:sp>
      </p:grpSp>
      <p:grpSp>
        <p:nvGrpSpPr>
          <p:cNvPr id="41" name="Group 41"/>
          <p:cNvGrpSpPr/>
          <p:nvPr/>
        </p:nvGrpSpPr>
        <p:grpSpPr>
          <a:xfrm>
            <a:off x="10874177" y="2902456"/>
            <a:ext cx="5833139" cy="1391412"/>
            <a:chOff x="0" y="0"/>
            <a:chExt cx="7777518" cy="1855216"/>
          </a:xfrm>
        </p:grpSpPr>
        <p:sp>
          <p:nvSpPr>
            <p:cNvPr id="42" name="Freeform 42" descr="一張含有 兒童藝術, 圖解, 圖畫, 平面設計 的圖片  AI 產生的內容可能不正確。"/>
            <p:cNvSpPr/>
            <p:nvPr/>
          </p:nvSpPr>
          <p:spPr>
            <a:xfrm>
              <a:off x="0" y="0"/>
              <a:ext cx="7777480" cy="1855216"/>
            </a:xfrm>
            <a:custGeom>
              <a:avLst/>
              <a:gdLst/>
              <a:ahLst/>
              <a:cxnLst/>
              <a:rect l="l" t="t" r="r" b="b"/>
              <a:pathLst>
                <a:path w="7777480" h="1855216">
                  <a:moveTo>
                    <a:pt x="0" y="0"/>
                  </a:moveTo>
                  <a:lnTo>
                    <a:pt x="7777480" y="0"/>
                  </a:lnTo>
                  <a:lnTo>
                    <a:pt x="7777480" y="1855216"/>
                  </a:lnTo>
                  <a:lnTo>
                    <a:pt x="0" y="1855216"/>
                  </a:lnTo>
                  <a:lnTo>
                    <a:pt x="0" y="0"/>
                  </a:lnTo>
                  <a:close/>
                </a:path>
              </a:pathLst>
            </a:custGeom>
            <a:blipFill>
              <a:blip r:embed="rId7"/>
              <a:stretch>
                <a:fillRect t="-26081" r="-1" b="-153404"/>
              </a:stretch>
            </a:blipFill>
          </p:spPr>
        </p:sp>
      </p:grpSp>
      <p:grpSp>
        <p:nvGrpSpPr>
          <p:cNvPr id="43" name="Group 43"/>
          <p:cNvGrpSpPr/>
          <p:nvPr/>
        </p:nvGrpSpPr>
        <p:grpSpPr>
          <a:xfrm>
            <a:off x="10880606" y="5074904"/>
            <a:ext cx="5833139" cy="1391412"/>
            <a:chOff x="0" y="0"/>
            <a:chExt cx="7777518" cy="1855216"/>
          </a:xfrm>
        </p:grpSpPr>
        <p:sp>
          <p:nvSpPr>
            <p:cNvPr id="44" name="Freeform 44" descr="一張含有 兒童藝術, 圖解, 圖畫, 平面設計 的圖片  AI 產生的內容可能不正確。"/>
            <p:cNvSpPr/>
            <p:nvPr/>
          </p:nvSpPr>
          <p:spPr>
            <a:xfrm>
              <a:off x="0" y="0"/>
              <a:ext cx="7777480" cy="1855216"/>
            </a:xfrm>
            <a:custGeom>
              <a:avLst/>
              <a:gdLst/>
              <a:ahLst/>
              <a:cxnLst/>
              <a:rect l="l" t="t" r="r" b="b"/>
              <a:pathLst>
                <a:path w="7777480" h="1855216">
                  <a:moveTo>
                    <a:pt x="0" y="0"/>
                  </a:moveTo>
                  <a:lnTo>
                    <a:pt x="7777480" y="0"/>
                  </a:lnTo>
                  <a:lnTo>
                    <a:pt x="7777480" y="1855216"/>
                  </a:lnTo>
                  <a:lnTo>
                    <a:pt x="0" y="1855216"/>
                  </a:lnTo>
                  <a:lnTo>
                    <a:pt x="0" y="0"/>
                  </a:lnTo>
                  <a:close/>
                </a:path>
              </a:pathLst>
            </a:custGeom>
            <a:blipFill>
              <a:blip r:embed="rId7"/>
              <a:stretch>
                <a:fillRect l="57" t="-158532" r="-59" b="-20953"/>
              </a:stretch>
            </a:blipFill>
          </p:spPr>
        </p:sp>
      </p:grpSp>
      <p:grpSp>
        <p:nvGrpSpPr>
          <p:cNvPr id="45" name="Group 45"/>
          <p:cNvGrpSpPr/>
          <p:nvPr/>
        </p:nvGrpSpPr>
        <p:grpSpPr>
          <a:xfrm>
            <a:off x="9449942" y="7679775"/>
            <a:ext cx="2505571" cy="2229958"/>
            <a:chOff x="0" y="0"/>
            <a:chExt cx="3340761" cy="2973277"/>
          </a:xfrm>
        </p:grpSpPr>
        <p:sp>
          <p:nvSpPr>
            <p:cNvPr id="46" name="Freeform 46"/>
            <p:cNvSpPr/>
            <p:nvPr/>
          </p:nvSpPr>
          <p:spPr>
            <a:xfrm>
              <a:off x="0" y="0"/>
              <a:ext cx="3340761" cy="2973277"/>
            </a:xfrm>
            <a:custGeom>
              <a:avLst/>
              <a:gdLst/>
              <a:ahLst/>
              <a:cxnLst/>
              <a:rect l="l" t="t" r="r" b="b"/>
              <a:pathLst>
                <a:path w="3340761" h="2973277">
                  <a:moveTo>
                    <a:pt x="0" y="0"/>
                  </a:moveTo>
                  <a:lnTo>
                    <a:pt x="3340761" y="0"/>
                  </a:lnTo>
                  <a:lnTo>
                    <a:pt x="3340761" y="2973277"/>
                  </a:lnTo>
                  <a:lnTo>
                    <a:pt x="0" y="297327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47" name="TextBox 47"/>
            <p:cNvSpPr txBox="1"/>
            <p:nvPr/>
          </p:nvSpPr>
          <p:spPr>
            <a:xfrm>
              <a:off x="186976" y="1226456"/>
              <a:ext cx="2966809" cy="1549603"/>
            </a:xfrm>
            <a:prstGeom prst="rect">
              <a:avLst/>
            </a:prstGeom>
          </p:spPr>
          <p:txBody>
            <a:bodyPr lIns="0" tIns="0" rIns="0" bIns="0" rtlCol="0" anchor="t">
              <a:spAutoFit/>
            </a:bodyPr>
            <a:lstStyle/>
            <a:p>
              <a:pPr algn="ctr">
                <a:lnSpc>
                  <a:spcPts val="2879"/>
                </a:lnSpc>
              </a:pPr>
              <a:r>
                <a:rPr lang="en-US" sz="2400">
                  <a:solidFill>
                    <a:srgbClr val="1E4C9A"/>
                  </a:solidFill>
                  <a:latin typeface="Times New Roman"/>
                  <a:ea typeface="Times New Roman"/>
                  <a:cs typeface="Times New Roman"/>
                  <a:sym typeface="Times New Roman"/>
                </a:rPr>
                <a:t>Taiwan Sports Data</a:t>
              </a:r>
            </a:p>
            <a:p>
              <a:pPr algn="ctr">
                <a:lnSpc>
                  <a:spcPts val="2879"/>
                </a:lnSpc>
              </a:pPr>
              <a:r>
                <a:rPr lang="en-US" sz="2400">
                  <a:solidFill>
                    <a:srgbClr val="1E4C9A"/>
                  </a:solidFill>
                  <a:latin typeface="Times New Roman"/>
                  <a:ea typeface="Times New Roman"/>
                  <a:cs typeface="Times New Roman"/>
                  <a:sym typeface="Times New Roman"/>
                </a:rPr>
                <a:t>Yakyu Sensei</a:t>
              </a:r>
            </a:p>
          </p:txBody>
        </p:sp>
      </p:grpSp>
      <p:grpSp>
        <p:nvGrpSpPr>
          <p:cNvPr id="48" name="Group 48"/>
          <p:cNvGrpSpPr/>
          <p:nvPr/>
        </p:nvGrpSpPr>
        <p:grpSpPr>
          <a:xfrm>
            <a:off x="5260936" y="7679775"/>
            <a:ext cx="2505571" cy="2229958"/>
            <a:chOff x="0" y="0"/>
            <a:chExt cx="3340761" cy="2973277"/>
          </a:xfrm>
        </p:grpSpPr>
        <p:sp>
          <p:nvSpPr>
            <p:cNvPr id="49" name="Freeform 49"/>
            <p:cNvSpPr/>
            <p:nvPr/>
          </p:nvSpPr>
          <p:spPr>
            <a:xfrm>
              <a:off x="0" y="0"/>
              <a:ext cx="3340761" cy="2973277"/>
            </a:xfrm>
            <a:custGeom>
              <a:avLst/>
              <a:gdLst/>
              <a:ahLst/>
              <a:cxnLst/>
              <a:rect l="l" t="t" r="r" b="b"/>
              <a:pathLst>
                <a:path w="3340761" h="2973277">
                  <a:moveTo>
                    <a:pt x="0" y="0"/>
                  </a:moveTo>
                  <a:lnTo>
                    <a:pt x="3340761" y="0"/>
                  </a:lnTo>
                  <a:lnTo>
                    <a:pt x="3340761" y="2973277"/>
                  </a:lnTo>
                  <a:lnTo>
                    <a:pt x="0" y="297327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50" name="TextBox 50"/>
            <p:cNvSpPr txBox="1"/>
            <p:nvPr/>
          </p:nvSpPr>
          <p:spPr>
            <a:xfrm>
              <a:off x="165847" y="931231"/>
              <a:ext cx="2966809" cy="2042046"/>
            </a:xfrm>
            <a:prstGeom prst="rect">
              <a:avLst/>
            </a:prstGeom>
          </p:spPr>
          <p:txBody>
            <a:bodyPr lIns="0" tIns="0" rIns="0" bIns="0" rtlCol="0" anchor="t">
              <a:spAutoFit/>
            </a:bodyPr>
            <a:lstStyle/>
            <a:p>
              <a:pPr algn="ctr">
                <a:lnSpc>
                  <a:spcPts val="2879"/>
                </a:lnSpc>
              </a:pPr>
              <a:r>
                <a:rPr lang="en-US" sz="2400">
                  <a:solidFill>
                    <a:srgbClr val="1E4C9A"/>
                  </a:solidFill>
                  <a:latin typeface="Times New Roman"/>
                  <a:ea typeface="Times New Roman"/>
                  <a:cs typeface="Times New Roman"/>
                  <a:sym typeface="Times New Roman"/>
                </a:rPr>
                <a:t>Taiwan Sports Data</a:t>
              </a:r>
            </a:p>
            <a:p>
              <a:pPr algn="ctr">
                <a:lnSpc>
                  <a:spcPts val="2879"/>
                </a:lnSpc>
              </a:pPr>
              <a:r>
                <a:rPr lang="en-US" sz="2400">
                  <a:solidFill>
                    <a:srgbClr val="1E4C9A"/>
                  </a:solidFill>
                  <a:latin typeface="Times New Roman"/>
                  <a:ea typeface="Times New Roman"/>
                  <a:cs typeface="Times New Roman"/>
                  <a:sym typeface="Times New Roman"/>
                </a:rPr>
                <a:t> Lake</a:t>
              </a:r>
            </a:p>
            <a:p>
              <a:pPr algn="ctr">
                <a:lnSpc>
                  <a:spcPts val="2879"/>
                </a:lnSpc>
              </a:pPr>
              <a:r>
                <a:rPr lang="en-US" sz="2400">
                  <a:solidFill>
                    <a:srgbClr val="1E4C9A"/>
                  </a:solidFill>
                  <a:latin typeface="Times New Roman"/>
                  <a:ea typeface="Times New Roman"/>
                  <a:cs typeface="Times New Roman"/>
                  <a:sym typeface="Times New Roman"/>
                </a:rPr>
                <a:t>DataMosa</a:t>
              </a:r>
            </a:p>
          </p:txBody>
        </p:sp>
      </p:grpSp>
      <p:grpSp>
        <p:nvGrpSpPr>
          <p:cNvPr id="51" name="Group 51"/>
          <p:cNvGrpSpPr/>
          <p:nvPr/>
        </p:nvGrpSpPr>
        <p:grpSpPr>
          <a:xfrm>
            <a:off x="1213866" y="7679775"/>
            <a:ext cx="2505571" cy="2247122"/>
            <a:chOff x="0" y="0"/>
            <a:chExt cx="3340761" cy="2996163"/>
          </a:xfrm>
        </p:grpSpPr>
        <p:sp>
          <p:nvSpPr>
            <p:cNvPr id="52" name="Freeform 52"/>
            <p:cNvSpPr/>
            <p:nvPr/>
          </p:nvSpPr>
          <p:spPr>
            <a:xfrm>
              <a:off x="0" y="0"/>
              <a:ext cx="3340761" cy="2973277"/>
            </a:xfrm>
            <a:custGeom>
              <a:avLst/>
              <a:gdLst/>
              <a:ahLst/>
              <a:cxnLst/>
              <a:rect l="l" t="t" r="r" b="b"/>
              <a:pathLst>
                <a:path w="3340761" h="2973277">
                  <a:moveTo>
                    <a:pt x="0" y="0"/>
                  </a:moveTo>
                  <a:lnTo>
                    <a:pt x="3340761" y="0"/>
                  </a:lnTo>
                  <a:lnTo>
                    <a:pt x="3340761" y="2973277"/>
                  </a:lnTo>
                  <a:lnTo>
                    <a:pt x="0" y="297327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53" name="TextBox 53"/>
            <p:cNvSpPr txBox="1"/>
            <p:nvPr/>
          </p:nvSpPr>
          <p:spPr>
            <a:xfrm>
              <a:off x="265767" y="954117"/>
              <a:ext cx="2831440" cy="2042046"/>
            </a:xfrm>
            <a:prstGeom prst="rect">
              <a:avLst/>
            </a:prstGeom>
          </p:spPr>
          <p:txBody>
            <a:bodyPr lIns="0" tIns="0" rIns="0" bIns="0" rtlCol="0" anchor="t">
              <a:spAutoFit/>
            </a:bodyPr>
            <a:lstStyle/>
            <a:p>
              <a:pPr algn="ctr">
                <a:lnSpc>
                  <a:spcPts val="2879"/>
                </a:lnSpc>
              </a:pPr>
              <a:r>
                <a:rPr lang="en-US" sz="2400">
                  <a:solidFill>
                    <a:srgbClr val="1E4C9A"/>
                  </a:solidFill>
                  <a:latin typeface="Times New Roman"/>
                  <a:ea typeface="Times New Roman"/>
                  <a:cs typeface="Times New Roman"/>
                  <a:sym typeface="Times New Roman"/>
                </a:rPr>
                <a:t>Informed Consent</a:t>
              </a:r>
            </a:p>
            <a:p>
              <a:pPr algn="ctr">
                <a:lnSpc>
                  <a:spcPts val="2879"/>
                </a:lnSpc>
              </a:pPr>
              <a:r>
                <a:rPr lang="en-US" sz="2400">
                  <a:solidFill>
                    <a:srgbClr val="1E4C9A"/>
                  </a:solidFill>
                  <a:latin typeface="Times New Roman"/>
                  <a:ea typeface="Times New Roman"/>
                  <a:cs typeface="Times New Roman"/>
                  <a:sym typeface="Times New Roman"/>
                </a:rPr>
                <a:t> Authorization Platform</a:t>
              </a:r>
            </a:p>
          </p:txBody>
        </p:sp>
      </p:grpSp>
      <p:sp>
        <p:nvSpPr>
          <p:cNvPr id="58" name="Freeform 58"/>
          <p:cNvSpPr/>
          <p:nvPr/>
        </p:nvSpPr>
        <p:spPr>
          <a:xfrm>
            <a:off x="6513721" y="6737921"/>
            <a:ext cx="0" cy="941854"/>
          </a:xfrm>
          <a:custGeom>
            <a:avLst/>
            <a:gdLst/>
            <a:ahLst/>
            <a:cxnLst/>
            <a:rect l="l" t="t" r="r" b="b"/>
            <a:pathLst>
              <a:path h="941854">
                <a:moveTo>
                  <a:pt x="0" y="0"/>
                </a:moveTo>
                <a:lnTo>
                  <a:pt x="0" y="941854"/>
                </a:lnTo>
              </a:path>
            </a:pathLst>
          </a:custGeom>
          <a:ln w="19050" cap="flat">
            <a:solidFill>
              <a:srgbClr val="4472C4"/>
            </a:solidFill>
            <a:prstDash val="solid"/>
            <a:headEnd type="none" w="sm" len="sm"/>
            <a:tailEnd type="triangle" w="lg" len="med"/>
          </a:ln>
        </p:spPr>
      </p:sp>
      <p:sp>
        <p:nvSpPr>
          <p:cNvPr id="59" name="AutoShape 59"/>
          <p:cNvSpPr/>
          <p:nvPr/>
        </p:nvSpPr>
        <p:spPr>
          <a:xfrm flipH="1">
            <a:off x="2466651" y="5772085"/>
            <a:ext cx="0" cy="1907690"/>
          </a:xfrm>
          <a:prstGeom prst="line">
            <a:avLst/>
          </a:prstGeom>
          <a:ln w="19050" cap="flat">
            <a:solidFill>
              <a:srgbClr val="4472C4"/>
            </a:solidFill>
            <a:prstDash val="solid"/>
            <a:headEnd type="none" w="sm" len="sm"/>
            <a:tailEnd type="triangle" w="lg" len="med"/>
          </a:ln>
        </p:spPr>
      </p:sp>
      <p:sp>
        <p:nvSpPr>
          <p:cNvPr id="60" name="Freeform 60"/>
          <p:cNvSpPr/>
          <p:nvPr/>
        </p:nvSpPr>
        <p:spPr>
          <a:xfrm>
            <a:off x="6513721" y="4255576"/>
            <a:ext cx="4189006" cy="3424200"/>
          </a:xfrm>
          <a:custGeom>
            <a:avLst/>
            <a:gdLst/>
            <a:ahLst/>
            <a:cxnLst/>
            <a:rect l="l" t="t" r="r" b="b"/>
            <a:pathLst>
              <a:path w="4189006" h="3424200">
                <a:moveTo>
                  <a:pt x="0" y="0"/>
                </a:moveTo>
                <a:lnTo>
                  <a:pt x="0" y="2394968"/>
                </a:lnTo>
                <a:cubicBezTo>
                  <a:pt x="0" y="2455597"/>
                  <a:pt x="24085" y="2513742"/>
                  <a:pt x="66956" y="2556612"/>
                </a:cubicBezTo>
                <a:cubicBezTo>
                  <a:pt x="109826" y="2599483"/>
                  <a:pt x="167971" y="2623568"/>
                  <a:pt x="228600" y="2623568"/>
                </a:cubicBezTo>
                <a:lnTo>
                  <a:pt x="3960406" y="2623568"/>
                </a:lnTo>
                <a:cubicBezTo>
                  <a:pt x="4021035" y="2623568"/>
                  <a:pt x="4079180" y="2647652"/>
                  <a:pt x="4122051" y="2690523"/>
                </a:cubicBezTo>
                <a:cubicBezTo>
                  <a:pt x="4164922" y="2733394"/>
                  <a:pt x="4189006" y="2791539"/>
                  <a:pt x="4189006" y="2852168"/>
                </a:cubicBezTo>
                <a:lnTo>
                  <a:pt x="4189006" y="3424199"/>
                </a:lnTo>
              </a:path>
            </a:pathLst>
          </a:custGeom>
          <a:ln w="19050" cap="flat">
            <a:solidFill>
              <a:srgbClr val="4472C4"/>
            </a:solidFill>
            <a:prstDash val="solid"/>
            <a:headEnd type="none" w="sm" len="sm"/>
            <a:tailEnd type="triangle" w="lg" len="med"/>
          </a:ln>
        </p:spPr>
      </p:sp>
      <p:sp>
        <p:nvSpPr>
          <p:cNvPr id="61" name="Freeform 61"/>
          <p:cNvSpPr/>
          <p:nvPr/>
        </p:nvSpPr>
        <p:spPr>
          <a:xfrm>
            <a:off x="12096736" y="7882520"/>
            <a:ext cx="230204" cy="1841633"/>
          </a:xfrm>
          <a:custGeom>
            <a:avLst/>
            <a:gdLst/>
            <a:ahLst/>
            <a:cxnLst/>
            <a:rect l="l" t="t" r="r" b="b"/>
            <a:pathLst>
              <a:path w="230204" h="1841633">
                <a:moveTo>
                  <a:pt x="0" y="0"/>
                </a:moveTo>
                <a:lnTo>
                  <a:pt x="230204" y="0"/>
                </a:lnTo>
                <a:lnTo>
                  <a:pt x="230204" y="1841633"/>
                </a:lnTo>
                <a:lnTo>
                  <a:pt x="0" y="18416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62" name="TextBox 62"/>
          <p:cNvSpPr txBox="1"/>
          <p:nvPr/>
        </p:nvSpPr>
        <p:spPr>
          <a:xfrm>
            <a:off x="3902014" y="2742912"/>
            <a:ext cx="5398680" cy="387094"/>
          </a:xfrm>
          <a:prstGeom prst="rect">
            <a:avLst/>
          </a:prstGeom>
        </p:spPr>
        <p:txBody>
          <a:bodyPr wrap="square" lIns="0" tIns="0" rIns="0" bIns="0" rtlCol="0" anchor="t">
            <a:spAutoFit/>
          </a:bodyPr>
          <a:lstStyle/>
          <a:p>
            <a:pPr algn="ctr">
              <a:lnSpc>
                <a:spcPts val="3240"/>
              </a:lnSpc>
            </a:pPr>
            <a:r>
              <a:rPr lang="en-US" altLang="zh-TW" sz="2400" b="1" dirty="0">
                <a:solidFill>
                  <a:srgbClr val="000000"/>
                </a:solidFill>
                <a:latin typeface="Times New Roman"/>
                <a:cs typeface="Times New Roman"/>
              </a:rPr>
              <a:t>Aggregation, Cleansing &amp; Fusion</a:t>
            </a:r>
            <a:endParaRPr lang="en-US" sz="2400" b="1" dirty="0">
              <a:solidFill>
                <a:srgbClr val="000000"/>
              </a:solidFill>
              <a:latin typeface="Times New Roman"/>
              <a:cs typeface="Times New Roman"/>
              <a:sym typeface="Times New Roman"/>
            </a:endParaRPr>
          </a:p>
        </p:txBody>
      </p:sp>
      <p:sp>
        <p:nvSpPr>
          <p:cNvPr id="63" name="TextBox 63"/>
          <p:cNvSpPr txBox="1"/>
          <p:nvPr/>
        </p:nvSpPr>
        <p:spPr>
          <a:xfrm>
            <a:off x="3351651" y="6843360"/>
            <a:ext cx="2277070" cy="371475"/>
          </a:xfrm>
          <a:prstGeom prst="rect">
            <a:avLst/>
          </a:prstGeom>
        </p:spPr>
        <p:txBody>
          <a:bodyPr lIns="0" tIns="0" rIns="0" bIns="0" rtlCol="0" anchor="t">
            <a:spAutoFit/>
          </a:bodyPr>
          <a:lstStyle/>
          <a:p>
            <a:pPr algn="l">
              <a:lnSpc>
                <a:spcPts val="2879"/>
              </a:lnSpc>
            </a:pPr>
            <a:r>
              <a:rPr lang="en-US" sz="2400" b="1" dirty="0">
                <a:solidFill>
                  <a:srgbClr val="000000"/>
                </a:solidFill>
                <a:latin typeface="Times New Roman"/>
                <a:ea typeface="Times New Roman"/>
                <a:cs typeface="Times New Roman"/>
                <a:sym typeface="Times New Roman"/>
              </a:rPr>
              <a:t>Data Governance</a:t>
            </a:r>
          </a:p>
        </p:txBody>
      </p:sp>
      <p:sp>
        <p:nvSpPr>
          <p:cNvPr id="64" name="TextBox 64"/>
          <p:cNvSpPr txBox="1"/>
          <p:nvPr/>
        </p:nvSpPr>
        <p:spPr>
          <a:xfrm>
            <a:off x="10880606" y="4341479"/>
            <a:ext cx="1365109" cy="590550"/>
          </a:xfrm>
          <a:prstGeom prst="rect">
            <a:avLst/>
          </a:prstGeom>
        </p:spPr>
        <p:txBody>
          <a:bodyPr lIns="0" tIns="0" rIns="0" bIns="0" rtlCol="0" anchor="t">
            <a:spAutoFit/>
          </a:bodyPr>
          <a:lstStyle/>
          <a:p>
            <a:pPr algn="ctr">
              <a:lnSpc>
                <a:spcPts val="2280"/>
              </a:lnSpc>
            </a:pPr>
            <a:r>
              <a:rPr lang="en-US" sz="1900">
                <a:solidFill>
                  <a:srgbClr val="000000"/>
                </a:solidFill>
                <a:latin typeface="Times New Roman"/>
                <a:ea typeface="Times New Roman"/>
                <a:cs typeface="Times New Roman"/>
                <a:sym typeface="Times New Roman"/>
              </a:rPr>
              <a:t>Baseball ABS System</a:t>
            </a:r>
          </a:p>
        </p:txBody>
      </p:sp>
      <p:sp>
        <p:nvSpPr>
          <p:cNvPr id="65" name="TextBox 65"/>
          <p:cNvSpPr txBox="1"/>
          <p:nvPr/>
        </p:nvSpPr>
        <p:spPr>
          <a:xfrm>
            <a:off x="12295067" y="4341479"/>
            <a:ext cx="1468831" cy="590550"/>
          </a:xfrm>
          <a:prstGeom prst="rect">
            <a:avLst/>
          </a:prstGeom>
        </p:spPr>
        <p:txBody>
          <a:bodyPr lIns="0" tIns="0" rIns="0" bIns="0" rtlCol="0" anchor="t">
            <a:spAutoFit/>
          </a:bodyPr>
          <a:lstStyle/>
          <a:p>
            <a:pPr algn="ctr">
              <a:lnSpc>
                <a:spcPts val="2280"/>
              </a:lnSpc>
            </a:pPr>
            <a:r>
              <a:rPr lang="en-US" sz="1900">
                <a:solidFill>
                  <a:srgbClr val="000000"/>
                </a:solidFill>
                <a:latin typeface="Times New Roman"/>
                <a:ea typeface="Times New Roman"/>
                <a:cs typeface="Times New Roman"/>
                <a:sym typeface="Times New Roman"/>
              </a:rPr>
              <a:t>Baseball Player Cards</a:t>
            </a:r>
          </a:p>
        </p:txBody>
      </p:sp>
      <p:sp>
        <p:nvSpPr>
          <p:cNvPr id="66" name="TextBox 66"/>
          <p:cNvSpPr txBox="1"/>
          <p:nvPr/>
        </p:nvSpPr>
        <p:spPr>
          <a:xfrm>
            <a:off x="13813250" y="4341479"/>
            <a:ext cx="1365109" cy="590550"/>
          </a:xfrm>
          <a:prstGeom prst="rect">
            <a:avLst/>
          </a:prstGeom>
        </p:spPr>
        <p:txBody>
          <a:bodyPr lIns="0" tIns="0" rIns="0" bIns="0" rtlCol="0" anchor="t">
            <a:spAutoFit/>
          </a:bodyPr>
          <a:lstStyle/>
          <a:p>
            <a:pPr algn="ctr">
              <a:lnSpc>
                <a:spcPts val="2280"/>
              </a:lnSpc>
            </a:pPr>
            <a:r>
              <a:rPr lang="en-US" sz="1900">
                <a:solidFill>
                  <a:srgbClr val="000000"/>
                </a:solidFill>
                <a:latin typeface="Times New Roman"/>
                <a:ea typeface="Times New Roman"/>
                <a:cs typeface="Times New Roman"/>
                <a:sym typeface="Times New Roman"/>
              </a:rPr>
              <a:t>Live Match Graphics</a:t>
            </a:r>
          </a:p>
        </p:txBody>
      </p:sp>
      <p:sp>
        <p:nvSpPr>
          <p:cNvPr id="67" name="TextBox 67"/>
          <p:cNvSpPr txBox="1"/>
          <p:nvPr/>
        </p:nvSpPr>
        <p:spPr>
          <a:xfrm>
            <a:off x="15227711" y="4198604"/>
            <a:ext cx="1385764" cy="876300"/>
          </a:xfrm>
          <a:prstGeom prst="rect">
            <a:avLst/>
          </a:prstGeom>
        </p:spPr>
        <p:txBody>
          <a:bodyPr lIns="0" tIns="0" rIns="0" bIns="0" rtlCol="0" anchor="t">
            <a:spAutoFit/>
          </a:bodyPr>
          <a:lstStyle/>
          <a:p>
            <a:pPr algn="ctr">
              <a:lnSpc>
                <a:spcPts val="2280"/>
              </a:lnSpc>
            </a:pPr>
            <a:r>
              <a:rPr lang="en-US" sz="1900" dirty="0">
                <a:solidFill>
                  <a:srgbClr val="303030"/>
                </a:solidFill>
                <a:latin typeface="Times New Roman"/>
                <a:ea typeface="Times New Roman"/>
                <a:cs typeface="Times New Roman"/>
                <a:sym typeface="Times New Roman"/>
              </a:rPr>
              <a:t>Injury Prediction Model</a:t>
            </a:r>
          </a:p>
        </p:txBody>
      </p:sp>
      <p:sp>
        <p:nvSpPr>
          <p:cNvPr id="68" name="TextBox 68"/>
          <p:cNvSpPr txBox="1"/>
          <p:nvPr/>
        </p:nvSpPr>
        <p:spPr>
          <a:xfrm>
            <a:off x="10919526" y="6548085"/>
            <a:ext cx="1365109" cy="876300"/>
          </a:xfrm>
          <a:prstGeom prst="rect">
            <a:avLst/>
          </a:prstGeom>
        </p:spPr>
        <p:txBody>
          <a:bodyPr lIns="0" tIns="0" rIns="0" bIns="0" rtlCol="0" anchor="t">
            <a:spAutoFit/>
          </a:bodyPr>
          <a:lstStyle/>
          <a:p>
            <a:pPr algn="ctr">
              <a:lnSpc>
                <a:spcPts val="2280"/>
              </a:lnSpc>
            </a:pPr>
            <a:r>
              <a:rPr lang="en-US" sz="1900">
                <a:solidFill>
                  <a:srgbClr val="303030"/>
                </a:solidFill>
                <a:latin typeface="Times New Roman"/>
                <a:ea typeface="Times New Roman"/>
                <a:cs typeface="Times New Roman"/>
                <a:sym typeface="Times New Roman"/>
              </a:rPr>
              <a:t>Intelligence &amp; Decision Platform</a:t>
            </a:r>
          </a:p>
        </p:txBody>
      </p:sp>
      <p:sp>
        <p:nvSpPr>
          <p:cNvPr id="69" name="TextBox 69"/>
          <p:cNvSpPr txBox="1"/>
          <p:nvPr/>
        </p:nvSpPr>
        <p:spPr>
          <a:xfrm>
            <a:off x="12326940" y="6548085"/>
            <a:ext cx="1390991" cy="304800"/>
          </a:xfrm>
          <a:prstGeom prst="rect">
            <a:avLst/>
          </a:prstGeom>
        </p:spPr>
        <p:txBody>
          <a:bodyPr lIns="0" tIns="0" rIns="0" bIns="0" rtlCol="0" anchor="t">
            <a:spAutoFit/>
          </a:bodyPr>
          <a:lstStyle/>
          <a:p>
            <a:pPr algn="ctr">
              <a:lnSpc>
                <a:spcPts val="2280"/>
              </a:lnSpc>
            </a:pPr>
            <a:r>
              <a:rPr lang="en-US" sz="1900">
                <a:solidFill>
                  <a:srgbClr val="303030"/>
                </a:solidFill>
                <a:latin typeface="Times New Roman"/>
                <a:ea typeface="Times New Roman"/>
                <a:cs typeface="Times New Roman"/>
                <a:sym typeface="Times New Roman"/>
              </a:rPr>
              <a:t>Sports Lottery</a:t>
            </a:r>
          </a:p>
        </p:txBody>
      </p:sp>
      <p:sp>
        <p:nvSpPr>
          <p:cNvPr id="70" name="TextBox 70"/>
          <p:cNvSpPr txBox="1"/>
          <p:nvPr/>
        </p:nvSpPr>
        <p:spPr>
          <a:xfrm>
            <a:off x="13760235" y="6548085"/>
            <a:ext cx="1555965" cy="573298"/>
          </a:xfrm>
          <a:prstGeom prst="rect">
            <a:avLst/>
          </a:prstGeom>
        </p:spPr>
        <p:txBody>
          <a:bodyPr wrap="square" lIns="0" tIns="0" rIns="0" bIns="0" rtlCol="0" anchor="t">
            <a:spAutoFit/>
          </a:bodyPr>
          <a:lstStyle/>
          <a:p>
            <a:pPr algn="ctr">
              <a:lnSpc>
                <a:spcPts val="2280"/>
              </a:lnSpc>
            </a:pPr>
            <a:r>
              <a:rPr lang="en-US" altLang="zh-TW" sz="1900" dirty="0">
                <a:solidFill>
                  <a:srgbClr val="303030"/>
                </a:solidFill>
                <a:latin typeface="Times New Roman"/>
                <a:cs typeface="Times New Roman"/>
              </a:rPr>
              <a:t>Athletic Talent Tracking</a:t>
            </a:r>
            <a:endParaRPr lang="en-US" sz="1900" dirty="0">
              <a:solidFill>
                <a:srgbClr val="303030"/>
              </a:solidFill>
              <a:latin typeface="Times New Roman"/>
              <a:cs typeface="Times New Roman"/>
              <a:sym typeface="Times New Roman"/>
            </a:endParaRPr>
          </a:p>
        </p:txBody>
      </p:sp>
      <p:sp>
        <p:nvSpPr>
          <p:cNvPr id="71" name="TextBox 71"/>
          <p:cNvSpPr txBox="1"/>
          <p:nvPr/>
        </p:nvSpPr>
        <p:spPr>
          <a:xfrm>
            <a:off x="15193531" y="6548085"/>
            <a:ext cx="1390991" cy="590550"/>
          </a:xfrm>
          <a:prstGeom prst="rect">
            <a:avLst/>
          </a:prstGeom>
        </p:spPr>
        <p:txBody>
          <a:bodyPr lIns="0" tIns="0" rIns="0" bIns="0" rtlCol="0" anchor="t">
            <a:spAutoFit/>
          </a:bodyPr>
          <a:lstStyle/>
          <a:p>
            <a:pPr algn="ctr">
              <a:lnSpc>
                <a:spcPts val="2280"/>
              </a:lnSpc>
            </a:pPr>
            <a:r>
              <a:rPr lang="en-US" altLang="zh-TW" sz="1900" dirty="0">
                <a:solidFill>
                  <a:srgbClr val="303030"/>
                </a:solidFill>
                <a:latin typeface="Times New Roman"/>
                <a:cs typeface="Times New Roman"/>
              </a:rPr>
              <a:t>Baseball Gaming</a:t>
            </a:r>
            <a:endParaRPr lang="en-US" sz="1900" dirty="0">
              <a:solidFill>
                <a:srgbClr val="303030"/>
              </a:solidFill>
              <a:latin typeface="Times New Roman"/>
              <a:cs typeface="Times New Roman"/>
              <a:sym typeface="Times New Roman"/>
            </a:endParaRPr>
          </a:p>
        </p:txBody>
      </p:sp>
      <p:grpSp>
        <p:nvGrpSpPr>
          <p:cNvPr id="72" name="Group 72"/>
          <p:cNvGrpSpPr/>
          <p:nvPr/>
        </p:nvGrpSpPr>
        <p:grpSpPr>
          <a:xfrm>
            <a:off x="12375666" y="8076891"/>
            <a:ext cx="5605386" cy="1435727"/>
            <a:chOff x="0" y="0"/>
            <a:chExt cx="7473848" cy="1914303"/>
          </a:xfrm>
        </p:grpSpPr>
        <p:sp>
          <p:nvSpPr>
            <p:cNvPr id="73" name="Freeform 73"/>
            <p:cNvSpPr/>
            <p:nvPr/>
          </p:nvSpPr>
          <p:spPr>
            <a:xfrm>
              <a:off x="0" y="0"/>
              <a:ext cx="7473813" cy="1914329"/>
            </a:xfrm>
            <a:custGeom>
              <a:avLst/>
              <a:gdLst/>
              <a:ahLst/>
              <a:cxnLst/>
              <a:rect l="l" t="t" r="r" b="b"/>
              <a:pathLst>
                <a:path w="7473813" h="1914329">
                  <a:moveTo>
                    <a:pt x="0" y="0"/>
                  </a:moveTo>
                  <a:lnTo>
                    <a:pt x="7473813" y="0"/>
                  </a:lnTo>
                  <a:lnTo>
                    <a:pt x="7473813" y="1914329"/>
                  </a:lnTo>
                  <a:lnTo>
                    <a:pt x="0" y="1914329"/>
                  </a:lnTo>
                  <a:close/>
                </a:path>
              </a:pathLst>
            </a:custGeom>
            <a:solidFill>
              <a:srgbClr val="3D8DC8"/>
            </a:solidFill>
          </p:spPr>
        </p:sp>
        <p:sp>
          <p:nvSpPr>
            <p:cNvPr id="74" name="TextBox 74"/>
            <p:cNvSpPr txBox="1"/>
            <p:nvPr/>
          </p:nvSpPr>
          <p:spPr>
            <a:xfrm>
              <a:off x="0" y="-19050"/>
              <a:ext cx="7473848" cy="1933353"/>
            </a:xfrm>
            <a:prstGeom prst="rect">
              <a:avLst/>
            </a:prstGeom>
          </p:spPr>
          <p:txBody>
            <a:bodyPr lIns="50800" tIns="50800" rIns="50800" bIns="50800" rtlCol="0" anchor="t"/>
            <a:lstStyle/>
            <a:p>
              <a:pPr algn="just">
                <a:lnSpc>
                  <a:spcPts val="2520"/>
                </a:lnSpc>
              </a:pPr>
              <a:r>
                <a:rPr lang="en-US" sz="2100" b="1" dirty="0">
                  <a:solidFill>
                    <a:srgbClr val="FFFFFF"/>
                  </a:solidFill>
                  <a:latin typeface="Times New Roman"/>
                  <a:ea typeface="Times New Roman"/>
                  <a:cs typeface="Times New Roman"/>
                  <a:sym typeface="Times New Roman"/>
                </a:rPr>
                <a:t>Advanced Scientific Data Visualization</a:t>
              </a:r>
            </a:p>
            <a:p>
              <a:pPr algn="just">
                <a:lnSpc>
                  <a:spcPts val="2520"/>
                </a:lnSpc>
              </a:pPr>
              <a:r>
                <a:rPr lang="en-US" sz="2100" b="1" dirty="0">
                  <a:solidFill>
                    <a:srgbClr val="FFFFFF"/>
                  </a:solidFill>
                  <a:latin typeface="Times New Roman"/>
                  <a:ea typeface="Times New Roman"/>
                  <a:cs typeface="Times New Roman"/>
                  <a:sym typeface="Times New Roman"/>
                </a:rPr>
                <a:t>Athlete Database</a:t>
              </a:r>
            </a:p>
            <a:p>
              <a:pPr algn="just">
                <a:lnSpc>
                  <a:spcPts val="2520"/>
                </a:lnSpc>
              </a:pPr>
              <a:r>
                <a:rPr lang="en-US" sz="2100" b="1" dirty="0" err="1">
                  <a:solidFill>
                    <a:srgbClr val="FFFFFF"/>
                  </a:solidFill>
                  <a:latin typeface="Times New Roman"/>
                  <a:ea typeface="Times New Roman"/>
                  <a:cs typeface="Times New Roman"/>
                  <a:sym typeface="Times New Roman"/>
                </a:rPr>
                <a:t>a.Grassroots</a:t>
              </a:r>
              <a:r>
                <a:rPr lang="en-US" sz="2100" b="1" dirty="0">
                  <a:solidFill>
                    <a:srgbClr val="FFFFFF"/>
                  </a:solidFill>
                  <a:latin typeface="Times New Roman"/>
                  <a:ea typeface="Times New Roman"/>
                  <a:cs typeface="Times New Roman"/>
                  <a:sym typeface="Times New Roman"/>
                </a:rPr>
                <a:t> baseball: latest &amp; archived footage</a:t>
              </a:r>
            </a:p>
            <a:p>
              <a:pPr algn="just">
                <a:lnSpc>
                  <a:spcPts val="2520"/>
                </a:lnSpc>
              </a:pPr>
              <a:r>
                <a:rPr lang="en-US" sz="2100" b="1" dirty="0" err="1">
                  <a:solidFill>
                    <a:srgbClr val="FFFFFF"/>
                  </a:solidFill>
                  <a:latin typeface="Times New Roman"/>
                  <a:ea typeface="Times New Roman"/>
                  <a:cs typeface="Times New Roman"/>
                  <a:sym typeface="Times New Roman"/>
                </a:rPr>
                <a:t>b.Schedule</a:t>
              </a:r>
              <a:r>
                <a:rPr lang="en-US" sz="2100" b="1" dirty="0">
                  <a:solidFill>
                    <a:srgbClr val="FFFFFF"/>
                  </a:solidFill>
                  <a:latin typeface="Times New Roman"/>
                  <a:ea typeface="Times New Roman"/>
                  <a:cs typeface="Times New Roman"/>
                  <a:sym typeface="Times New Roman"/>
                </a:rPr>
                <a:t> records</a:t>
              </a:r>
            </a:p>
          </p:txBody>
        </p:sp>
      </p:grpSp>
      <p:sp>
        <p:nvSpPr>
          <p:cNvPr id="75" name="AutoShape 75"/>
          <p:cNvSpPr/>
          <p:nvPr/>
        </p:nvSpPr>
        <p:spPr>
          <a:xfrm>
            <a:off x="3719436" y="8803336"/>
            <a:ext cx="1439448" cy="67136"/>
          </a:xfrm>
          <a:prstGeom prst="line">
            <a:avLst/>
          </a:prstGeom>
          <a:ln w="19050" cap="flat">
            <a:solidFill>
              <a:srgbClr val="4472C4"/>
            </a:solidFill>
            <a:prstDash val="solid"/>
            <a:headEnd type="triangle" w="lg" len="med"/>
            <a:tailEnd type="triangle" w="lg" len="med"/>
          </a:ln>
        </p:spPr>
      </p:sp>
      <p:cxnSp>
        <p:nvCxnSpPr>
          <p:cNvPr id="80" name="接點: 肘形 79">
            <a:extLst>
              <a:ext uri="{FF2B5EF4-FFF2-40B4-BE49-F238E27FC236}">
                <a16:creationId xmlns:a16="http://schemas.microsoft.com/office/drawing/2014/main" id="{2D7CFCD1-5DD2-1B16-3D1D-3082E03EEFCF}"/>
              </a:ext>
            </a:extLst>
          </p:cNvPr>
          <p:cNvCxnSpPr/>
          <p:nvPr/>
        </p:nvCxnSpPr>
        <p:spPr>
          <a:xfrm flipV="1">
            <a:off x="3559271" y="3803904"/>
            <a:ext cx="1740932" cy="325023"/>
          </a:xfrm>
          <a:prstGeom prst="bentConnector3">
            <a:avLst>
              <a:gd name="adj1" fmla="val 71155"/>
            </a:avLst>
          </a:prstGeom>
          <a:ln w="12700">
            <a:solidFill>
              <a:srgbClr val="1E4C9A"/>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接點: 肘形 99">
            <a:extLst>
              <a:ext uri="{FF2B5EF4-FFF2-40B4-BE49-F238E27FC236}">
                <a16:creationId xmlns:a16="http://schemas.microsoft.com/office/drawing/2014/main" id="{E7B84143-8CE5-4601-722D-0AC7C0D86D0C}"/>
              </a:ext>
            </a:extLst>
          </p:cNvPr>
          <p:cNvCxnSpPr>
            <a:cxnSpLocks/>
          </p:cNvCxnSpPr>
          <p:nvPr/>
        </p:nvCxnSpPr>
        <p:spPr>
          <a:xfrm flipV="1">
            <a:off x="3795784" y="3803880"/>
            <a:ext cx="1504390" cy="1010531"/>
          </a:xfrm>
          <a:prstGeom prst="bentConnector3">
            <a:avLst>
              <a:gd name="adj1" fmla="val 66673"/>
            </a:avLst>
          </a:prstGeom>
          <a:ln w="12700">
            <a:solidFill>
              <a:srgbClr val="1E4C9A"/>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接點: 肘形 107">
            <a:extLst>
              <a:ext uri="{FF2B5EF4-FFF2-40B4-BE49-F238E27FC236}">
                <a16:creationId xmlns:a16="http://schemas.microsoft.com/office/drawing/2014/main" id="{AF58966E-994C-8490-3DCC-F397FCD9D662}"/>
              </a:ext>
            </a:extLst>
          </p:cNvPr>
          <p:cNvCxnSpPr/>
          <p:nvPr/>
        </p:nvCxnSpPr>
        <p:spPr>
          <a:xfrm rot="5400000" flipH="1" flipV="1">
            <a:off x="3622817" y="4346717"/>
            <a:ext cx="1720620" cy="634946"/>
          </a:xfrm>
          <a:prstGeom prst="bentConnector3">
            <a:avLst>
              <a:gd name="adj1" fmla="val 362"/>
            </a:avLst>
          </a:prstGeom>
          <a:ln w="12700">
            <a:solidFill>
              <a:srgbClr val="1E4C9A"/>
            </a:solidFill>
          </a:ln>
        </p:spPr>
        <p:style>
          <a:lnRef idx="1">
            <a:schemeClr val="accent1"/>
          </a:lnRef>
          <a:fillRef idx="0">
            <a:schemeClr val="accent1"/>
          </a:fillRef>
          <a:effectRef idx="0">
            <a:schemeClr val="accent1"/>
          </a:effectRef>
          <a:fontRef idx="minor">
            <a:schemeClr val="tx1"/>
          </a:fontRef>
        </p:style>
      </p:cxnSp>
      <p:cxnSp>
        <p:nvCxnSpPr>
          <p:cNvPr id="112" name="接點: 肘形 111">
            <a:extLst>
              <a:ext uri="{FF2B5EF4-FFF2-40B4-BE49-F238E27FC236}">
                <a16:creationId xmlns:a16="http://schemas.microsoft.com/office/drawing/2014/main" id="{3C99B159-1C11-A06A-3D1E-696987D3016A}"/>
              </a:ext>
            </a:extLst>
          </p:cNvPr>
          <p:cNvCxnSpPr>
            <a:cxnSpLocks/>
          </p:cNvCxnSpPr>
          <p:nvPr/>
        </p:nvCxnSpPr>
        <p:spPr>
          <a:xfrm>
            <a:off x="3719436" y="3445667"/>
            <a:ext cx="1580738" cy="361804"/>
          </a:xfrm>
          <a:prstGeom prst="bentConnector3">
            <a:avLst>
              <a:gd name="adj1" fmla="val 68278"/>
            </a:avLst>
          </a:prstGeom>
          <a:ln w="12700">
            <a:solidFill>
              <a:srgbClr val="1E4C9A"/>
            </a:solidFill>
            <a:tailEnd type="triangle"/>
          </a:ln>
        </p:spPr>
        <p:style>
          <a:lnRef idx="1">
            <a:schemeClr val="accent1"/>
          </a:lnRef>
          <a:fillRef idx="0">
            <a:schemeClr val="accent1"/>
          </a:fillRef>
          <a:effectRef idx="0">
            <a:schemeClr val="accent1"/>
          </a:effectRef>
          <a:fontRef idx="minor">
            <a:schemeClr val="tx1"/>
          </a:fontRef>
        </p:style>
      </p:cxnSp>
      <p:grpSp>
        <p:nvGrpSpPr>
          <p:cNvPr id="54" name="Group 2">
            <a:extLst>
              <a:ext uri="{FF2B5EF4-FFF2-40B4-BE49-F238E27FC236}">
                <a16:creationId xmlns:a16="http://schemas.microsoft.com/office/drawing/2014/main" id="{BD9D6FCF-66EC-9495-8A5F-A9226B8FE018}"/>
              </a:ext>
            </a:extLst>
          </p:cNvPr>
          <p:cNvGrpSpPr/>
          <p:nvPr/>
        </p:nvGrpSpPr>
        <p:grpSpPr>
          <a:xfrm>
            <a:off x="0" y="25403"/>
            <a:ext cx="18288000" cy="3744230"/>
            <a:chOff x="0" y="0"/>
            <a:chExt cx="24384000" cy="4992306"/>
          </a:xfrm>
        </p:grpSpPr>
        <p:sp>
          <p:nvSpPr>
            <p:cNvPr id="55" name="Freeform 3" descr="一張含有 黑暗, 黑色, 螢幕擷取畫面, 光線 的圖片  AI 產生的內容可能不正確。">
              <a:extLst>
                <a:ext uri="{FF2B5EF4-FFF2-40B4-BE49-F238E27FC236}">
                  <a16:creationId xmlns:a16="http://schemas.microsoft.com/office/drawing/2014/main" id="{8426E944-E75D-227E-6F4B-A21051F4540A}"/>
                </a:ext>
              </a:extLst>
            </p:cNvPr>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12"/>
              <a:stretch>
                <a:fillRect b="-1"/>
              </a:stretch>
            </a:blipFill>
          </p:spPr>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63408" y="599237"/>
            <a:ext cx="1103243" cy="551059"/>
            <a:chOff x="0" y="0"/>
            <a:chExt cx="1470990" cy="734746"/>
          </a:xfrm>
        </p:grpSpPr>
        <p:sp>
          <p:nvSpPr>
            <p:cNvPr id="3" name="Freeform 3"/>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3"/>
              <a:stretch>
                <a:fillRect t="-221" r="3" b="-226"/>
              </a:stretch>
            </a:blipFill>
          </p:spPr>
        </p:sp>
      </p:grpSp>
      <p:grpSp>
        <p:nvGrpSpPr>
          <p:cNvPr id="4" name="Group 4"/>
          <p:cNvGrpSpPr/>
          <p:nvPr/>
        </p:nvGrpSpPr>
        <p:grpSpPr>
          <a:xfrm>
            <a:off x="609666" y="935858"/>
            <a:ext cx="17369016" cy="1508760"/>
            <a:chOff x="0" y="0"/>
            <a:chExt cx="23158687" cy="2011680"/>
          </a:xfrm>
        </p:grpSpPr>
        <p:sp>
          <p:nvSpPr>
            <p:cNvPr id="5" name="Freeform 5"/>
            <p:cNvSpPr/>
            <p:nvPr/>
          </p:nvSpPr>
          <p:spPr>
            <a:xfrm>
              <a:off x="0" y="0"/>
              <a:ext cx="23158687" cy="2011680"/>
            </a:xfrm>
            <a:custGeom>
              <a:avLst/>
              <a:gdLst/>
              <a:ahLst/>
              <a:cxnLst/>
              <a:rect l="l" t="t" r="r" b="b"/>
              <a:pathLst>
                <a:path w="23158687" h="2011680">
                  <a:moveTo>
                    <a:pt x="0" y="0"/>
                  </a:moveTo>
                  <a:lnTo>
                    <a:pt x="23158687" y="0"/>
                  </a:lnTo>
                  <a:lnTo>
                    <a:pt x="23158687" y="2011680"/>
                  </a:lnTo>
                  <a:lnTo>
                    <a:pt x="0" y="2011680"/>
                  </a:lnTo>
                  <a:close/>
                </a:path>
              </a:pathLst>
            </a:custGeom>
            <a:blipFill>
              <a:blip r:embed="rId4">
                <a:alphaModFix amt="0"/>
              </a:blip>
              <a:stretch>
                <a:fillRect t="-192578" r="-8142" b="-192578"/>
              </a:stretch>
            </a:blipFill>
          </p:spPr>
        </p:sp>
        <p:sp>
          <p:nvSpPr>
            <p:cNvPr id="6" name="TextBox 6"/>
            <p:cNvSpPr txBox="1"/>
            <p:nvPr/>
          </p:nvSpPr>
          <p:spPr>
            <a:xfrm>
              <a:off x="0" y="133350"/>
              <a:ext cx="23158687" cy="1878330"/>
            </a:xfrm>
            <a:prstGeom prst="rect">
              <a:avLst/>
            </a:prstGeom>
          </p:spPr>
          <p:txBody>
            <a:bodyPr lIns="0" tIns="0" rIns="0" bIns="0" rtlCol="0" anchor="ctr"/>
            <a:lstStyle/>
            <a:p>
              <a:pPr algn="l">
                <a:lnSpc>
                  <a:spcPts val="4116"/>
                </a:lnSpc>
              </a:pPr>
              <a:r>
                <a:rPr lang="en-US" sz="4900" b="1">
                  <a:solidFill>
                    <a:srgbClr val="002060"/>
                  </a:solidFill>
                  <a:latin typeface="Times New Roman"/>
                  <a:ea typeface="Times New Roman"/>
                  <a:cs typeface="Times New Roman"/>
                  <a:sym typeface="Times New Roman"/>
                </a:rPr>
                <a:t>Smart Badminton Venue Application</a:t>
              </a:r>
            </a:p>
          </p:txBody>
        </p:sp>
      </p:grpSp>
      <p:grpSp>
        <p:nvGrpSpPr>
          <p:cNvPr id="7" name="Group 7"/>
          <p:cNvGrpSpPr/>
          <p:nvPr/>
        </p:nvGrpSpPr>
        <p:grpSpPr>
          <a:xfrm>
            <a:off x="11956677" y="6191354"/>
            <a:ext cx="6102723" cy="3915692"/>
            <a:chOff x="0" y="0"/>
            <a:chExt cx="1607301" cy="1031293"/>
          </a:xfrm>
        </p:grpSpPr>
        <p:sp>
          <p:nvSpPr>
            <p:cNvPr id="8" name="Freeform 8"/>
            <p:cNvSpPr/>
            <p:nvPr/>
          </p:nvSpPr>
          <p:spPr>
            <a:xfrm>
              <a:off x="0" y="0"/>
              <a:ext cx="1607301" cy="1031293"/>
            </a:xfrm>
            <a:custGeom>
              <a:avLst/>
              <a:gdLst/>
              <a:ahLst/>
              <a:cxnLst/>
              <a:rect l="l" t="t" r="r" b="b"/>
              <a:pathLst>
                <a:path w="1607301" h="1031293">
                  <a:moveTo>
                    <a:pt x="0" y="0"/>
                  </a:moveTo>
                  <a:lnTo>
                    <a:pt x="1607301" y="0"/>
                  </a:lnTo>
                  <a:lnTo>
                    <a:pt x="1607301" y="1031293"/>
                  </a:lnTo>
                  <a:lnTo>
                    <a:pt x="0" y="1031293"/>
                  </a:lnTo>
                  <a:close/>
                </a:path>
              </a:pathLst>
            </a:custGeom>
            <a:solidFill>
              <a:srgbClr val="EBF6FC"/>
            </a:solidFill>
            <a:ln w="9525" cap="sq">
              <a:solidFill>
                <a:srgbClr val="67A0DA"/>
              </a:solidFill>
              <a:prstDash val="solid"/>
              <a:miter/>
            </a:ln>
          </p:spPr>
        </p:sp>
        <p:sp>
          <p:nvSpPr>
            <p:cNvPr id="9" name="TextBox 9"/>
            <p:cNvSpPr txBox="1"/>
            <p:nvPr/>
          </p:nvSpPr>
          <p:spPr>
            <a:xfrm>
              <a:off x="0" y="-28575"/>
              <a:ext cx="1607301" cy="1059868"/>
            </a:xfrm>
            <a:prstGeom prst="rect">
              <a:avLst/>
            </a:prstGeom>
          </p:spPr>
          <p:txBody>
            <a:bodyPr lIns="50800" tIns="50800" rIns="50800" bIns="50800" rtlCol="0" anchor="ctr"/>
            <a:lstStyle/>
            <a:p>
              <a:pPr algn="ctr">
                <a:lnSpc>
                  <a:spcPts val="2833"/>
                </a:lnSpc>
              </a:pPr>
              <a:endParaRPr/>
            </a:p>
          </p:txBody>
        </p:sp>
      </p:grpSp>
      <p:sp>
        <p:nvSpPr>
          <p:cNvPr id="10" name="Freeform 10"/>
          <p:cNvSpPr/>
          <p:nvPr/>
        </p:nvSpPr>
        <p:spPr>
          <a:xfrm>
            <a:off x="13247311" y="2933550"/>
            <a:ext cx="3724112" cy="3028631"/>
          </a:xfrm>
          <a:custGeom>
            <a:avLst/>
            <a:gdLst/>
            <a:ahLst/>
            <a:cxnLst/>
            <a:rect l="l" t="t" r="r" b="b"/>
            <a:pathLst>
              <a:path w="3438944" h="2843456">
                <a:moveTo>
                  <a:pt x="0" y="0"/>
                </a:moveTo>
                <a:lnTo>
                  <a:pt x="3438944" y="0"/>
                </a:lnTo>
                <a:lnTo>
                  <a:pt x="3438944" y="2843456"/>
                </a:lnTo>
                <a:lnTo>
                  <a:pt x="0" y="2843456"/>
                </a:lnTo>
                <a:lnTo>
                  <a:pt x="0" y="0"/>
                </a:lnTo>
                <a:close/>
              </a:path>
            </a:pathLst>
          </a:custGeom>
          <a:blipFill>
            <a:blip r:embed="rId5"/>
            <a:stretch>
              <a:fillRect l="-273569" t="-33215" r="-6902" b="-20647"/>
            </a:stretch>
          </a:blipFill>
        </p:spPr>
      </p:sp>
      <p:sp>
        <p:nvSpPr>
          <p:cNvPr id="11" name="TextBox 11"/>
          <p:cNvSpPr txBox="1"/>
          <p:nvPr/>
        </p:nvSpPr>
        <p:spPr>
          <a:xfrm>
            <a:off x="12001782" y="2283900"/>
            <a:ext cx="6181868" cy="571500"/>
          </a:xfrm>
          <a:prstGeom prst="rect">
            <a:avLst/>
          </a:prstGeom>
        </p:spPr>
        <p:txBody>
          <a:bodyPr lIns="0" tIns="0" rIns="0" bIns="0" rtlCol="0" anchor="t">
            <a:spAutoFit/>
          </a:bodyPr>
          <a:lstStyle/>
          <a:p>
            <a:pPr algn="ctr">
              <a:lnSpc>
                <a:spcPts val="4320"/>
              </a:lnSpc>
            </a:pPr>
            <a:r>
              <a:rPr lang="en-US" sz="3600" b="1">
                <a:solidFill>
                  <a:srgbClr val="1DAE93"/>
                </a:solidFill>
                <a:latin typeface="Times New Roman"/>
                <a:ea typeface="Times New Roman"/>
                <a:cs typeface="Times New Roman"/>
                <a:sym typeface="Times New Roman"/>
              </a:rPr>
              <a:t>Validation &amp; Data Integration</a:t>
            </a:r>
          </a:p>
        </p:txBody>
      </p:sp>
      <p:sp>
        <p:nvSpPr>
          <p:cNvPr id="12" name="TextBox 12"/>
          <p:cNvSpPr txBox="1"/>
          <p:nvPr/>
        </p:nvSpPr>
        <p:spPr>
          <a:xfrm>
            <a:off x="13949763" y="6779989"/>
            <a:ext cx="2474595" cy="1010764"/>
          </a:xfrm>
          <a:prstGeom prst="rect">
            <a:avLst/>
          </a:prstGeom>
        </p:spPr>
        <p:txBody>
          <a:bodyPr lIns="0" tIns="0" rIns="0" bIns="0" rtlCol="0" anchor="t">
            <a:spAutoFit/>
          </a:bodyPr>
          <a:lstStyle/>
          <a:p>
            <a:pPr algn="ctr">
              <a:lnSpc>
                <a:spcPts val="8640"/>
              </a:lnSpc>
            </a:pPr>
            <a:r>
              <a:rPr lang="en-US" sz="7200" b="1" dirty="0">
                <a:solidFill>
                  <a:srgbClr val="63C5C7"/>
                </a:solidFill>
                <a:latin typeface="Times New Roman"/>
                <a:ea typeface="Times New Roman"/>
                <a:cs typeface="Times New Roman"/>
                <a:sym typeface="Times New Roman"/>
              </a:rPr>
              <a:t>50+</a:t>
            </a:r>
          </a:p>
        </p:txBody>
      </p:sp>
      <p:sp>
        <p:nvSpPr>
          <p:cNvPr id="13" name="TextBox 13"/>
          <p:cNvSpPr txBox="1"/>
          <p:nvPr/>
        </p:nvSpPr>
        <p:spPr>
          <a:xfrm>
            <a:off x="13424861" y="7829694"/>
            <a:ext cx="3374724" cy="400050"/>
          </a:xfrm>
          <a:prstGeom prst="rect">
            <a:avLst/>
          </a:prstGeom>
        </p:spPr>
        <p:txBody>
          <a:bodyPr lIns="0" tIns="0" rIns="0" bIns="0" rtlCol="0" anchor="t">
            <a:spAutoFit/>
          </a:bodyPr>
          <a:lstStyle/>
          <a:p>
            <a:pPr algn="ctr">
              <a:lnSpc>
                <a:spcPts val="3000"/>
              </a:lnSpc>
            </a:pPr>
            <a:r>
              <a:rPr lang="en-US" sz="2500" b="1">
                <a:solidFill>
                  <a:srgbClr val="1E4C9A"/>
                </a:solidFill>
                <a:latin typeface="Times New Roman"/>
                <a:ea typeface="Times New Roman"/>
                <a:cs typeface="Times New Roman"/>
                <a:sym typeface="Times New Roman"/>
              </a:rPr>
              <a:t>Actual participant visits</a:t>
            </a:r>
          </a:p>
        </p:txBody>
      </p:sp>
      <p:sp>
        <p:nvSpPr>
          <p:cNvPr id="14" name="TextBox 14"/>
          <p:cNvSpPr txBox="1"/>
          <p:nvPr/>
        </p:nvSpPr>
        <p:spPr>
          <a:xfrm>
            <a:off x="13235173" y="8278209"/>
            <a:ext cx="3903774" cy="1054579"/>
          </a:xfrm>
          <a:prstGeom prst="rect">
            <a:avLst/>
          </a:prstGeom>
        </p:spPr>
        <p:txBody>
          <a:bodyPr lIns="0" tIns="0" rIns="0" bIns="0" rtlCol="0" anchor="t">
            <a:spAutoFit/>
          </a:bodyPr>
          <a:lstStyle/>
          <a:p>
            <a:pPr algn="ctr">
              <a:lnSpc>
                <a:spcPts val="8640"/>
              </a:lnSpc>
            </a:pPr>
            <a:r>
              <a:rPr lang="en-US" sz="7200" b="1">
                <a:solidFill>
                  <a:srgbClr val="63C5C7"/>
                </a:solidFill>
                <a:latin typeface="Times New Roman"/>
                <a:ea typeface="Times New Roman"/>
                <a:cs typeface="Times New Roman"/>
                <a:sym typeface="Times New Roman"/>
              </a:rPr>
              <a:t>5,000+</a:t>
            </a:r>
          </a:p>
        </p:txBody>
      </p:sp>
      <p:sp>
        <p:nvSpPr>
          <p:cNvPr id="15" name="TextBox 15"/>
          <p:cNvSpPr txBox="1"/>
          <p:nvPr/>
        </p:nvSpPr>
        <p:spPr>
          <a:xfrm>
            <a:off x="13444506" y="9371729"/>
            <a:ext cx="3226743" cy="400050"/>
          </a:xfrm>
          <a:prstGeom prst="rect">
            <a:avLst/>
          </a:prstGeom>
        </p:spPr>
        <p:txBody>
          <a:bodyPr lIns="0" tIns="0" rIns="0" bIns="0" rtlCol="0" anchor="t">
            <a:spAutoFit/>
          </a:bodyPr>
          <a:lstStyle/>
          <a:p>
            <a:pPr algn="l">
              <a:lnSpc>
                <a:spcPts val="3000"/>
              </a:lnSpc>
            </a:pPr>
            <a:r>
              <a:rPr lang="en-US" sz="2500" b="1">
                <a:solidFill>
                  <a:srgbClr val="1E4C9A"/>
                </a:solidFill>
                <a:latin typeface="Times New Roman"/>
                <a:ea typeface="Times New Roman"/>
                <a:cs typeface="Times New Roman"/>
                <a:sym typeface="Times New Roman"/>
              </a:rPr>
              <a:t>Data records integrated</a:t>
            </a:r>
          </a:p>
        </p:txBody>
      </p:sp>
      <p:sp>
        <p:nvSpPr>
          <p:cNvPr id="16" name="TextBox 16"/>
          <p:cNvSpPr txBox="1"/>
          <p:nvPr/>
        </p:nvSpPr>
        <p:spPr>
          <a:xfrm>
            <a:off x="12525269" y="6331473"/>
            <a:ext cx="4928890" cy="400050"/>
          </a:xfrm>
          <a:prstGeom prst="rect">
            <a:avLst/>
          </a:prstGeom>
        </p:spPr>
        <p:txBody>
          <a:bodyPr lIns="0" tIns="0" rIns="0" bIns="0" rtlCol="0" anchor="t">
            <a:spAutoFit/>
          </a:bodyPr>
          <a:lstStyle/>
          <a:p>
            <a:pPr algn="l">
              <a:lnSpc>
                <a:spcPts val="3000"/>
              </a:lnSpc>
            </a:pPr>
            <a:r>
              <a:rPr lang="en-US" sz="2500" b="1" dirty="0">
                <a:solidFill>
                  <a:srgbClr val="1E4C9A"/>
                </a:solidFill>
                <a:latin typeface="Times New Roman"/>
                <a:ea typeface="Times New Roman"/>
                <a:cs typeface="Times New Roman"/>
                <a:sym typeface="Times New Roman"/>
              </a:rPr>
              <a:t>Connected to Sports Science Center </a:t>
            </a:r>
          </a:p>
        </p:txBody>
      </p:sp>
      <p:grpSp>
        <p:nvGrpSpPr>
          <p:cNvPr id="17" name="Group 17"/>
          <p:cNvGrpSpPr/>
          <p:nvPr/>
        </p:nvGrpSpPr>
        <p:grpSpPr>
          <a:xfrm>
            <a:off x="288858" y="6191354"/>
            <a:ext cx="5377086" cy="3915692"/>
            <a:chOff x="0" y="0"/>
            <a:chExt cx="1416187" cy="1031293"/>
          </a:xfrm>
        </p:grpSpPr>
        <p:sp>
          <p:nvSpPr>
            <p:cNvPr id="18" name="Freeform 18"/>
            <p:cNvSpPr/>
            <p:nvPr/>
          </p:nvSpPr>
          <p:spPr>
            <a:xfrm>
              <a:off x="0" y="0"/>
              <a:ext cx="1416187" cy="1031293"/>
            </a:xfrm>
            <a:custGeom>
              <a:avLst/>
              <a:gdLst/>
              <a:ahLst/>
              <a:cxnLst/>
              <a:rect l="l" t="t" r="r" b="b"/>
              <a:pathLst>
                <a:path w="1416187" h="1031293">
                  <a:moveTo>
                    <a:pt x="0" y="0"/>
                  </a:moveTo>
                  <a:lnTo>
                    <a:pt x="1416187" y="0"/>
                  </a:lnTo>
                  <a:lnTo>
                    <a:pt x="1416187" y="1031293"/>
                  </a:lnTo>
                  <a:lnTo>
                    <a:pt x="0" y="1031293"/>
                  </a:lnTo>
                  <a:close/>
                </a:path>
              </a:pathLst>
            </a:custGeom>
            <a:solidFill>
              <a:srgbClr val="EBF6FC"/>
            </a:solidFill>
            <a:ln w="9525" cap="sq">
              <a:solidFill>
                <a:srgbClr val="67A0DA"/>
              </a:solidFill>
              <a:prstDash val="solid"/>
              <a:miter/>
            </a:ln>
          </p:spPr>
        </p:sp>
        <p:sp>
          <p:nvSpPr>
            <p:cNvPr id="19" name="TextBox 19"/>
            <p:cNvSpPr txBox="1"/>
            <p:nvPr/>
          </p:nvSpPr>
          <p:spPr>
            <a:xfrm>
              <a:off x="0" y="-28575"/>
              <a:ext cx="1416187" cy="1059868"/>
            </a:xfrm>
            <a:prstGeom prst="rect">
              <a:avLst/>
            </a:prstGeom>
          </p:spPr>
          <p:txBody>
            <a:bodyPr lIns="50800" tIns="50800" rIns="50800" bIns="50800" rtlCol="0" anchor="ctr"/>
            <a:lstStyle/>
            <a:p>
              <a:pPr algn="ctr">
                <a:lnSpc>
                  <a:spcPts val="2833"/>
                </a:lnSpc>
              </a:pPr>
              <a:endParaRPr/>
            </a:p>
          </p:txBody>
        </p:sp>
      </p:grpSp>
      <p:sp>
        <p:nvSpPr>
          <p:cNvPr id="20" name="Freeform 20"/>
          <p:cNvSpPr/>
          <p:nvPr/>
        </p:nvSpPr>
        <p:spPr>
          <a:xfrm>
            <a:off x="854909" y="2854392"/>
            <a:ext cx="4450987" cy="3260762"/>
          </a:xfrm>
          <a:custGeom>
            <a:avLst/>
            <a:gdLst/>
            <a:ahLst/>
            <a:cxnLst/>
            <a:rect l="l" t="t" r="r" b="b"/>
            <a:pathLst>
              <a:path w="4450987" h="3260762">
                <a:moveTo>
                  <a:pt x="0" y="0"/>
                </a:moveTo>
                <a:lnTo>
                  <a:pt x="4450987" y="0"/>
                </a:lnTo>
                <a:lnTo>
                  <a:pt x="4450987" y="3260762"/>
                </a:lnTo>
                <a:lnTo>
                  <a:pt x="0" y="3260762"/>
                </a:lnTo>
                <a:lnTo>
                  <a:pt x="0" y="0"/>
                </a:lnTo>
                <a:close/>
              </a:path>
            </a:pathLst>
          </a:custGeom>
          <a:blipFill>
            <a:blip r:embed="rId6"/>
            <a:stretch>
              <a:fillRect l="-9023" t="-18788" r="-151234"/>
            </a:stretch>
          </a:blipFill>
        </p:spPr>
      </p:sp>
      <p:sp>
        <p:nvSpPr>
          <p:cNvPr id="21" name="TextBox 21"/>
          <p:cNvSpPr txBox="1"/>
          <p:nvPr/>
        </p:nvSpPr>
        <p:spPr>
          <a:xfrm>
            <a:off x="609666" y="2283900"/>
            <a:ext cx="4846888" cy="571500"/>
          </a:xfrm>
          <a:prstGeom prst="rect">
            <a:avLst/>
          </a:prstGeom>
        </p:spPr>
        <p:txBody>
          <a:bodyPr lIns="0" tIns="0" rIns="0" bIns="0" rtlCol="0" anchor="t">
            <a:spAutoFit/>
          </a:bodyPr>
          <a:lstStyle/>
          <a:p>
            <a:pPr algn="ctr">
              <a:lnSpc>
                <a:spcPts val="4320"/>
              </a:lnSpc>
            </a:pPr>
            <a:r>
              <a:rPr lang="en-US" sz="3600" b="1">
                <a:solidFill>
                  <a:srgbClr val="1DAE93"/>
                </a:solidFill>
                <a:latin typeface="Times New Roman"/>
                <a:ea typeface="Times New Roman"/>
                <a:cs typeface="Times New Roman"/>
                <a:sym typeface="Times New Roman"/>
              </a:rPr>
              <a:t>Design Experience Flow</a:t>
            </a:r>
          </a:p>
        </p:txBody>
      </p:sp>
      <p:sp>
        <p:nvSpPr>
          <p:cNvPr id="22" name="TextBox 22"/>
          <p:cNvSpPr txBox="1"/>
          <p:nvPr/>
        </p:nvSpPr>
        <p:spPr>
          <a:xfrm>
            <a:off x="432398" y="6573103"/>
            <a:ext cx="4995421" cy="1047750"/>
          </a:xfrm>
          <a:prstGeom prst="rect">
            <a:avLst/>
          </a:prstGeom>
        </p:spPr>
        <p:txBody>
          <a:bodyPr lIns="0" tIns="0" rIns="0" bIns="0" rtlCol="0" anchor="t">
            <a:spAutoFit/>
          </a:bodyPr>
          <a:lstStyle/>
          <a:p>
            <a:pPr marL="416244" lvl="1" indent="-208122" algn="l">
              <a:lnSpc>
                <a:spcPts val="2760"/>
              </a:lnSpc>
              <a:buFont typeface="Arial"/>
              <a:buChar char="•"/>
            </a:pPr>
            <a:r>
              <a:rPr lang="en-US" sz="2300" b="1">
                <a:solidFill>
                  <a:srgbClr val="1E4C9A"/>
                </a:solidFill>
                <a:latin typeface="Times New Roman"/>
                <a:ea typeface="Times New Roman"/>
                <a:cs typeface="Times New Roman"/>
                <a:sym typeface="Times New Roman"/>
              </a:rPr>
              <a:t>Supports at least        locations at the Normal operation of badminton venue</a:t>
            </a:r>
          </a:p>
        </p:txBody>
      </p:sp>
      <p:sp>
        <p:nvSpPr>
          <p:cNvPr id="23" name="TextBox 23"/>
          <p:cNvSpPr txBox="1"/>
          <p:nvPr/>
        </p:nvSpPr>
        <p:spPr>
          <a:xfrm>
            <a:off x="432398" y="7725628"/>
            <a:ext cx="4995421" cy="704850"/>
          </a:xfrm>
          <a:prstGeom prst="rect">
            <a:avLst/>
          </a:prstGeom>
        </p:spPr>
        <p:txBody>
          <a:bodyPr lIns="0" tIns="0" rIns="0" bIns="0" rtlCol="0" anchor="t">
            <a:spAutoFit/>
          </a:bodyPr>
          <a:lstStyle/>
          <a:p>
            <a:pPr marL="416244" lvl="1" indent="-208122" algn="l">
              <a:lnSpc>
                <a:spcPts val="2760"/>
              </a:lnSpc>
              <a:buFont typeface="Arial"/>
              <a:buChar char="•"/>
            </a:pPr>
            <a:r>
              <a:rPr lang="en-US" sz="2300" b="1">
                <a:solidFill>
                  <a:srgbClr val="1E4C9A"/>
                </a:solidFill>
                <a:latin typeface="Times New Roman"/>
                <a:ea typeface="Times New Roman"/>
                <a:cs typeface="Times New Roman"/>
                <a:sym typeface="Times New Roman"/>
              </a:rPr>
              <a:t>Hardware Requirements: Camera+ Badminton Serving Machine</a:t>
            </a:r>
          </a:p>
        </p:txBody>
      </p:sp>
      <p:sp>
        <p:nvSpPr>
          <p:cNvPr id="24" name="TextBox 24"/>
          <p:cNvSpPr txBox="1"/>
          <p:nvPr/>
        </p:nvSpPr>
        <p:spPr>
          <a:xfrm>
            <a:off x="873571" y="8935568"/>
            <a:ext cx="4554248" cy="704850"/>
          </a:xfrm>
          <a:prstGeom prst="rect">
            <a:avLst/>
          </a:prstGeom>
        </p:spPr>
        <p:txBody>
          <a:bodyPr lIns="0" tIns="0" rIns="0" bIns="0" rtlCol="0" anchor="t">
            <a:spAutoFit/>
          </a:bodyPr>
          <a:lstStyle/>
          <a:p>
            <a:pPr algn="l">
              <a:lnSpc>
                <a:spcPts val="2760"/>
              </a:lnSpc>
            </a:pPr>
            <a:r>
              <a:rPr lang="en-US" sz="2300" b="1">
                <a:solidFill>
                  <a:srgbClr val="1E4C9A"/>
                </a:solidFill>
                <a:latin typeface="Times New Roman"/>
                <a:ea typeface="Times New Roman"/>
                <a:cs typeface="Times New Roman"/>
                <a:sym typeface="Times New Roman"/>
              </a:rPr>
              <a:t>Reservation→ Informed Consent Onboarding→Experience </a:t>
            </a:r>
          </a:p>
        </p:txBody>
      </p:sp>
      <p:sp>
        <p:nvSpPr>
          <p:cNvPr id="25" name="TextBox 25"/>
          <p:cNvSpPr txBox="1"/>
          <p:nvPr/>
        </p:nvSpPr>
        <p:spPr>
          <a:xfrm>
            <a:off x="474187" y="8483976"/>
            <a:ext cx="4447729" cy="361950"/>
          </a:xfrm>
          <a:prstGeom prst="rect">
            <a:avLst/>
          </a:prstGeom>
        </p:spPr>
        <p:txBody>
          <a:bodyPr lIns="0" tIns="0" rIns="0" bIns="0" rtlCol="0" anchor="t">
            <a:spAutoFit/>
          </a:bodyPr>
          <a:lstStyle/>
          <a:p>
            <a:pPr marL="416244" lvl="1" indent="-208122" algn="l">
              <a:lnSpc>
                <a:spcPts val="2760"/>
              </a:lnSpc>
              <a:buFont typeface="Arial"/>
              <a:buChar char="•"/>
            </a:pPr>
            <a:r>
              <a:rPr lang="en-US" sz="2300" b="1">
                <a:solidFill>
                  <a:srgbClr val="1E4C9A"/>
                </a:solidFill>
                <a:latin typeface="Times New Roman"/>
                <a:ea typeface="Times New Roman"/>
                <a:cs typeface="Times New Roman"/>
                <a:sym typeface="Times New Roman"/>
              </a:rPr>
              <a:t>1 design document produced:</a:t>
            </a:r>
          </a:p>
        </p:txBody>
      </p:sp>
      <p:sp>
        <p:nvSpPr>
          <p:cNvPr id="26" name="TextBox 26"/>
          <p:cNvSpPr txBox="1"/>
          <p:nvPr/>
        </p:nvSpPr>
        <p:spPr>
          <a:xfrm>
            <a:off x="2977401" y="6263572"/>
            <a:ext cx="361345" cy="903821"/>
          </a:xfrm>
          <a:prstGeom prst="rect">
            <a:avLst/>
          </a:prstGeom>
        </p:spPr>
        <p:txBody>
          <a:bodyPr lIns="0" tIns="0" rIns="0" bIns="0" rtlCol="0" anchor="t">
            <a:spAutoFit/>
          </a:bodyPr>
          <a:lstStyle/>
          <a:p>
            <a:pPr algn="ctr">
              <a:lnSpc>
                <a:spcPts val="6828"/>
              </a:lnSpc>
            </a:pPr>
            <a:r>
              <a:rPr lang="en-US" sz="5690" b="1">
                <a:solidFill>
                  <a:srgbClr val="63C5C7"/>
                </a:solidFill>
                <a:latin typeface="Times New Roman"/>
                <a:ea typeface="Times New Roman"/>
                <a:cs typeface="Times New Roman"/>
                <a:sym typeface="Times New Roman"/>
              </a:rPr>
              <a:t>2</a:t>
            </a:r>
          </a:p>
        </p:txBody>
      </p:sp>
      <p:grpSp>
        <p:nvGrpSpPr>
          <p:cNvPr id="27" name="Group 27"/>
          <p:cNvGrpSpPr/>
          <p:nvPr/>
        </p:nvGrpSpPr>
        <p:grpSpPr>
          <a:xfrm>
            <a:off x="5849300" y="6191354"/>
            <a:ext cx="5924020" cy="3915692"/>
            <a:chOff x="0" y="0"/>
            <a:chExt cx="1560236" cy="1031293"/>
          </a:xfrm>
        </p:grpSpPr>
        <p:sp>
          <p:nvSpPr>
            <p:cNvPr id="28" name="Freeform 28"/>
            <p:cNvSpPr/>
            <p:nvPr/>
          </p:nvSpPr>
          <p:spPr>
            <a:xfrm>
              <a:off x="0" y="0"/>
              <a:ext cx="1560236" cy="1031293"/>
            </a:xfrm>
            <a:custGeom>
              <a:avLst/>
              <a:gdLst/>
              <a:ahLst/>
              <a:cxnLst/>
              <a:rect l="l" t="t" r="r" b="b"/>
              <a:pathLst>
                <a:path w="1560236" h="1031293">
                  <a:moveTo>
                    <a:pt x="0" y="0"/>
                  </a:moveTo>
                  <a:lnTo>
                    <a:pt x="1560236" y="0"/>
                  </a:lnTo>
                  <a:lnTo>
                    <a:pt x="1560236" y="1031293"/>
                  </a:lnTo>
                  <a:lnTo>
                    <a:pt x="0" y="1031293"/>
                  </a:lnTo>
                  <a:close/>
                </a:path>
              </a:pathLst>
            </a:custGeom>
            <a:solidFill>
              <a:srgbClr val="EBF6FC"/>
            </a:solidFill>
            <a:ln w="9525" cap="sq">
              <a:solidFill>
                <a:srgbClr val="67A0DA"/>
              </a:solidFill>
              <a:prstDash val="solid"/>
              <a:miter/>
            </a:ln>
          </p:spPr>
        </p:sp>
        <p:sp>
          <p:nvSpPr>
            <p:cNvPr id="29" name="TextBox 29"/>
            <p:cNvSpPr txBox="1"/>
            <p:nvPr/>
          </p:nvSpPr>
          <p:spPr>
            <a:xfrm>
              <a:off x="0" y="-28575"/>
              <a:ext cx="1560236" cy="1059868"/>
            </a:xfrm>
            <a:prstGeom prst="rect">
              <a:avLst/>
            </a:prstGeom>
          </p:spPr>
          <p:txBody>
            <a:bodyPr lIns="50800" tIns="50800" rIns="50800" bIns="50800" rtlCol="0" anchor="ctr"/>
            <a:lstStyle/>
            <a:p>
              <a:pPr algn="ctr">
                <a:lnSpc>
                  <a:spcPts val="2833"/>
                </a:lnSpc>
              </a:pPr>
              <a:endParaRPr/>
            </a:p>
          </p:txBody>
        </p:sp>
      </p:grpSp>
      <p:sp>
        <p:nvSpPr>
          <p:cNvPr id="30" name="Freeform 30"/>
          <p:cNvSpPr/>
          <p:nvPr/>
        </p:nvSpPr>
        <p:spPr>
          <a:xfrm>
            <a:off x="7694181" y="2919804"/>
            <a:ext cx="2123329" cy="3156985"/>
          </a:xfrm>
          <a:custGeom>
            <a:avLst/>
            <a:gdLst/>
            <a:ahLst/>
            <a:cxnLst/>
            <a:rect l="l" t="t" r="r" b="b"/>
            <a:pathLst>
              <a:path w="2002967" h="3051031">
                <a:moveTo>
                  <a:pt x="0" y="0"/>
                </a:moveTo>
                <a:lnTo>
                  <a:pt x="2002967" y="0"/>
                </a:lnTo>
                <a:lnTo>
                  <a:pt x="2002967" y="3051031"/>
                </a:lnTo>
                <a:lnTo>
                  <a:pt x="0" y="3051031"/>
                </a:lnTo>
                <a:lnTo>
                  <a:pt x="0" y="0"/>
                </a:lnTo>
                <a:close/>
              </a:path>
            </a:pathLst>
          </a:custGeom>
          <a:blipFill>
            <a:blip r:embed="rId7"/>
            <a:stretch>
              <a:fillRect l="-225411" t="-7711" r="-185571" b="-4455"/>
            </a:stretch>
          </a:blipFill>
        </p:spPr>
      </p:sp>
      <p:sp>
        <p:nvSpPr>
          <p:cNvPr id="31" name="Freeform 31"/>
          <p:cNvSpPr/>
          <p:nvPr/>
        </p:nvSpPr>
        <p:spPr>
          <a:xfrm>
            <a:off x="6546560" y="7558160"/>
            <a:ext cx="750700" cy="412885"/>
          </a:xfrm>
          <a:custGeom>
            <a:avLst/>
            <a:gdLst/>
            <a:ahLst/>
            <a:cxnLst/>
            <a:rect l="l" t="t" r="r" b="b"/>
            <a:pathLst>
              <a:path w="750700" h="412885">
                <a:moveTo>
                  <a:pt x="0" y="0"/>
                </a:moveTo>
                <a:lnTo>
                  <a:pt x="750700" y="0"/>
                </a:lnTo>
                <a:lnTo>
                  <a:pt x="750700" y="412885"/>
                </a:lnTo>
                <a:lnTo>
                  <a:pt x="0" y="41288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2" name="Freeform 32"/>
          <p:cNvSpPr/>
          <p:nvPr/>
        </p:nvSpPr>
        <p:spPr>
          <a:xfrm>
            <a:off x="6576097" y="8399670"/>
            <a:ext cx="721163" cy="504814"/>
          </a:xfrm>
          <a:custGeom>
            <a:avLst/>
            <a:gdLst/>
            <a:ahLst/>
            <a:cxnLst/>
            <a:rect l="l" t="t" r="r" b="b"/>
            <a:pathLst>
              <a:path w="721163" h="504814">
                <a:moveTo>
                  <a:pt x="0" y="0"/>
                </a:moveTo>
                <a:lnTo>
                  <a:pt x="721163" y="0"/>
                </a:lnTo>
                <a:lnTo>
                  <a:pt x="721163" y="504814"/>
                </a:lnTo>
                <a:lnTo>
                  <a:pt x="0" y="50481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3" name="Freeform 33"/>
          <p:cNvSpPr/>
          <p:nvPr/>
        </p:nvSpPr>
        <p:spPr>
          <a:xfrm>
            <a:off x="6700580" y="9248869"/>
            <a:ext cx="596680" cy="590713"/>
          </a:xfrm>
          <a:custGeom>
            <a:avLst/>
            <a:gdLst/>
            <a:ahLst/>
            <a:cxnLst/>
            <a:rect l="l" t="t" r="r" b="b"/>
            <a:pathLst>
              <a:path w="596680" h="590713">
                <a:moveTo>
                  <a:pt x="0" y="0"/>
                </a:moveTo>
                <a:lnTo>
                  <a:pt x="596680" y="0"/>
                </a:lnTo>
                <a:lnTo>
                  <a:pt x="596680" y="590714"/>
                </a:lnTo>
                <a:lnTo>
                  <a:pt x="0" y="59071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4" name="TextBox 34"/>
          <p:cNvSpPr txBox="1"/>
          <p:nvPr/>
        </p:nvSpPr>
        <p:spPr>
          <a:xfrm>
            <a:off x="6063974" y="2283900"/>
            <a:ext cx="5705210" cy="571500"/>
          </a:xfrm>
          <a:prstGeom prst="rect">
            <a:avLst/>
          </a:prstGeom>
        </p:spPr>
        <p:txBody>
          <a:bodyPr lIns="0" tIns="0" rIns="0" bIns="0" rtlCol="0" anchor="t">
            <a:spAutoFit/>
          </a:bodyPr>
          <a:lstStyle/>
          <a:p>
            <a:pPr algn="ctr">
              <a:lnSpc>
                <a:spcPts val="4320"/>
              </a:lnSpc>
            </a:pPr>
            <a:r>
              <a:rPr lang="en-US" sz="3600" b="1">
                <a:solidFill>
                  <a:srgbClr val="1DAE93"/>
                </a:solidFill>
                <a:latin typeface="Times New Roman"/>
                <a:ea typeface="Times New Roman"/>
                <a:cs typeface="Times New Roman"/>
                <a:sym typeface="Times New Roman"/>
              </a:rPr>
              <a:t>Develop Application System</a:t>
            </a:r>
          </a:p>
        </p:txBody>
      </p:sp>
      <p:sp>
        <p:nvSpPr>
          <p:cNvPr id="35" name="TextBox 35"/>
          <p:cNvSpPr txBox="1"/>
          <p:nvPr/>
        </p:nvSpPr>
        <p:spPr>
          <a:xfrm>
            <a:off x="7603469" y="7400191"/>
            <a:ext cx="3680623" cy="733425"/>
          </a:xfrm>
          <a:prstGeom prst="rect">
            <a:avLst/>
          </a:prstGeom>
        </p:spPr>
        <p:txBody>
          <a:bodyPr lIns="0" tIns="0" rIns="0" bIns="0" rtlCol="0" anchor="t">
            <a:spAutoFit/>
          </a:bodyPr>
          <a:lstStyle/>
          <a:p>
            <a:pPr algn="l">
              <a:lnSpc>
                <a:spcPts val="2880"/>
              </a:lnSpc>
            </a:pPr>
            <a:r>
              <a:rPr lang="en-US" sz="2400" b="1">
                <a:solidFill>
                  <a:srgbClr val="1E4C9A"/>
                </a:solidFill>
                <a:latin typeface="Times New Roman"/>
                <a:ea typeface="Times New Roman"/>
                <a:cs typeface="Times New Roman"/>
                <a:sym typeface="Times New Roman"/>
              </a:rPr>
              <a:t>1. Public Shuttle-Speed Leaderboard</a:t>
            </a:r>
          </a:p>
        </p:txBody>
      </p:sp>
      <p:sp>
        <p:nvSpPr>
          <p:cNvPr id="36" name="TextBox 36"/>
          <p:cNvSpPr txBox="1"/>
          <p:nvPr/>
        </p:nvSpPr>
        <p:spPr>
          <a:xfrm>
            <a:off x="7603469" y="8234435"/>
            <a:ext cx="3680623" cy="733425"/>
          </a:xfrm>
          <a:prstGeom prst="rect">
            <a:avLst/>
          </a:prstGeom>
        </p:spPr>
        <p:txBody>
          <a:bodyPr lIns="0" tIns="0" rIns="0" bIns="0" rtlCol="0" anchor="t">
            <a:spAutoFit/>
          </a:bodyPr>
          <a:lstStyle/>
          <a:p>
            <a:pPr algn="l">
              <a:lnSpc>
                <a:spcPts val="2880"/>
              </a:lnSpc>
            </a:pPr>
            <a:r>
              <a:rPr lang="en-US" sz="2400" b="1">
                <a:solidFill>
                  <a:srgbClr val="1E4C9A"/>
                </a:solidFill>
                <a:latin typeface="Times New Roman"/>
                <a:ea typeface="Times New Roman"/>
                <a:cs typeface="Times New Roman"/>
                <a:sym typeface="Times New Roman"/>
              </a:rPr>
              <a:t>2. Sports Video Clip Download</a:t>
            </a:r>
          </a:p>
        </p:txBody>
      </p:sp>
      <p:sp>
        <p:nvSpPr>
          <p:cNvPr id="37" name="TextBox 37"/>
          <p:cNvSpPr txBox="1"/>
          <p:nvPr/>
        </p:nvSpPr>
        <p:spPr>
          <a:xfrm>
            <a:off x="7603469" y="9082425"/>
            <a:ext cx="3680623" cy="733425"/>
          </a:xfrm>
          <a:prstGeom prst="rect">
            <a:avLst/>
          </a:prstGeom>
        </p:spPr>
        <p:txBody>
          <a:bodyPr lIns="0" tIns="0" rIns="0" bIns="0" rtlCol="0" anchor="t">
            <a:spAutoFit/>
          </a:bodyPr>
          <a:lstStyle/>
          <a:p>
            <a:pPr algn="l">
              <a:lnSpc>
                <a:spcPts val="2880"/>
              </a:lnSpc>
            </a:pPr>
            <a:r>
              <a:rPr lang="en-US" sz="2400" b="1">
                <a:solidFill>
                  <a:srgbClr val="1E4C9A"/>
                </a:solidFill>
                <a:latin typeface="Times New Roman"/>
                <a:ea typeface="Times New Roman"/>
                <a:cs typeface="Times New Roman"/>
                <a:sym typeface="Times New Roman"/>
              </a:rPr>
              <a:t>3. Serving Machine Module Upgrade</a:t>
            </a:r>
          </a:p>
        </p:txBody>
      </p:sp>
      <p:sp>
        <p:nvSpPr>
          <p:cNvPr id="38" name="TextBox 38"/>
          <p:cNvSpPr txBox="1"/>
          <p:nvPr/>
        </p:nvSpPr>
        <p:spPr>
          <a:xfrm>
            <a:off x="7095848" y="6426723"/>
            <a:ext cx="3435458" cy="838200"/>
          </a:xfrm>
          <a:prstGeom prst="rect">
            <a:avLst/>
          </a:prstGeom>
        </p:spPr>
        <p:txBody>
          <a:bodyPr lIns="0" tIns="0" rIns="0" bIns="0" rtlCol="0" anchor="t">
            <a:spAutoFit/>
          </a:bodyPr>
          <a:lstStyle/>
          <a:p>
            <a:pPr algn="ctr">
              <a:lnSpc>
                <a:spcPts val="3240"/>
              </a:lnSpc>
              <a:spcBef>
                <a:spcPct val="0"/>
              </a:spcBef>
            </a:pPr>
            <a:r>
              <a:rPr lang="en-US" sz="2700" b="1">
                <a:solidFill>
                  <a:srgbClr val="1DAE93"/>
                </a:solidFill>
                <a:latin typeface="Times New Roman"/>
                <a:ea typeface="Times New Roman"/>
                <a:cs typeface="Times New Roman"/>
                <a:sym typeface="Times New Roman"/>
              </a:rPr>
              <a:t>Integrated with LINE for real-time display</a:t>
            </a:r>
          </a:p>
        </p:txBody>
      </p:sp>
      <p:grpSp>
        <p:nvGrpSpPr>
          <p:cNvPr id="39" name="Group 2">
            <a:extLst>
              <a:ext uri="{FF2B5EF4-FFF2-40B4-BE49-F238E27FC236}">
                <a16:creationId xmlns:a16="http://schemas.microsoft.com/office/drawing/2014/main" id="{0740A20F-39AF-8FA8-8744-D61B91D32294}"/>
              </a:ext>
            </a:extLst>
          </p:cNvPr>
          <p:cNvGrpSpPr/>
          <p:nvPr/>
        </p:nvGrpSpPr>
        <p:grpSpPr>
          <a:xfrm>
            <a:off x="0" y="-38100"/>
            <a:ext cx="18288000" cy="3744230"/>
            <a:chOff x="0" y="0"/>
            <a:chExt cx="24384000" cy="4992306"/>
          </a:xfrm>
        </p:grpSpPr>
        <p:sp>
          <p:nvSpPr>
            <p:cNvPr id="40" name="Freeform 3" descr="一張含有 黑暗, 黑色, 螢幕擷取畫面, 光線 的圖片  AI 產生的內容可能不正確。">
              <a:extLst>
                <a:ext uri="{FF2B5EF4-FFF2-40B4-BE49-F238E27FC236}">
                  <a16:creationId xmlns:a16="http://schemas.microsoft.com/office/drawing/2014/main" id="{09E3F1E3-D474-68EE-8630-6C6470FD82A9}"/>
                </a:ext>
              </a:extLst>
            </p:cNvPr>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14"/>
              <a:stretch>
                <a:fillRect b="-1"/>
              </a:stretch>
            </a:blipFill>
          </p:spPr>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63408" y="599237"/>
            <a:ext cx="1103243" cy="551059"/>
            <a:chOff x="0" y="0"/>
            <a:chExt cx="1470990" cy="734746"/>
          </a:xfrm>
        </p:grpSpPr>
        <p:sp>
          <p:nvSpPr>
            <p:cNvPr id="3" name="Freeform 3"/>
            <p:cNvSpPr/>
            <p:nvPr/>
          </p:nvSpPr>
          <p:spPr>
            <a:xfrm>
              <a:off x="0" y="0"/>
              <a:ext cx="1471041" cy="734695"/>
            </a:xfrm>
            <a:custGeom>
              <a:avLst/>
              <a:gdLst/>
              <a:ahLst/>
              <a:cxnLst/>
              <a:rect l="l" t="t" r="r" b="b"/>
              <a:pathLst>
                <a:path w="1471041" h="734695">
                  <a:moveTo>
                    <a:pt x="0" y="0"/>
                  </a:moveTo>
                  <a:lnTo>
                    <a:pt x="1471041" y="0"/>
                  </a:lnTo>
                  <a:lnTo>
                    <a:pt x="1471041" y="734695"/>
                  </a:lnTo>
                  <a:lnTo>
                    <a:pt x="0" y="734695"/>
                  </a:lnTo>
                  <a:lnTo>
                    <a:pt x="0" y="0"/>
                  </a:lnTo>
                  <a:close/>
                </a:path>
              </a:pathLst>
            </a:custGeom>
            <a:blipFill>
              <a:blip r:embed="rId3"/>
              <a:stretch>
                <a:fillRect t="-221" r="3" b="-226"/>
              </a:stretch>
            </a:blipFill>
          </p:spPr>
        </p:sp>
      </p:grpSp>
      <p:grpSp>
        <p:nvGrpSpPr>
          <p:cNvPr id="4" name="Group 4"/>
          <p:cNvGrpSpPr/>
          <p:nvPr/>
        </p:nvGrpSpPr>
        <p:grpSpPr>
          <a:xfrm>
            <a:off x="0" y="25403"/>
            <a:ext cx="18288000" cy="3744230"/>
            <a:chOff x="0" y="0"/>
            <a:chExt cx="24384000" cy="4992306"/>
          </a:xfrm>
        </p:grpSpPr>
        <p:sp>
          <p:nvSpPr>
            <p:cNvPr id="5" name="Freeform 5" descr="一張含有 黑暗, 黑色, 螢幕擷取畫面, 光線 的圖片  AI 產生的內容可能不正確。"/>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4"/>
              <a:stretch>
                <a:fillRect b="-1"/>
              </a:stretch>
            </a:blipFill>
          </p:spPr>
        </p:sp>
      </p:grpSp>
      <p:sp>
        <p:nvSpPr>
          <p:cNvPr id="8" name="TextBox 8"/>
          <p:cNvSpPr txBox="1"/>
          <p:nvPr/>
        </p:nvSpPr>
        <p:spPr>
          <a:xfrm>
            <a:off x="897157" y="1852058"/>
            <a:ext cx="14985605" cy="1394460"/>
          </a:xfrm>
          <a:prstGeom prst="rect">
            <a:avLst/>
          </a:prstGeom>
        </p:spPr>
        <p:txBody>
          <a:bodyPr lIns="0" tIns="0" rIns="0" bIns="0" rtlCol="0" anchor="ctr"/>
          <a:lstStyle/>
          <a:p>
            <a:pPr algn="l">
              <a:lnSpc>
                <a:spcPts val="4284"/>
              </a:lnSpc>
            </a:pPr>
            <a:r>
              <a:rPr lang="en-US" altLang="zh-TW" sz="5100" b="1" dirty="0">
                <a:solidFill>
                  <a:srgbClr val="002060"/>
                </a:solidFill>
                <a:latin typeface="Times New Roman"/>
                <a:cs typeface="Times New Roman"/>
              </a:rPr>
              <a:t>Future Development of the Sports Data Platform</a:t>
            </a:r>
            <a:endParaRPr lang="en-US" sz="5100" b="1" dirty="0">
              <a:solidFill>
                <a:srgbClr val="002060"/>
              </a:solidFill>
              <a:latin typeface="Times New Roman"/>
              <a:ea typeface="Times New Roman"/>
              <a:cs typeface="Times New Roman"/>
              <a:sym typeface="Times New Roman"/>
            </a:endParaRPr>
          </a:p>
        </p:txBody>
      </p:sp>
      <p:grpSp>
        <p:nvGrpSpPr>
          <p:cNvPr id="9" name="Group 9"/>
          <p:cNvGrpSpPr/>
          <p:nvPr/>
        </p:nvGrpSpPr>
        <p:grpSpPr>
          <a:xfrm>
            <a:off x="897157" y="3992875"/>
            <a:ext cx="2769635" cy="2769635"/>
            <a:chOff x="0" y="0"/>
            <a:chExt cx="3692847" cy="3692847"/>
          </a:xfrm>
        </p:grpSpPr>
        <p:grpSp>
          <p:nvGrpSpPr>
            <p:cNvPr id="10" name="Group 10"/>
            <p:cNvGrpSpPr/>
            <p:nvPr/>
          </p:nvGrpSpPr>
          <p:grpSpPr>
            <a:xfrm>
              <a:off x="0" y="0"/>
              <a:ext cx="3692847" cy="3692847"/>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6EBF9"/>
              </a:solidFill>
            </p:spPr>
          </p:sp>
          <p:sp>
            <p:nvSpPr>
              <p:cNvPr id="12" name="TextBox 12"/>
              <p:cNvSpPr txBox="1"/>
              <p:nvPr/>
            </p:nvSpPr>
            <p:spPr>
              <a:xfrm>
                <a:off x="76200" y="57150"/>
                <a:ext cx="660400" cy="679450"/>
              </a:xfrm>
              <a:prstGeom prst="rect">
                <a:avLst/>
              </a:prstGeom>
            </p:spPr>
            <p:txBody>
              <a:bodyPr lIns="50800" tIns="50800" rIns="50800" bIns="50800" rtlCol="0" anchor="ctr"/>
              <a:lstStyle/>
              <a:p>
                <a:pPr algn="ctr">
                  <a:lnSpc>
                    <a:spcPts val="2520"/>
                  </a:lnSpc>
                </a:pPr>
                <a:endParaRPr/>
              </a:p>
            </p:txBody>
          </p:sp>
        </p:grpSp>
        <p:sp>
          <p:nvSpPr>
            <p:cNvPr id="13" name="Freeform 13"/>
            <p:cNvSpPr/>
            <p:nvPr/>
          </p:nvSpPr>
          <p:spPr>
            <a:xfrm>
              <a:off x="621669" y="709505"/>
              <a:ext cx="2296069" cy="2215707"/>
            </a:xfrm>
            <a:custGeom>
              <a:avLst/>
              <a:gdLst/>
              <a:ahLst/>
              <a:cxnLst/>
              <a:rect l="l" t="t" r="r" b="b"/>
              <a:pathLst>
                <a:path w="2296069" h="2215707">
                  <a:moveTo>
                    <a:pt x="0" y="0"/>
                  </a:moveTo>
                  <a:lnTo>
                    <a:pt x="2296069" y="0"/>
                  </a:lnTo>
                  <a:lnTo>
                    <a:pt x="2296069" y="2215707"/>
                  </a:lnTo>
                  <a:lnTo>
                    <a:pt x="0" y="221570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grpSp>
        <p:nvGrpSpPr>
          <p:cNvPr id="14" name="Group 14"/>
          <p:cNvGrpSpPr/>
          <p:nvPr/>
        </p:nvGrpSpPr>
        <p:grpSpPr>
          <a:xfrm>
            <a:off x="5208452" y="3971077"/>
            <a:ext cx="2769635" cy="2769635"/>
            <a:chOff x="0" y="0"/>
            <a:chExt cx="3692847" cy="3692847"/>
          </a:xfrm>
        </p:grpSpPr>
        <p:grpSp>
          <p:nvGrpSpPr>
            <p:cNvPr id="15" name="Group 15"/>
            <p:cNvGrpSpPr/>
            <p:nvPr/>
          </p:nvGrpSpPr>
          <p:grpSpPr>
            <a:xfrm>
              <a:off x="0" y="0"/>
              <a:ext cx="3692847" cy="369284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6EBF9"/>
              </a:solidFill>
            </p:spPr>
          </p:sp>
          <p:sp>
            <p:nvSpPr>
              <p:cNvPr id="17" name="TextBox 17"/>
              <p:cNvSpPr txBox="1"/>
              <p:nvPr/>
            </p:nvSpPr>
            <p:spPr>
              <a:xfrm>
                <a:off x="76200" y="57150"/>
                <a:ext cx="660400" cy="679450"/>
              </a:xfrm>
              <a:prstGeom prst="rect">
                <a:avLst/>
              </a:prstGeom>
            </p:spPr>
            <p:txBody>
              <a:bodyPr lIns="50800" tIns="50800" rIns="50800" bIns="50800" rtlCol="0" anchor="ctr"/>
              <a:lstStyle/>
              <a:p>
                <a:pPr algn="ctr">
                  <a:lnSpc>
                    <a:spcPts val="2520"/>
                  </a:lnSpc>
                </a:pPr>
                <a:endParaRPr/>
              </a:p>
            </p:txBody>
          </p:sp>
        </p:grpSp>
        <p:sp>
          <p:nvSpPr>
            <p:cNvPr id="18" name="Freeform 18"/>
            <p:cNvSpPr/>
            <p:nvPr/>
          </p:nvSpPr>
          <p:spPr>
            <a:xfrm>
              <a:off x="561466" y="776850"/>
              <a:ext cx="2569914" cy="2197276"/>
            </a:xfrm>
            <a:custGeom>
              <a:avLst/>
              <a:gdLst/>
              <a:ahLst/>
              <a:cxnLst/>
              <a:rect l="l" t="t" r="r" b="b"/>
              <a:pathLst>
                <a:path w="2569914" h="2197276">
                  <a:moveTo>
                    <a:pt x="0" y="0"/>
                  </a:moveTo>
                  <a:lnTo>
                    <a:pt x="2569914" y="0"/>
                  </a:lnTo>
                  <a:lnTo>
                    <a:pt x="2569914" y="2197276"/>
                  </a:lnTo>
                  <a:lnTo>
                    <a:pt x="0" y="219727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grpSp>
        <p:nvGrpSpPr>
          <p:cNvPr id="19" name="Group 19"/>
          <p:cNvGrpSpPr/>
          <p:nvPr/>
        </p:nvGrpSpPr>
        <p:grpSpPr>
          <a:xfrm>
            <a:off x="9519747" y="3971077"/>
            <a:ext cx="2769635" cy="2769635"/>
            <a:chOff x="0" y="0"/>
            <a:chExt cx="3692847" cy="3692847"/>
          </a:xfrm>
        </p:grpSpPr>
        <p:grpSp>
          <p:nvGrpSpPr>
            <p:cNvPr id="20" name="Group 20"/>
            <p:cNvGrpSpPr/>
            <p:nvPr/>
          </p:nvGrpSpPr>
          <p:grpSpPr>
            <a:xfrm>
              <a:off x="0" y="0"/>
              <a:ext cx="3692847" cy="3692847"/>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6EBF9"/>
              </a:solidFill>
            </p:spPr>
          </p:sp>
          <p:sp>
            <p:nvSpPr>
              <p:cNvPr id="22" name="TextBox 22"/>
              <p:cNvSpPr txBox="1"/>
              <p:nvPr/>
            </p:nvSpPr>
            <p:spPr>
              <a:xfrm>
                <a:off x="76200" y="57150"/>
                <a:ext cx="660400" cy="679450"/>
              </a:xfrm>
              <a:prstGeom prst="rect">
                <a:avLst/>
              </a:prstGeom>
            </p:spPr>
            <p:txBody>
              <a:bodyPr lIns="50800" tIns="50800" rIns="50800" bIns="50800" rtlCol="0" anchor="ctr"/>
              <a:lstStyle/>
              <a:p>
                <a:pPr algn="ctr">
                  <a:lnSpc>
                    <a:spcPts val="2520"/>
                  </a:lnSpc>
                </a:pPr>
                <a:endParaRPr/>
              </a:p>
            </p:txBody>
          </p:sp>
        </p:grpSp>
        <p:sp>
          <p:nvSpPr>
            <p:cNvPr id="23" name="Freeform 23"/>
            <p:cNvSpPr/>
            <p:nvPr/>
          </p:nvSpPr>
          <p:spPr>
            <a:xfrm>
              <a:off x="805321" y="792499"/>
              <a:ext cx="2165979" cy="2165979"/>
            </a:xfrm>
            <a:custGeom>
              <a:avLst/>
              <a:gdLst/>
              <a:ahLst/>
              <a:cxnLst/>
              <a:rect l="l" t="t" r="r" b="b"/>
              <a:pathLst>
                <a:path w="2165979" h="2165979">
                  <a:moveTo>
                    <a:pt x="0" y="0"/>
                  </a:moveTo>
                  <a:lnTo>
                    <a:pt x="2165978" y="0"/>
                  </a:lnTo>
                  <a:lnTo>
                    <a:pt x="2165978" y="2165979"/>
                  </a:lnTo>
                  <a:lnTo>
                    <a:pt x="0" y="216597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grpSp>
        <p:nvGrpSpPr>
          <p:cNvPr id="24" name="Group 24"/>
          <p:cNvGrpSpPr/>
          <p:nvPr/>
        </p:nvGrpSpPr>
        <p:grpSpPr>
          <a:xfrm>
            <a:off x="13831042" y="3971077"/>
            <a:ext cx="2769635" cy="2769635"/>
            <a:chOff x="0" y="0"/>
            <a:chExt cx="3692847" cy="3692847"/>
          </a:xfrm>
        </p:grpSpPr>
        <p:grpSp>
          <p:nvGrpSpPr>
            <p:cNvPr id="25" name="Group 25"/>
            <p:cNvGrpSpPr/>
            <p:nvPr/>
          </p:nvGrpSpPr>
          <p:grpSpPr>
            <a:xfrm>
              <a:off x="0" y="0"/>
              <a:ext cx="3692847" cy="3692847"/>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6EBF9"/>
              </a:solidFill>
            </p:spPr>
          </p:sp>
          <p:sp>
            <p:nvSpPr>
              <p:cNvPr id="27" name="TextBox 27"/>
              <p:cNvSpPr txBox="1"/>
              <p:nvPr/>
            </p:nvSpPr>
            <p:spPr>
              <a:xfrm>
                <a:off x="76200" y="57150"/>
                <a:ext cx="660400" cy="679450"/>
              </a:xfrm>
              <a:prstGeom prst="rect">
                <a:avLst/>
              </a:prstGeom>
            </p:spPr>
            <p:txBody>
              <a:bodyPr lIns="50800" tIns="50800" rIns="50800" bIns="50800" rtlCol="0" anchor="ctr"/>
              <a:lstStyle/>
              <a:p>
                <a:pPr algn="ctr">
                  <a:lnSpc>
                    <a:spcPts val="2520"/>
                  </a:lnSpc>
                </a:pPr>
                <a:endParaRPr/>
              </a:p>
            </p:txBody>
          </p:sp>
        </p:grpSp>
        <p:sp>
          <p:nvSpPr>
            <p:cNvPr id="28" name="Freeform 28"/>
            <p:cNvSpPr/>
            <p:nvPr/>
          </p:nvSpPr>
          <p:spPr>
            <a:xfrm>
              <a:off x="876101" y="796700"/>
              <a:ext cx="2157577" cy="2157577"/>
            </a:xfrm>
            <a:custGeom>
              <a:avLst/>
              <a:gdLst/>
              <a:ahLst/>
              <a:cxnLst/>
              <a:rect l="l" t="t" r="r" b="b"/>
              <a:pathLst>
                <a:path w="2157577" h="2157577">
                  <a:moveTo>
                    <a:pt x="0" y="0"/>
                  </a:moveTo>
                  <a:lnTo>
                    <a:pt x="2157577" y="0"/>
                  </a:lnTo>
                  <a:lnTo>
                    <a:pt x="2157577" y="2157577"/>
                  </a:lnTo>
                  <a:lnTo>
                    <a:pt x="0" y="215757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sp>
        <p:nvSpPr>
          <p:cNvPr id="29" name="TextBox 29"/>
          <p:cNvSpPr txBox="1"/>
          <p:nvPr/>
        </p:nvSpPr>
        <p:spPr>
          <a:xfrm>
            <a:off x="750766" y="6977944"/>
            <a:ext cx="2947338" cy="333375"/>
          </a:xfrm>
          <a:prstGeom prst="rect">
            <a:avLst/>
          </a:prstGeom>
        </p:spPr>
        <p:txBody>
          <a:bodyPr lIns="0" tIns="0" rIns="0" bIns="0" rtlCol="0" anchor="t">
            <a:spAutoFit/>
          </a:bodyPr>
          <a:lstStyle/>
          <a:p>
            <a:pPr algn="ctr">
              <a:lnSpc>
                <a:spcPts val="2520"/>
              </a:lnSpc>
            </a:pPr>
            <a:r>
              <a:rPr lang="en-US" sz="2100" b="1" dirty="0">
                <a:solidFill>
                  <a:srgbClr val="1DAE93"/>
                </a:solidFill>
                <a:latin typeface="Times New Roman"/>
                <a:ea typeface="Times New Roman"/>
                <a:cs typeface="Times New Roman"/>
                <a:sym typeface="Times New Roman"/>
              </a:rPr>
              <a:t>Diverse Business Models</a:t>
            </a:r>
          </a:p>
        </p:txBody>
      </p:sp>
      <p:sp>
        <p:nvSpPr>
          <p:cNvPr id="30" name="TextBox 30"/>
          <p:cNvSpPr txBox="1"/>
          <p:nvPr/>
        </p:nvSpPr>
        <p:spPr>
          <a:xfrm>
            <a:off x="4212803" y="6966702"/>
            <a:ext cx="4552100" cy="333375"/>
          </a:xfrm>
          <a:prstGeom prst="rect">
            <a:avLst/>
          </a:prstGeom>
        </p:spPr>
        <p:txBody>
          <a:bodyPr lIns="0" tIns="0" rIns="0" bIns="0" rtlCol="0" anchor="t">
            <a:spAutoFit/>
          </a:bodyPr>
          <a:lstStyle/>
          <a:p>
            <a:pPr algn="ctr">
              <a:lnSpc>
                <a:spcPts val="2520"/>
              </a:lnSpc>
            </a:pPr>
            <a:r>
              <a:rPr lang="en-US" sz="2100" b="1" dirty="0">
                <a:solidFill>
                  <a:srgbClr val="1DAE93"/>
                </a:solidFill>
                <a:latin typeface="Times New Roman"/>
                <a:ea typeface="Times New Roman"/>
                <a:cs typeface="Times New Roman"/>
                <a:sym typeface="Times New Roman"/>
              </a:rPr>
              <a:t>Standardized Integration Framework</a:t>
            </a:r>
          </a:p>
        </p:txBody>
      </p:sp>
      <p:sp>
        <p:nvSpPr>
          <p:cNvPr id="31" name="TextBox 31"/>
          <p:cNvSpPr txBox="1"/>
          <p:nvPr/>
        </p:nvSpPr>
        <p:spPr>
          <a:xfrm>
            <a:off x="9144000" y="6966702"/>
            <a:ext cx="3814011" cy="333375"/>
          </a:xfrm>
          <a:prstGeom prst="rect">
            <a:avLst/>
          </a:prstGeom>
        </p:spPr>
        <p:txBody>
          <a:bodyPr lIns="0" tIns="0" rIns="0" bIns="0" rtlCol="0" anchor="t">
            <a:spAutoFit/>
          </a:bodyPr>
          <a:lstStyle/>
          <a:p>
            <a:pPr algn="ctr">
              <a:lnSpc>
                <a:spcPts val="2520"/>
              </a:lnSpc>
            </a:pPr>
            <a:r>
              <a:rPr lang="en-US" sz="2100" b="1" dirty="0">
                <a:solidFill>
                  <a:srgbClr val="1DAE93"/>
                </a:solidFill>
                <a:latin typeface="Times New Roman"/>
                <a:ea typeface="Times New Roman"/>
                <a:cs typeface="Times New Roman"/>
                <a:sym typeface="Times New Roman"/>
              </a:rPr>
              <a:t>Data Application Optimization</a:t>
            </a:r>
          </a:p>
        </p:txBody>
      </p:sp>
      <p:sp>
        <p:nvSpPr>
          <p:cNvPr id="32" name="TextBox 32"/>
          <p:cNvSpPr txBox="1"/>
          <p:nvPr/>
        </p:nvSpPr>
        <p:spPr>
          <a:xfrm>
            <a:off x="13452046" y="6966702"/>
            <a:ext cx="3807254" cy="333375"/>
          </a:xfrm>
          <a:prstGeom prst="rect">
            <a:avLst/>
          </a:prstGeom>
        </p:spPr>
        <p:txBody>
          <a:bodyPr lIns="0" tIns="0" rIns="0" bIns="0" rtlCol="0" anchor="t">
            <a:spAutoFit/>
          </a:bodyPr>
          <a:lstStyle/>
          <a:p>
            <a:pPr algn="ctr">
              <a:lnSpc>
                <a:spcPts val="2520"/>
              </a:lnSpc>
            </a:pPr>
            <a:r>
              <a:rPr lang="en-US" sz="2100" b="1" dirty="0">
                <a:solidFill>
                  <a:srgbClr val="1DAE93"/>
                </a:solidFill>
                <a:latin typeface="Times New Roman"/>
                <a:ea typeface="Times New Roman"/>
                <a:cs typeface="Times New Roman"/>
                <a:sym typeface="Times New Roman"/>
              </a:rPr>
              <a:t>Digital Governance Innovation</a:t>
            </a:r>
          </a:p>
        </p:txBody>
      </p:sp>
      <p:sp>
        <p:nvSpPr>
          <p:cNvPr id="33" name="TextBox 33"/>
          <p:cNvSpPr txBox="1"/>
          <p:nvPr/>
        </p:nvSpPr>
        <p:spPr>
          <a:xfrm>
            <a:off x="833591" y="7505700"/>
            <a:ext cx="2927482" cy="1009650"/>
          </a:xfrm>
          <a:prstGeom prst="rect">
            <a:avLst/>
          </a:prstGeom>
        </p:spPr>
        <p:txBody>
          <a:bodyPr lIns="0" tIns="0" rIns="0" bIns="0" rtlCol="0" anchor="t">
            <a:spAutoFit/>
          </a:bodyPr>
          <a:lstStyle/>
          <a:p>
            <a:pPr algn="l">
              <a:lnSpc>
                <a:spcPts val="1980"/>
              </a:lnSpc>
            </a:pPr>
            <a:r>
              <a:rPr lang="en-US" sz="1650" dirty="0">
                <a:solidFill>
                  <a:srgbClr val="005A9E"/>
                </a:solidFill>
                <a:latin typeface="Times New Roman"/>
                <a:ea typeface="Times New Roman"/>
                <a:cs typeface="Times New Roman"/>
                <a:sym typeface="Times New Roman"/>
              </a:rPr>
              <a:t>Design tiered plans covering licensing, subscription, and revenue-sharing models to meet the needs of different partners.</a:t>
            </a:r>
          </a:p>
        </p:txBody>
      </p:sp>
      <p:sp>
        <p:nvSpPr>
          <p:cNvPr id="34" name="TextBox 34"/>
          <p:cNvSpPr txBox="1"/>
          <p:nvPr/>
        </p:nvSpPr>
        <p:spPr>
          <a:xfrm>
            <a:off x="4342904" y="7505700"/>
            <a:ext cx="4365727" cy="1085850"/>
          </a:xfrm>
          <a:prstGeom prst="rect">
            <a:avLst/>
          </a:prstGeom>
        </p:spPr>
        <p:txBody>
          <a:bodyPr lIns="0" tIns="0" rIns="0" bIns="0" rtlCol="0" anchor="t">
            <a:spAutoFit/>
          </a:bodyPr>
          <a:lstStyle/>
          <a:p>
            <a:pPr algn="l">
              <a:lnSpc>
                <a:spcPts val="2160"/>
              </a:lnSpc>
            </a:pPr>
            <a:r>
              <a:rPr lang="en-US" sz="1800" dirty="0">
                <a:solidFill>
                  <a:srgbClr val="005A9E"/>
                </a:solidFill>
                <a:latin typeface="Times New Roman"/>
                <a:ea typeface="Times New Roman"/>
                <a:cs typeface="Times New Roman"/>
                <a:sym typeface="Times New Roman"/>
              </a:rPr>
              <a:t>Develop standardized templates for data use and business partnership agreements to reduce communication costs and accelerate integration.</a:t>
            </a:r>
          </a:p>
        </p:txBody>
      </p:sp>
      <p:sp>
        <p:nvSpPr>
          <p:cNvPr id="35" name="TextBox 35"/>
          <p:cNvSpPr txBox="1"/>
          <p:nvPr/>
        </p:nvSpPr>
        <p:spPr>
          <a:xfrm>
            <a:off x="9029077" y="7505700"/>
            <a:ext cx="3750976" cy="1504950"/>
          </a:xfrm>
          <a:prstGeom prst="rect">
            <a:avLst/>
          </a:prstGeom>
        </p:spPr>
        <p:txBody>
          <a:bodyPr lIns="0" tIns="0" rIns="0" bIns="0" rtlCol="0" anchor="t">
            <a:spAutoFit/>
          </a:bodyPr>
          <a:lstStyle/>
          <a:p>
            <a:pPr marL="298609" lvl="1" indent="-149304" algn="l">
              <a:lnSpc>
                <a:spcPts val="1980"/>
              </a:lnSpc>
              <a:buFont typeface="Arial"/>
              <a:buChar char="•"/>
            </a:pPr>
            <a:r>
              <a:rPr lang="en-US" sz="1650" dirty="0">
                <a:solidFill>
                  <a:srgbClr val="005A9E"/>
                </a:solidFill>
                <a:latin typeface="Times New Roman"/>
                <a:ea typeface="Times New Roman"/>
                <a:cs typeface="Times New Roman"/>
                <a:sym typeface="Times New Roman"/>
              </a:rPr>
              <a:t>Online Registration System: Review the current status and integrate the event registration process.</a:t>
            </a:r>
          </a:p>
          <a:p>
            <a:pPr marL="298609" lvl="1" indent="-149304" algn="l">
              <a:lnSpc>
                <a:spcPts val="1980"/>
              </a:lnSpc>
              <a:buFont typeface="Arial"/>
              <a:buChar char="•"/>
            </a:pPr>
            <a:r>
              <a:rPr lang="en-US" sz="1650" dirty="0">
                <a:solidFill>
                  <a:srgbClr val="005A9E"/>
                </a:solidFill>
                <a:latin typeface="Times New Roman"/>
                <a:ea typeface="Times New Roman"/>
                <a:cs typeface="Times New Roman"/>
                <a:sym typeface="Times New Roman"/>
              </a:rPr>
              <a:t>Official Website and App Integration: Deliver a consistent, seamless cross-device user experience</a:t>
            </a:r>
          </a:p>
        </p:txBody>
      </p:sp>
      <p:sp>
        <p:nvSpPr>
          <p:cNvPr id="36" name="TextBox 36"/>
          <p:cNvSpPr txBox="1"/>
          <p:nvPr/>
        </p:nvSpPr>
        <p:spPr>
          <a:xfrm>
            <a:off x="13361077" y="7505700"/>
            <a:ext cx="4008394" cy="1752600"/>
          </a:xfrm>
          <a:prstGeom prst="rect">
            <a:avLst/>
          </a:prstGeom>
        </p:spPr>
        <p:txBody>
          <a:bodyPr lIns="0" tIns="0" rIns="0" bIns="0" rtlCol="0" anchor="t">
            <a:spAutoFit/>
          </a:bodyPr>
          <a:lstStyle/>
          <a:p>
            <a:pPr marL="298609" lvl="1" indent="-149304" algn="l">
              <a:lnSpc>
                <a:spcPts val="1980"/>
              </a:lnSpc>
              <a:buFont typeface="Arial"/>
              <a:buChar char="•"/>
            </a:pPr>
            <a:r>
              <a:rPr lang="en-US" sz="1650" dirty="0">
                <a:solidFill>
                  <a:srgbClr val="005A9E"/>
                </a:solidFill>
                <a:latin typeface="Times New Roman"/>
                <a:ea typeface="Times New Roman"/>
                <a:cs typeface="Times New Roman"/>
                <a:sym typeface="Times New Roman"/>
              </a:rPr>
              <a:t>Dynamic Authorization Governance: Provide flexible, secure data authorization tailored to different application scenarios.</a:t>
            </a:r>
          </a:p>
          <a:p>
            <a:pPr marL="298609" lvl="1" indent="-149304" algn="l">
              <a:lnSpc>
                <a:spcPts val="1980"/>
              </a:lnSpc>
              <a:buFont typeface="Arial"/>
              <a:buChar char="•"/>
            </a:pPr>
            <a:r>
              <a:rPr lang="en-US" sz="1650" dirty="0">
                <a:solidFill>
                  <a:srgbClr val="005A9E"/>
                </a:solidFill>
                <a:latin typeface="Times New Roman"/>
                <a:ea typeface="Times New Roman"/>
                <a:cs typeface="Times New Roman"/>
                <a:sym typeface="Times New Roman"/>
              </a:rPr>
              <a:t>Informed Consent Modular Service: Support customizable informed-consent signing processes to ensure regulatory compliance and user trust.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772" t="-19959" r="-25921" b="-8585"/>
            </a:stretch>
          </a:blipFill>
        </p:spPr>
      </p:sp>
      <p:sp>
        <p:nvSpPr>
          <p:cNvPr id="3" name="Freeform 3"/>
          <p:cNvSpPr/>
          <p:nvPr/>
        </p:nvSpPr>
        <p:spPr>
          <a:xfrm rot="-5400000">
            <a:off x="17451474" y="327250"/>
            <a:ext cx="111585" cy="495934"/>
          </a:xfrm>
          <a:custGeom>
            <a:avLst/>
            <a:gdLst/>
            <a:ahLst/>
            <a:cxnLst/>
            <a:rect l="l" t="t" r="r" b="b"/>
            <a:pathLst>
              <a:path w="111585" h="495934">
                <a:moveTo>
                  <a:pt x="0" y="0"/>
                </a:moveTo>
                <a:lnTo>
                  <a:pt x="111585" y="0"/>
                </a:lnTo>
                <a:lnTo>
                  <a:pt x="111585" y="495934"/>
                </a:lnTo>
                <a:lnTo>
                  <a:pt x="0" y="495934"/>
                </a:lnTo>
                <a:lnTo>
                  <a:pt x="0" y="0"/>
                </a:lnTo>
                <a:close/>
              </a:path>
            </a:pathLst>
          </a:custGeom>
          <a:blipFill>
            <a:blip r:embed="rId3">
              <a:alphaModFix amt="23000"/>
              <a:extLst>
                <a:ext uri="{96DAC541-7B7A-43D3-8B79-37D633B846F1}">
                  <asvg:svgBlip xmlns:asvg="http://schemas.microsoft.com/office/drawing/2016/SVG/main" r:embed="rId4"/>
                </a:ext>
              </a:extLst>
            </a:blip>
            <a:stretch>
              <a:fillRect/>
            </a:stretch>
          </a:blipFill>
          <a:ln cap="sq">
            <a:noFill/>
            <a:prstDash val="solid"/>
            <a:miter/>
          </a:ln>
        </p:spPr>
      </p:sp>
      <p:grpSp>
        <p:nvGrpSpPr>
          <p:cNvPr id="4" name="Group 4"/>
          <p:cNvGrpSpPr/>
          <p:nvPr/>
        </p:nvGrpSpPr>
        <p:grpSpPr>
          <a:xfrm rot="-5400000">
            <a:off x="4394336" y="-563135"/>
            <a:ext cx="9143094" cy="18803248"/>
            <a:chOff x="0" y="0"/>
            <a:chExt cx="4421594" cy="9093238"/>
          </a:xfrm>
        </p:grpSpPr>
        <p:sp>
          <p:nvSpPr>
            <p:cNvPr id="5" name="Freeform 5"/>
            <p:cNvSpPr/>
            <p:nvPr/>
          </p:nvSpPr>
          <p:spPr>
            <a:xfrm>
              <a:off x="0" y="0"/>
              <a:ext cx="4421632" cy="9093200"/>
            </a:xfrm>
            <a:custGeom>
              <a:avLst/>
              <a:gdLst/>
              <a:ahLst/>
              <a:cxnLst/>
              <a:rect l="l" t="t" r="r" b="b"/>
              <a:pathLst>
                <a:path w="4421632" h="9093200">
                  <a:moveTo>
                    <a:pt x="0" y="0"/>
                  </a:moveTo>
                  <a:lnTo>
                    <a:pt x="4421632" y="0"/>
                  </a:lnTo>
                  <a:lnTo>
                    <a:pt x="4421632" y="9093200"/>
                  </a:lnTo>
                  <a:lnTo>
                    <a:pt x="0" y="9093200"/>
                  </a:lnTo>
                  <a:lnTo>
                    <a:pt x="0" y="0"/>
                  </a:lnTo>
                  <a:close/>
                </a:path>
              </a:pathLst>
            </a:custGeom>
            <a:blipFill>
              <a:blip r:embed="rId5">
                <a:alphaModFix amt="40000"/>
              </a:blip>
              <a:stretch>
                <a:fillRect l="-20" r="-20"/>
              </a:stretch>
            </a:blipFill>
          </p:spPr>
        </p:sp>
      </p:grpSp>
      <p:sp>
        <p:nvSpPr>
          <p:cNvPr id="6" name="TextBox 6"/>
          <p:cNvSpPr txBox="1"/>
          <p:nvPr/>
        </p:nvSpPr>
        <p:spPr>
          <a:xfrm rot="-18144">
            <a:off x="7394249" y="3715429"/>
            <a:ext cx="8917302" cy="1102866"/>
          </a:xfrm>
          <a:prstGeom prst="rect">
            <a:avLst/>
          </a:prstGeom>
        </p:spPr>
        <p:txBody>
          <a:bodyPr lIns="0" tIns="0" rIns="0" bIns="0" rtlCol="0" anchor="t">
            <a:spAutoFit/>
          </a:bodyPr>
          <a:lstStyle/>
          <a:p>
            <a:pPr marL="0" lvl="0" indent="0" algn="l">
              <a:lnSpc>
                <a:spcPts val="8578"/>
              </a:lnSpc>
            </a:pPr>
            <a:r>
              <a:rPr lang="en-US" sz="7200" b="1" spc="-428" dirty="0">
                <a:solidFill>
                  <a:srgbClr val="002060"/>
                </a:solidFill>
                <a:latin typeface="Times New Roman"/>
                <a:ea typeface="Times New Roman"/>
                <a:cs typeface="Times New Roman"/>
                <a:sym typeface="Times New Roman"/>
              </a:rPr>
              <a:t>Thanks  for  Listening</a:t>
            </a:r>
          </a:p>
        </p:txBody>
      </p:sp>
      <p:grpSp>
        <p:nvGrpSpPr>
          <p:cNvPr id="7" name="Group 7"/>
          <p:cNvGrpSpPr/>
          <p:nvPr/>
        </p:nvGrpSpPr>
        <p:grpSpPr>
          <a:xfrm>
            <a:off x="0" y="25403"/>
            <a:ext cx="18288000" cy="3744230"/>
            <a:chOff x="0" y="0"/>
            <a:chExt cx="24384000" cy="4992306"/>
          </a:xfrm>
        </p:grpSpPr>
        <p:sp>
          <p:nvSpPr>
            <p:cNvPr id="8" name="Freeform 8" descr="一張含有 黑暗, 黑色, 螢幕擷取畫面, 光線 的圖片  AI 產生的內容可能不正確。"/>
            <p:cNvSpPr/>
            <p:nvPr/>
          </p:nvSpPr>
          <p:spPr>
            <a:xfrm>
              <a:off x="0" y="0"/>
              <a:ext cx="24384000" cy="4992243"/>
            </a:xfrm>
            <a:custGeom>
              <a:avLst/>
              <a:gdLst/>
              <a:ahLst/>
              <a:cxnLst/>
              <a:rect l="l" t="t" r="r" b="b"/>
              <a:pathLst>
                <a:path w="24384000" h="4992243">
                  <a:moveTo>
                    <a:pt x="0" y="0"/>
                  </a:moveTo>
                  <a:lnTo>
                    <a:pt x="24384000" y="0"/>
                  </a:lnTo>
                  <a:lnTo>
                    <a:pt x="24384000" y="4992243"/>
                  </a:lnTo>
                  <a:lnTo>
                    <a:pt x="0" y="4992243"/>
                  </a:lnTo>
                  <a:lnTo>
                    <a:pt x="0" y="0"/>
                  </a:lnTo>
                  <a:close/>
                </a:path>
              </a:pathLst>
            </a:custGeom>
            <a:blipFill>
              <a:blip r:embed="rId6"/>
              <a:stretch>
                <a:fillRect b="-1"/>
              </a:stretch>
            </a:blipFill>
          </p:spPr>
        </p:sp>
      </p:grpSp>
      <p:sp>
        <p:nvSpPr>
          <p:cNvPr id="9" name="Freeform 9"/>
          <p:cNvSpPr/>
          <p:nvPr/>
        </p:nvSpPr>
        <p:spPr>
          <a:xfrm>
            <a:off x="11134336" y="5540338"/>
            <a:ext cx="5180064" cy="951837"/>
          </a:xfrm>
          <a:custGeom>
            <a:avLst/>
            <a:gdLst/>
            <a:ahLst/>
            <a:cxnLst/>
            <a:rect l="l" t="t" r="r" b="b"/>
            <a:pathLst>
              <a:path w="5180064" h="951837">
                <a:moveTo>
                  <a:pt x="0" y="0"/>
                </a:moveTo>
                <a:lnTo>
                  <a:pt x="5180065" y="0"/>
                </a:lnTo>
                <a:lnTo>
                  <a:pt x="5180065" y="951837"/>
                </a:lnTo>
                <a:lnTo>
                  <a:pt x="0" y="951837"/>
                </a:lnTo>
                <a:lnTo>
                  <a:pt x="0" y="0"/>
                </a:lnTo>
                <a:close/>
              </a:path>
            </a:pathLst>
          </a:custGeom>
          <a:blipFill>
            <a:blip r:embed="rId7"/>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Times New Roman"/>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Times New Roman"/>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570</TotalTime>
  <Words>3227</Words>
  <Application>Microsoft Office PowerPoint</Application>
  <PresentationFormat>自訂</PresentationFormat>
  <Paragraphs>481</Paragraphs>
  <Slides>28</Slides>
  <Notes>25</Notes>
  <HiddenSlides>0</HiddenSlides>
  <MMClips>2</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28</vt:i4>
      </vt:variant>
    </vt:vector>
  </HeadingPairs>
  <TitlesOfParts>
    <vt:vector size="31" baseType="lpstr">
      <vt:lpstr>Arial</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國家運動科學中心簡介英文版_1007</dc:title>
  <dc:creator>00136-黃顯閔</dc:creator>
  <cp:lastModifiedBy>00114-曾立慈</cp:lastModifiedBy>
  <cp:revision>24</cp:revision>
  <dcterms:created xsi:type="dcterms:W3CDTF">2006-08-16T00:00:00Z</dcterms:created>
  <dcterms:modified xsi:type="dcterms:W3CDTF">2026-10-15T03:58:48Z</dcterms:modified>
  <dc:identifier>DAHXSYQ6hQY</dc:identifier>
</cp:coreProperties>
</file>